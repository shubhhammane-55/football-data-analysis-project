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57" r:id="rId4"/>
    <p:sldId id="273" r:id="rId5"/>
    <p:sldId id="280" r:id="rId6"/>
    <p:sldId id="262" r:id="rId7"/>
    <p:sldId id="269" r:id="rId8"/>
    <p:sldId id="275" r:id="rId9"/>
    <p:sldId id="276" r:id="rId10"/>
    <p:sldId id="281" r:id="rId11"/>
    <p:sldId id="263" r:id="rId12"/>
    <p:sldId id="274" r:id="rId13"/>
    <p:sldId id="284" r:id="rId14"/>
    <p:sldId id="283" r:id="rId15"/>
    <p:sldId id="285" r:id="rId16"/>
    <p:sldId id="268" r:id="rId17"/>
    <p:sldId id="264" r:id="rId18"/>
    <p:sldId id="270" r:id="rId19"/>
    <p:sldId id="265" r:id="rId20"/>
    <p:sldId id="266" r:id="rId21"/>
    <p:sldId id="267" r:id="rId22"/>
    <p:sldId id="286" r:id="rId23"/>
    <p:sldId id="27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58D157-17DB-AE6F-C8F8-D49E18868542}" name="Yash And Nency Chatniwala" initials="YC" userId="f141a030b0c67d8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0046D2"/>
    <a:srgbClr val="E7EAED"/>
    <a:srgbClr val="F1F7ED"/>
    <a:srgbClr val="5A1ED2"/>
    <a:srgbClr val="243E36"/>
    <a:srgbClr val="0033CC"/>
    <a:srgbClr val="DFF22A"/>
    <a:srgbClr val="F84246"/>
    <a:srgbClr val="0043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0" autoAdjust="0"/>
    <p:restoredTop sz="81655" autoAdjust="0"/>
  </p:normalViewPr>
  <p:slideViewPr>
    <p:cSldViewPr snapToGrid="0">
      <p:cViewPr varScale="1">
        <p:scale>
          <a:sx n="112" d="100"/>
          <a:sy n="112" d="100"/>
        </p:scale>
        <p:origin x="55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20B300-F68A-42FC-8C68-1C0062620AFE}" type="doc">
      <dgm:prSet loTypeId="urn:microsoft.com/office/officeart/2005/8/layout/process5" loCatId="process" qsTypeId="urn:microsoft.com/office/officeart/2005/8/quickstyle/3d1" qsCatId="3D" csTypeId="urn:microsoft.com/office/officeart/2005/8/colors/colorful5" csCatId="colorful" phldr="1"/>
      <dgm:spPr/>
      <dgm:t>
        <a:bodyPr/>
        <a:lstStyle/>
        <a:p>
          <a:endParaRPr lang="en-IN"/>
        </a:p>
      </dgm:t>
    </dgm:pt>
    <dgm:pt modelId="{8443E8F5-035A-4147-9F98-FF7608EFF483}">
      <dgm:prSet phldrT="[Text]"/>
      <dgm:spPr>
        <a:solidFill>
          <a:srgbClr val="002060"/>
        </a:solidFill>
      </dgm:spPr>
      <dgm:t>
        <a:bodyPr/>
        <a:lstStyle/>
        <a:p>
          <a:pPr>
            <a:buFont typeface="Wingdings" panose="05000000000000000000" pitchFamily="2" charset="2"/>
            <a:buChar char="v"/>
          </a:pPr>
          <a:r>
            <a:rPr lang="en-US" b="1" dirty="0"/>
            <a:t>Data Understanding</a:t>
          </a:r>
          <a:endParaRPr lang="en-IN" dirty="0"/>
        </a:p>
      </dgm:t>
    </dgm:pt>
    <dgm:pt modelId="{908BD626-0A0E-4926-ACCE-3E183BF5F292}" type="parTrans" cxnId="{69D127BD-0849-424C-B167-858D87FE26FD}">
      <dgm:prSet/>
      <dgm:spPr/>
      <dgm:t>
        <a:bodyPr/>
        <a:lstStyle/>
        <a:p>
          <a:endParaRPr lang="en-IN"/>
        </a:p>
      </dgm:t>
    </dgm:pt>
    <dgm:pt modelId="{EBFE945E-06BD-4FBD-82D0-C053C73F8BAC}" type="sibTrans" cxnId="{69D127BD-0849-424C-B167-858D87FE26FD}">
      <dgm:prSet/>
      <dgm:spPr>
        <a:solidFill>
          <a:schemeClr val="tx2">
            <a:lumMod val="75000"/>
            <a:lumOff val="25000"/>
          </a:schemeClr>
        </a:solidFill>
      </dgm:spPr>
      <dgm:t>
        <a:bodyPr/>
        <a:lstStyle/>
        <a:p>
          <a:endParaRPr lang="en-IN"/>
        </a:p>
      </dgm:t>
    </dgm:pt>
    <dgm:pt modelId="{96D540AD-D81C-4A96-9D4E-31622BDF3EDA}">
      <dgm:prSet phldrT="[Text]"/>
      <dgm:spPr>
        <a:solidFill>
          <a:srgbClr val="002060"/>
        </a:solidFill>
      </dgm:spPr>
      <dgm:t>
        <a:bodyPr/>
        <a:lstStyle/>
        <a:p>
          <a:pPr>
            <a:buFont typeface="Wingdings" panose="05000000000000000000" pitchFamily="2" charset="2"/>
            <a:buChar char="v"/>
          </a:pPr>
          <a:r>
            <a:rPr lang="en-US" b="1" dirty="0"/>
            <a:t>Data Merging</a:t>
          </a:r>
          <a:endParaRPr lang="en-IN" dirty="0"/>
        </a:p>
      </dgm:t>
    </dgm:pt>
    <dgm:pt modelId="{A2BCB0A8-F762-49BB-AD95-549862A58967}" type="parTrans" cxnId="{F2CDFDF2-C478-464A-8443-9F62B11BBFA0}">
      <dgm:prSet/>
      <dgm:spPr/>
      <dgm:t>
        <a:bodyPr/>
        <a:lstStyle/>
        <a:p>
          <a:endParaRPr lang="en-IN"/>
        </a:p>
      </dgm:t>
    </dgm:pt>
    <dgm:pt modelId="{3432C125-A404-430C-8B9E-6AC6AB42C1FA}" type="sibTrans" cxnId="{F2CDFDF2-C478-464A-8443-9F62B11BBFA0}">
      <dgm:prSet/>
      <dgm:spPr>
        <a:solidFill>
          <a:schemeClr val="tx2">
            <a:lumMod val="75000"/>
            <a:lumOff val="25000"/>
          </a:schemeClr>
        </a:solidFill>
      </dgm:spPr>
      <dgm:t>
        <a:bodyPr/>
        <a:lstStyle/>
        <a:p>
          <a:endParaRPr lang="en-IN"/>
        </a:p>
      </dgm:t>
    </dgm:pt>
    <dgm:pt modelId="{4A2435EC-5B20-4AB6-8E2B-257349E2197A}">
      <dgm:prSet phldrT="[Text]"/>
      <dgm:spPr>
        <a:solidFill>
          <a:srgbClr val="002060"/>
        </a:solidFill>
      </dgm:spPr>
      <dgm:t>
        <a:bodyPr/>
        <a:lstStyle/>
        <a:p>
          <a:pPr>
            <a:buFont typeface="Wingdings" panose="05000000000000000000" pitchFamily="2" charset="2"/>
            <a:buChar char="v"/>
          </a:pPr>
          <a:r>
            <a:rPr lang="en-US" b="1"/>
            <a:t>Data Cleaning</a:t>
          </a:r>
          <a:endParaRPr lang="en-IN" dirty="0"/>
        </a:p>
      </dgm:t>
    </dgm:pt>
    <dgm:pt modelId="{843B1C39-5E61-4744-A081-7E7EFE2CC3E0}" type="parTrans" cxnId="{4A068E7C-5ED3-4DF6-A745-3FFAA98A6145}">
      <dgm:prSet/>
      <dgm:spPr/>
      <dgm:t>
        <a:bodyPr/>
        <a:lstStyle/>
        <a:p>
          <a:endParaRPr lang="en-IN"/>
        </a:p>
      </dgm:t>
    </dgm:pt>
    <dgm:pt modelId="{659832B8-A315-4063-B2BC-326AF258053E}" type="sibTrans" cxnId="{4A068E7C-5ED3-4DF6-A745-3FFAA98A6145}">
      <dgm:prSet/>
      <dgm:spPr>
        <a:solidFill>
          <a:schemeClr val="tx2">
            <a:lumMod val="75000"/>
            <a:lumOff val="25000"/>
          </a:schemeClr>
        </a:solidFill>
      </dgm:spPr>
      <dgm:t>
        <a:bodyPr/>
        <a:lstStyle/>
        <a:p>
          <a:endParaRPr lang="en-IN"/>
        </a:p>
      </dgm:t>
    </dgm:pt>
    <dgm:pt modelId="{559BA695-E8EF-4AC9-A41E-F560EAB9DA1B}">
      <dgm:prSet phldrT="[Text]"/>
      <dgm:spPr>
        <a:solidFill>
          <a:srgbClr val="002060"/>
        </a:solidFill>
      </dgm:spPr>
      <dgm:t>
        <a:bodyPr/>
        <a:lstStyle/>
        <a:p>
          <a:pPr>
            <a:buFont typeface="Wingdings" panose="05000000000000000000" pitchFamily="2" charset="2"/>
            <a:buChar char="v"/>
          </a:pPr>
          <a:r>
            <a:rPr lang="en-US" b="1" dirty="0"/>
            <a:t>Data Modification</a:t>
          </a:r>
          <a:endParaRPr lang="en-IN" dirty="0"/>
        </a:p>
      </dgm:t>
    </dgm:pt>
    <dgm:pt modelId="{E4178CD6-C4DC-4BC4-B38C-86BFEF8B9B41}" type="parTrans" cxnId="{EC647DFA-96CA-4A7B-AF27-A39B9DF0C168}">
      <dgm:prSet/>
      <dgm:spPr/>
      <dgm:t>
        <a:bodyPr/>
        <a:lstStyle/>
        <a:p>
          <a:endParaRPr lang="en-IN"/>
        </a:p>
      </dgm:t>
    </dgm:pt>
    <dgm:pt modelId="{2FE714AC-749F-4169-9BDD-F8A0BAB6A108}" type="sibTrans" cxnId="{EC647DFA-96CA-4A7B-AF27-A39B9DF0C168}">
      <dgm:prSet/>
      <dgm:spPr/>
      <dgm:t>
        <a:bodyPr/>
        <a:lstStyle/>
        <a:p>
          <a:endParaRPr lang="en-IN"/>
        </a:p>
      </dgm:t>
    </dgm:pt>
    <dgm:pt modelId="{41F58CD7-F9AB-4158-B046-A9015A0378E1}" type="pres">
      <dgm:prSet presAssocID="{B120B300-F68A-42FC-8C68-1C0062620AFE}" presName="diagram" presStyleCnt="0">
        <dgm:presLayoutVars>
          <dgm:dir/>
          <dgm:resizeHandles val="exact"/>
        </dgm:presLayoutVars>
      </dgm:prSet>
      <dgm:spPr/>
    </dgm:pt>
    <dgm:pt modelId="{39FD682A-FD40-467B-8AF1-6542872D73B1}" type="pres">
      <dgm:prSet presAssocID="{8443E8F5-035A-4147-9F98-FF7608EFF483}" presName="node" presStyleLbl="node1" presStyleIdx="0" presStyleCnt="4">
        <dgm:presLayoutVars>
          <dgm:bulletEnabled val="1"/>
        </dgm:presLayoutVars>
      </dgm:prSet>
      <dgm:spPr/>
    </dgm:pt>
    <dgm:pt modelId="{199D53E8-B35D-47F9-8B10-E83B4A8EB69A}" type="pres">
      <dgm:prSet presAssocID="{EBFE945E-06BD-4FBD-82D0-C053C73F8BAC}" presName="sibTrans" presStyleLbl="sibTrans2D1" presStyleIdx="0" presStyleCnt="3"/>
      <dgm:spPr/>
    </dgm:pt>
    <dgm:pt modelId="{9DA5F5A6-C9C7-46E4-AB7D-78EED06EA4C3}" type="pres">
      <dgm:prSet presAssocID="{EBFE945E-06BD-4FBD-82D0-C053C73F8BAC}" presName="connectorText" presStyleLbl="sibTrans2D1" presStyleIdx="0" presStyleCnt="3"/>
      <dgm:spPr/>
    </dgm:pt>
    <dgm:pt modelId="{D4400276-C67E-47CA-8D84-7FF4398C48EF}" type="pres">
      <dgm:prSet presAssocID="{96D540AD-D81C-4A96-9D4E-31622BDF3EDA}" presName="node" presStyleLbl="node1" presStyleIdx="1" presStyleCnt="4">
        <dgm:presLayoutVars>
          <dgm:bulletEnabled val="1"/>
        </dgm:presLayoutVars>
      </dgm:prSet>
      <dgm:spPr/>
    </dgm:pt>
    <dgm:pt modelId="{1DAAD822-3B71-4D77-92E8-38089BF0CD53}" type="pres">
      <dgm:prSet presAssocID="{3432C125-A404-430C-8B9E-6AC6AB42C1FA}" presName="sibTrans" presStyleLbl="sibTrans2D1" presStyleIdx="1" presStyleCnt="3"/>
      <dgm:spPr/>
    </dgm:pt>
    <dgm:pt modelId="{AE51A2E0-7336-4093-A6D3-397323F2EDFB}" type="pres">
      <dgm:prSet presAssocID="{3432C125-A404-430C-8B9E-6AC6AB42C1FA}" presName="connectorText" presStyleLbl="sibTrans2D1" presStyleIdx="1" presStyleCnt="3"/>
      <dgm:spPr/>
    </dgm:pt>
    <dgm:pt modelId="{1AAE46D3-E4AD-4659-97C6-E2BC35958DBF}" type="pres">
      <dgm:prSet presAssocID="{4A2435EC-5B20-4AB6-8E2B-257349E2197A}" presName="node" presStyleLbl="node1" presStyleIdx="2" presStyleCnt="4">
        <dgm:presLayoutVars>
          <dgm:bulletEnabled val="1"/>
        </dgm:presLayoutVars>
      </dgm:prSet>
      <dgm:spPr/>
    </dgm:pt>
    <dgm:pt modelId="{0D19B0D6-C64C-430B-BE06-B0785F9888C7}" type="pres">
      <dgm:prSet presAssocID="{659832B8-A315-4063-B2BC-326AF258053E}" presName="sibTrans" presStyleLbl="sibTrans2D1" presStyleIdx="2" presStyleCnt="3"/>
      <dgm:spPr/>
    </dgm:pt>
    <dgm:pt modelId="{B0621C1B-8958-4E58-950D-6899795EA756}" type="pres">
      <dgm:prSet presAssocID="{659832B8-A315-4063-B2BC-326AF258053E}" presName="connectorText" presStyleLbl="sibTrans2D1" presStyleIdx="2" presStyleCnt="3"/>
      <dgm:spPr/>
    </dgm:pt>
    <dgm:pt modelId="{9EBD6224-4786-481B-8380-A2E5D4C8018F}" type="pres">
      <dgm:prSet presAssocID="{559BA695-E8EF-4AC9-A41E-F560EAB9DA1B}" presName="node" presStyleLbl="node1" presStyleIdx="3" presStyleCnt="4">
        <dgm:presLayoutVars>
          <dgm:bulletEnabled val="1"/>
        </dgm:presLayoutVars>
      </dgm:prSet>
      <dgm:spPr/>
    </dgm:pt>
  </dgm:ptLst>
  <dgm:cxnLst>
    <dgm:cxn modelId="{BD31860A-A92A-4316-B8D6-6FBFADB5F5BA}" type="presOf" srcId="{EBFE945E-06BD-4FBD-82D0-C053C73F8BAC}" destId="{9DA5F5A6-C9C7-46E4-AB7D-78EED06EA4C3}" srcOrd="1" destOrd="0" presId="urn:microsoft.com/office/officeart/2005/8/layout/process5"/>
    <dgm:cxn modelId="{15D3DF0B-08AD-4E7F-9E60-A5496B202EA5}" type="presOf" srcId="{4A2435EC-5B20-4AB6-8E2B-257349E2197A}" destId="{1AAE46D3-E4AD-4659-97C6-E2BC35958DBF}" srcOrd="0" destOrd="0" presId="urn:microsoft.com/office/officeart/2005/8/layout/process5"/>
    <dgm:cxn modelId="{83A80365-614A-489E-A2DB-AED0E1683A31}" type="presOf" srcId="{559BA695-E8EF-4AC9-A41E-F560EAB9DA1B}" destId="{9EBD6224-4786-481B-8380-A2E5D4C8018F}" srcOrd="0" destOrd="0" presId="urn:microsoft.com/office/officeart/2005/8/layout/process5"/>
    <dgm:cxn modelId="{4A068E7C-5ED3-4DF6-A745-3FFAA98A6145}" srcId="{B120B300-F68A-42FC-8C68-1C0062620AFE}" destId="{4A2435EC-5B20-4AB6-8E2B-257349E2197A}" srcOrd="2" destOrd="0" parTransId="{843B1C39-5E61-4744-A081-7E7EFE2CC3E0}" sibTransId="{659832B8-A315-4063-B2BC-326AF258053E}"/>
    <dgm:cxn modelId="{C3B7158D-C4C3-4E70-9367-79E58081CCF0}" type="presOf" srcId="{EBFE945E-06BD-4FBD-82D0-C053C73F8BAC}" destId="{199D53E8-B35D-47F9-8B10-E83B4A8EB69A}" srcOrd="0" destOrd="0" presId="urn:microsoft.com/office/officeart/2005/8/layout/process5"/>
    <dgm:cxn modelId="{1AC4D7A5-07E1-45EF-BBCC-4721368D00D1}" type="presOf" srcId="{B120B300-F68A-42FC-8C68-1C0062620AFE}" destId="{41F58CD7-F9AB-4158-B046-A9015A0378E1}" srcOrd="0" destOrd="0" presId="urn:microsoft.com/office/officeart/2005/8/layout/process5"/>
    <dgm:cxn modelId="{7074DCA8-BF0E-4E72-8475-8C9C0DB79D39}" type="presOf" srcId="{659832B8-A315-4063-B2BC-326AF258053E}" destId="{0D19B0D6-C64C-430B-BE06-B0785F9888C7}" srcOrd="0" destOrd="0" presId="urn:microsoft.com/office/officeart/2005/8/layout/process5"/>
    <dgm:cxn modelId="{14DEB9BC-7428-428C-8D32-60FE4F8655DB}" type="presOf" srcId="{3432C125-A404-430C-8B9E-6AC6AB42C1FA}" destId="{1DAAD822-3B71-4D77-92E8-38089BF0CD53}" srcOrd="0" destOrd="0" presId="urn:microsoft.com/office/officeart/2005/8/layout/process5"/>
    <dgm:cxn modelId="{69D127BD-0849-424C-B167-858D87FE26FD}" srcId="{B120B300-F68A-42FC-8C68-1C0062620AFE}" destId="{8443E8F5-035A-4147-9F98-FF7608EFF483}" srcOrd="0" destOrd="0" parTransId="{908BD626-0A0E-4926-ACCE-3E183BF5F292}" sibTransId="{EBFE945E-06BD-4FBD-82D0-C053C73F8BAC}"/>
    <dgm:cxn modelId="{7EB34EC4-109B-4F73-AFE1-DAF6AFB6670D}" type="presOf" srcId="{659832B8-A315-4063-B2BC-326AF258053E}" destId="{B0621C1B-8958-4E58-950D-6899795EA756}" srcOrd="1" destOrd="0" presId="urn:microsoft.com/office/officeart/2005/8/layout/process5"/>
    <dgm:cxn modelId="{A5EE29D7-103C-471E-A1B9-FBF3F39A287B}" type="presOf" srcId="{8443E8F5-035A-4147-9F98-FF7608EFF483}" destId="{39FD682A-FD40-467B-8AF1-6542872D73B1}" srcOrd="0" destOrd="0" presId="urn:microsoft.com/office/officeart/2005/8/layout/process5"/>
    <dgm:cxn modelId="{DE14AAE7-A617-42F2-BE41-8FAD45417DF7}" type="presOf" srcId="{3432C125-A404-430C-8B9E-6AC6AB42C1FA}" destId="{AE51A2E0-7336-4093-A6D3-397323F2EDFB}" srcOrd="1" destOrd="0" presId="urn:microsoft.com/office/officeart/2005/8/layout/process5"/>
    <dgm:cxn modelId="{EDD53FEF-A47D-404D-90C7-456947C90958}" type="presOf" srcId="{96D540AD-D81C-4A96-9D4E-31622BDF3EDA}" destId="{D4400276-C67E-47CA-8D84-7FF4398C48EF}" srcOrd="0" destOrd="0" presId="urn:microsoft.com/office/officeart/2005/8/layout/process5"/>
    <dgm:cxn modelId="{F2CDFDF2-C478-464A-8443-9F62B11BBFA0}" srcId="{B120B300-F68A-42FC-8C68-1C0062620AFE}" destId="{96D540AD-D81C-4A96-9D4E-31622BDF3EDA}" srcOrd="1" destOrd="0" parTransId="{A2BCB0A8-F762-49BB-AD95-549862A58967}" sibTransId="{3432C125-A404-430C-8B9E-6AC6AB42C1FA}"/>
    <dgm:cxn modelId="{EC647DFA-96CA-4A7B-AF27-A39B9DF0C168}" srcId="{B120B300-F68A-42FC-8C68-1C0062620AFE}" destId="{559BA695-E8EF-4AC9-A41E-F560EAB9DA1B}" srcOrd="3" destOrd="0" parTransId="{E4178CD6-C4DC-4BC4-B38C-86BFEF8B9B41}" sibTransId="{2FE714AC-749F-4169-9BDD-F8A0BAB6A108}"/>
    <dgm:cxn modelId="{110C836E-3E28-4882-A489-3AF1869BA7E5}" type="presParOf" srcId="{41F58CD7-F9AB-4158-B046-A9015A0378E1}" destId="{39FD682A-FD40-467B-8AF1-6542872D73B1}" srcOrd="0" destOrd="0" presId="urn:microsoft.com/office/officeart/2005/8/layout/process5"/>
    <dgm:cxn modelId="{3A626731-186F-486C-B0E5-37A27AC9E300}" type="presParOf" srcId="{41F58CD7-F9AB-4158-B046-A9015A0378E1}" destId="{199D53E8-B35D-47F9-8B10-E83B4A8EB69A}" srcOrd="1" destOrd="0" presId="urn:microsoft.com/office/officeart/2005/8/layout/process5"/>
    <dgm:cxn modelId="{DBC67696-DED1-4866-A68A-1F10C5513D08}" type="presParOf" srcId="{199D53E8-B35D-47F9-8B10-E83B4A8EB69A}" destId="{9DA5F5A6-C9C7-46E4-AB7D-78EED06EA4C3}" srcOrd="0" destOrd="0" presId="urn:microsoft.com/office/officeart/2005/8/layout/process5"/>
    <dgm:cxn modelId="{F7E387E2-00C9-4D48-9D58-C0736470513C}" type="presParOf" srcId="{41F58CD7-F9AB-4158-B046-A9015A0378E1}" destId="{D4400276-C67E-47CA-8D84-7FF4398C48EF}" srcOrd="2" destOrd="0" presId="urn:microsoft.com/office/officeart/2005/8/layout/process5"/>
    <dgm:cxn modelId="{16DE2D21-6E9F-4C03-9DFF-4E854F983A2A}" type="presParOf" srcId="{41F58CD7-F9AB-4158-B046-A9015A0378E1}" destId="{1DAAD822-3B71-4D77-92E8-38089BF0CD53}" srcOrd="3" destOrd="0" presId="urn:microsoft.com/office/officeart/2005/8/layout/process5"/>
    <dgm:cxn modelId="{0BF44C49-762D-45EF-9D7E-F7AF201942E4}" type="presParOf" srcId="{1DAAD822-3B71-4D77-92E8-38089BF0CD53}" destId="{AE51A2E0-7336-4093-A6D3-397323F2EDFB}" srcOrd="0" destOrd="0" presId="urn:microsoft.com/office/officeart/2005/8/layout/process5"/>
    <dgm:cxn modelId="{437B59AA-59E0-4923-BE8F-4E98215CEE97}" type="presParOf" srcId="{41F58CD7-F9AB-4158-B046-A9015A0378E1}" destId="{1AAE46D3-E4AD-4659-97C6-E2BC35958DBF}" srcOrd="4" destOrd="0" presId="urn:microsoft.com/office/officeart/2005/8/layout/process5"/>
    <dgm:cxn modelId="{4AF17717-B373-44AF-9DB4-1EA36B411183}" type="presParOf" srcId="{41F58CD7-F9AB-4158-B046-A9015A0378E1}" destId="{0D19B0D6-C64C-430B-BE06-B0785F9888C7}" srcOrd="5" destOrd="0" presId="urn:microsoft.com/office/officeart/2005/8/layout/process5"/>
    <dgm:cxn modelId="{25675F57-60DA-4A5D-B616-F17C6E386347}" type="presParOf" srcId="{0D19B0D6-C64C-430B-BE06-B0785F9888C7}" destId="{B0621C1B-8958-4E58-950D-6899795EA756}" srcOrd="0" destOrd="0" presId="urn:microsoft.com/office/officeart/2005/8/layout/process5"/>
    <dgm:cxn modelId="{F3478D13-E626-41B5-BA55-B79B375BD6C8}" type="presParOf" srcId="{41F58CD7-F9AB-4158-B046-A9015A0378E1}" destId="{9EBD6224-4786-481B-8380-A2E5D4C8018F}" srcOrd="6" destOrd="0" presId="urn:microsoft.com/office/officeart/2005/8/layout/process5"/>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FD682A-FD40-467B-8AF1-6542872D73B1}">
      <dsp:nvSpPr>
        <dsp:cNvPr id="0" name=""/>
        <dsp:cNvSpPr/>
      </dsp:nvSpPr>
      <dsp:spPr>
        <a:xfrm>
          <a:off x="951035" y="1878"/>
          <a:ext cx="1390778" cy="834467"/>
        </a:xfrm>
        <a:prstGeom prst="roundRect">
          <a:avLst>
            <a:gd name="adj" fmla="val 10000"/>
          </a:avLst>
        </a:prstGeom>
        <a:solidFill>
          <a:srgbClr val="00206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Wingdings" panose="05000000000000000000" pitchFamily="2" charset="2"/>
            <a:buNone/>
          </a:pPr>
          <a:r>
            <a:rPr lang="en-US" sz="1400" b="1" kern="1200" dirty="0"/>
            <a:t>Data Understanding</a:t>
          </a:r>
          <a:endParaRPr lang="en-IN" sz="1400" kern="1200" dirty="0"/>
        </a:p>
      </dsp:txBody>
      <dsp:txXfrm>
        <a:off x="975476" y="26319"/>
        <a:ext cx="1341896" cy="785585"/>
      </dsp:txXfrm>
    </dsp:sp>
    <dsp:sp modelId="{199D53E8-B35D-47F9-8B10-E83B4A8EB69A}">
      <dsp:nvSpPr>
        <dsp:cNvPr id="0" name=""/>
        <dsp:cNvSpPr/>
      </dsp:nvSpPr>
      <dsp:spPr>
        <a:xfrm rot="5400000">
          <a:off x="1499002" y="933700"/>
          <a:ext cx="294845" cy="344913"/>
        </a:xfrm>
        <a:prstGeom prst="rightArrow">
          <a:avLst>
            <a:gd name="adj1" fmla="val 60000"/>
            <a:gd name="adj2" fmla="val 50000"/>
          </a:avLst>
        </a:prstGeom>
        <a:solidFill>
          <a:schemeClr val="tx2">
            <a:lumMod val="75000"/>
            <a:lumOff val="25000"/>
          </a:schemeClr>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5400000">
        <a:off x="1542952" y="958734"/>
        <a:ext cx="206947" cy="206392"/>
      </dsp:txXfrm>
    </dsp:sp>
    <dsp:sp modelId="{D4400276-C67E-47CA-8D84-7FF4398C48EF}">
      <dsp:nvSpPr>
        <dsp:cNvPr id="0" name=""/>
        <dsp:cNvSpPr/>
      </dsp:nvSpPr>
      <dsp:spPr>
        <a:xfrm>
          <a:off x="951035" y="1392657"/>
          <a:ext cx="1390778" cy="834467"/>
        </a:xfrm>
        <a:prstGeom prst="roundRect">
          <a:avLst>
            <a:gd name="adj" fmla="val 10000"/>
          </a:avLst>
        </a:prstGeom>
        <a:solidFill>
          <a:srgbClr val="00206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Wingdings" panose="05000000000000000000" pitchFamily="2" charset="2"/>
            <a:buNone/>
          </a:pPr>
          <a:r>
            <a:rPr lang="en-US" sz="1400" b="1" kern="1200" dirty="0"/>
            <a:t>Data Merging</a:t>
          </a:r>
          <a:endParaRPr lang="en-IN" sz="1400" kern="1200" dirty="0"/>
        </a:p>
      </dsp:txBody>
      <dsp:txXfrm>
        <a:off x="975476" y="1417098"/>
        <a:ext cx="1341896" cy="785585"/>
      </dsp:txXfrm>
    </dsp:sp>
    <dsp:sp modelId="{1DAAD822-3B71-4D77-92E8-38089BF0CD53}">
      <dsp:nvSpPr>
        <dsp:cNvPr id="0" name=""/>
        <dsp:cNvSpPr/>
      </dsp:nvSpPr>
      <dsp:spPr>
        <a:xfrm rot="5400000">
          <a:off x="1499002" y="2324479"/>
          <a:ext cx="294845" cy="344913"/>
        </a:xfrm>
        <a:prstGeom prst="rightArrow">
          <a:avLst>
            <a:gd name="adj1" fmla="val 60000"/>
            <a:gd name="adj2" fmla="val 50000"/>
          </a:avLst>
        </a:prstGeom>
        <a:solidFill>
          <a:schemeClr val="tx2">
            <a:lumMod val="75000"/>
            <a:lumOff val="25000"/>
          </a:schemeClr>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5400000">
        <a:off x="1542952" y="2349513"/>
        <a:ext cx="206947" cy="206392"/>
      </dsp:txXfrm>
    </dsp:sp>
    <dsp:sp modelId="{1AAE46D3-E4AD-4659-97C6-E2BC35958DBF}">
      <dsp:nvSpPr>
        <dsp:cNvPr id="0" name=""/>
        <dsp:cNvSpPr/>
      </dsp:nvSpPr>
      <dsp:spPr>
        <a:xfrm>
          <a:off x="951035" y="2783436"/>
          <a:ext cx="1390778" cy="834467"/>
        </a:xfrm>
        <a:prstGeom prst="roundRect">
          <a:avLst>
            <a:gd name="adj" fmla="val 10000"/>
          </a:avLst>
        </a:prstGeom>
        <a:solidFill>
          <a:srgbClr val="00206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Wingdings" panose="05000000000000000000" pitchFamily="2" charset="2"/>
            <a:buNone/>
          </a:pPr>
          <a:r>
            <a:rPr lang="en-US" sz="1400" b="1" kern="1200"/>
            <a:t>Data Cleaning</a:t>
          </a:r>
          <a:endParaRPr lang="en-IN" sz="1400" kern="1200" dirty="0"/>
        </a:p>
      </dsp:txBody>
      <dsp:txXfrm>
        <a:off x="975476" y="2807877"/>
        <a:ext cx="1341896" cy="785585"/>
      </dsp:txXfrm>
    </dsp:sp>
    <dsp:sp modelId="{0D19B0D6-C64C-430B-BE06-B0785F9888C7}">
      <dsp:nvSpPr>
        <dsp:cNvPr id="0" name=""/>
        <dsp:cNvSpPr/>
      </dsp:nvSpPr>
      <dsp:spPr>
        <a:xfrm rot="5400000">
          <a:off x="1499002" y="3715258"/>
          <a:ext cx="294845" cy="344913"/>
        </a:xfrm>
        <a:prstGeom prst="rightArrow">
          <a:avLst>
            <a:gd name="adj1" fmla="val 60000"/>
            <a:gd name="adj2" fmla="val 50000"/>
          </a:avLst>
        </a:prstGeom>
        <a:solidFill>
          <a:schemeClr val="tx2">
            <a:lumMod val="75000"/>
            <a:lumOff val="25000"/>
          </a:schemeClr>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5400000">
        <a:off x="1542952" y="3740292"/>
        <a:ext cx="206947" cy="206392"/>
      </dsp:txXfrm>
    </dsp:sp>
    <dsp:sp modelId="{9EBD6224-4786-481B-8380-A2E5D4C8018F}">
      <dsp:nvSpPr>
        <dsp:cNvPr id="0" name=""/>
        <dsp:cNvSpPr/>
      </dsp:nvSpPr>
      <dsp:spPr>
        <a:xfrm>
          <a:off x="951035" y="4174215"/>
          <a:ext cx="1390778" cy="834467"/>
        </a:xfrm>
        <a:prstGeom prst="roundRect">
          <a:avLst>
            <a:gd name="adj" fmla="val 10000"/>
          </a:avLst>
        </a:prstGeom>
        <a:solidFill>
          <a:srgbClr val="00206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Wingdings" panose="05000000000000000000" pitchFamily="2" charset="2"/>
            <a:buNone/>
          </a:pPr>
          <a:r>
            <a:rPr lang="en-US" sz="1400" b="1" kern="1200" dirty="0"/>
            <a:t>Data Modification</a:t>
          </a:r>
          <a:endParaRPr lang="en-IN" sz="1400" kern="1200" dirty="0"/>
        </a:p>
      </dsp:txBody>
      <dsp:txXfrm>
        <a:off x="975476" y="4198656"/>
        <a:ext cx="1341896" cy="785585"/>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A74130-4F3E-403F-AAFA-243B22EDDF2C}" type="datetimeFigureOut">
              <a:rPr lang="en-IN" smtClean="0"/>
              <a:t>27-11-2025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2834C3-DD57-43F1-BA72-DB15EC44922D}" type="slidenum">
              <a:rPr lang="en-IN" smtClean="0"/>
              <a:t>‹#›</a:t>
            </a:fld>
            <a:endParaRPr lang="en-IN"/>
          </a:p>
        </p:txBody>
      </p:sp>
    </p:spTree>
    <p:extLst>
      <p:ext uri="{BB962C8B-B14F-4D97-AF65-F5344CB8AC3E}">
        <p14:creationId xmlns:p14="http://schemas.microsoft.com/office/powerpoint/2010/main" val="1393934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2834C3-DD57-43F1-BA72-DB15EC44922D}" type="slidenum">
              <a:rPr lang="en-IN" smtClean="0"/>
              <a:t>1</a:t>
            </a:fld>
            <a:endParaRPr lang="en-IN"/>
          </a:p>
        </p:txBody>
      </p:sp>
    </p:spTree>
    <p:extLst>
      <p:ext uri="{BB962C8B-B14F-4D97-AF65-F5344CB8AC3E}">
        <p14:creationId xmlns:p14="http://schemas.microsoft.com/office/powerpoint/2010/main" val="1499361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1DE5F-723C-E0B3-D45D-75634273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5A6A7-F94A-435E-D20C-8218E2CE094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F3C014B-338E-67D4-7F40-85CFAFD91D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A69A231-552A-6B4A-9978-5307A3D3ADBB}"/>
              </a:ext>
            </a:extLst>
          </p:cNvPr>
          <p:cNvSpPr>
            <a:spLocks noGrp="1"/>
          </p:cNvSpPr>
          <p:nvPr>
            <p:ph type="sldNum" sz="quarter" idx="5"/>
          </p:nvPr>
        </p:nvSpPr>
        <p:spPr/>
        <p:txBody>
          <a:bodyPr/>
          <a:lstStyle/>
          <a:p>
            <a:fld id="{2B2834C3-DD57-43F1-BA72-DB15EC44922D}" type="slidenum">
              <a:rPr lang="en-IN" smtClean="0"/>
              <a:t>2</a:t>
            </a:fld>
            <a:endParaRPr lang="en-IN"/>
          </a:p>
        </p:txBody>
      </p:sp>
    </p:spTree>
    <p:extLst>
      <p:ext uri="{BB962C8B-B14F-4D97-AF65-F5344CB8AC3E}">
        <p14:creationId xmlns:p14="http://schemas.microsoft.com/office/powerpoint/2010/main" val="163526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342900" indent="-342900">
              <a:buFont typeface="Wingdings" panose="05000000000000000000" pitchFamily="2" charset="2"/>
              <a:buChar char="Ø"/>
            </a:pPr>
            <a:r>
              <a:rPr lang="en-US" sz="2800" b="1" dirty="0">
                <a:solidFill>
                  <a:srgbClr val="0033CC"/>
                </a:solidFill>
              </a:rPr>
              <a:t>Excel: </a:t>
            </a:r>
          </a:p>
          <a:p>
            <a:pPr marL="742950" lvl="1" indent="-285750">
              <a:buFont typeface="Wingdings" panose="05000000000000000000" pitchFamily="2" charset="2"/>
              <a:buChar char="v"/>
            </a:pPr>
            <a:r>
              <a:rPr lang="en-US" sz="2600" b="1" dirty="0">
                <a:solidFill>
                  <a:schemeClr val="tx1"/>
                </a:solidFill>
              </a:rPr>
              <a:t>Used for initial Quick Data Summarizing ,data analysis and exploration.</a:t>
            </a:r>
          </a:p>
          <a:p>
            <a:pPr marL="342900" indent="-342900">
              <a:buFont typeface="Wingdings" panose="05000000000000000000" pitchFamily="2" charset="2"/>
              <a:buChar char="Ø"/>
            </a:pPr>
            <a:r>
              <a:rPr lang="en-US" sz="2800" b="1" dirty="0">
                <a:solidFill>
                  <a:srgbClr val="0033CC"/>
                </a:solidFill>
              </a:rPr>
              <a:t>MySQL:</a:t>
            </a:r>
            <a:r>
              <a:rPr lang="en-US" sz="2800" b="1" dirty="0">
                <a:solidFill>
                  <a:schemeClr val="tx1"/>
                </a:solidFill>
              </a:rPr>
              <a:t> </a:t>
            </a:r>
          </a:p>
          <a:p>
            <a:pPr marL="800100" lvl="1" indent="-342900">
              <a:buFont typeface="Wingdings" panose="05000000000000000000" pitchFamily="2" charset="2"/>
              <a:buChar char="v"/>
            </a:pPr>
            <a:r>
              <a:rPr lang="en-US" sz="2600" b="1" dirty="0">
                <a:solidFill>
                  <a:schemeClr val="tx1"/>
                </a:solidFill>
              </a:rPr>
              <a:t>Utilized for data connection, storage, and creating database triggers.</a:t>
            </a:r>
          </a:p>
          <a:p>
            <a:pPr marL="800100" lvl="1" indent="-342900">
              <a:buFont typeface="Wingdings" panose="05000000000000000000" pitchFamily="2" charset="2"/>
              <a:buChar char="v"/>
            </a:pPr>
            <a:r>
              <a:rPr lang="en-US" sz="2600" b="1" dirty="0">
                <a:solidFill>
                  <a:schemeClr val="tx1"/>
                </a:solidFill>
              </a:rPr>
              <a:t>Data Querying and Efficient handling of large datasets</a:t>
            </a:r>
            <a:endParaRPr lang="en-IN" sz="2600" b="1" dirty="0">
              <a:solidFill>
                <a:schemeClr val="tx1"/>
              </a:solidFill>
            </a:endParaRPr>
          </a:p>
          <a:p>
            <a:pPr marL="342900" indent="-342900">
              <a:buFont typeface="Wingdings" panose="05000000000000000000" pitchFamily="2" charset="2"/>
              <a:buChar char="Ø"/>
            </a:pPr>
            <a:r>
              <a:rPr lang="en-US" sz="2800" b="1" dirty="0">
                <a:solidFill>
                  <a:srgbClr val="0033CC"/>
                </a:solidFill>
              </a:rPr>
              <a:t>Tableau: </a:t>
            </a:r>
          </a:p>
          <a:p>
            <a:pPr marL="800100" lvl="1" indent="-342900">
              <a:buFont typeface="Wingdings" panose="05000000000000000000" pitchFamily="2" charset="2"/>
              <a:buChar char="v"/>
            </a:pPr>
            <a:r>
              <a:rPr lang="en-US" sz="2600" b="1" dirty="0">
                <a:solidFill>
                  <a:schemeClr val="tx1"/>
                </a:solidFill>
              </a:rPr>
              <a:t>Employed for interactive visualization and dashboard creation.</a:t>
            </a:r>
          </a:p>
          <a:p>
            <a:pPr marL="800100" lvl="1" indent="-342900">
              <a:buFont typeface="Wingdings" panose="05000000000000000000" pitchFamily="2" charset="2"/>
              <a:buChar char="v"/>
            </a:pPr>
            <a:r>
              <a:rPr lang="en-US" sz="2600" b="1" dirty="0">
                <a:solidFill>
                  <a:schemeClr val="tx1"/>
                </a:solidFill>
              </a:rPr>
              <a:t>Dynamic reports and insights communication.</a:t>
            </a:r>
            <a:endParaRPr lang="en-IN" sz="2600" b="1" dirty="0">
              <a:solidFill>
                <a:schemeClr val="tx1"/>
              </a:solidFill>
            </a:endParaRPr>
          </a:p>
          <a:p>
            <a:pPr marL="342900" indent="-342900">
              <a:buFont typeface="Wingdings" panose="05000000000000000000" pitchFamily="2" charset="2"/>
              <a:buChar char="Ø"/>
            </a:pPr>
            <a:r>
              <a:rPr lang="en-US" sz="2800" b="1" dirty="0">
                <a:solidFill>
                  <a:srgbClr val="0033CC"/>
                </a:solidFill>
              </a:rPr>
              <a:t>Python: </a:t>
            </a:r>
          </a:p>
          <a:p>
            <a:pPr marL="800100" lvl="1" indent="-342900">
              <a:buFont typeface="Wingdings" panose="05000000000000000000" pitchFamily="2" charset="2"/>
              <a:buChar char="v"/>
            </a:pPr>
            <a:r>
              <a:rPr lang="en-US" sz="2600" b="1" dirty="0">
                <a:solidFill>
                  <a:schemeClr val="tx1"/>
                </a:solidFill>
              </a:rPr>
              <a:t>Data preprocessing</a:t>
            </a:r>
          </a:p>
          <a:p>
            <a:pPr marL="800100" lvl="1" indent="-342900">
              <a:buFont typeface="Wingdings" panose="05000000000000000000" pitchFamily="2" charset="2"/>
              <a:buChar char="v"/>
            </a:pPr>
            <a:r>
              <a:rPr lang="en-US" sz="2600" b="1" dirty="0">
                <a:solidFill>
                  <a:schemeClr val="tx1"/>
                </a:solidFill>
              </a:rPr>
              <a:t>Statistical hypothesis testing</a:t>
            </a:r>
          </a:p>
          <a:p>
            <a:pPr marL="800100" lvl="1" indent="-342900">
              <a:buFont typeface="Wingdings" panose="05000000000000000000" pitchFamily="2" charset="2"/>
              <a:buChar char="v"/>
            </a:pPr>
            <a:r>
              <a:rPr lang="en-US" sz="2600" b="1" dirty="0">
                <a:solidFill>
                  <a:schemeClr val="tx1"/>
                </a:solidFill>
              </a:rPr>
              <a:t>Machine learning models</a:t>
            </a:r>
          </a:p>
          <a:p>
            <a:pPr marL="800100" lvl="1" indent="-342900">
              <a:buFont typeface="Wingdings" panose="05000000000000000000" pitchFamily="2" charset="2"/>
              <a:buChar char="v"/>
            </a:pPr>
            <a:r>
              <a:rPr lang="en-US" sz="2600" b="1" dirty="0">
                <a:solidFill>
                  <a:schemeClr val="tx1"/>
                </a:solidFill>
              </a:rPr>
              <a:t>Prediction tasks.</a:t>
            </a:r>
          </a:p>
        </p:txBody>
      </p:sp>
      <p:sp>
        <p:nvSpPr>
          <p:cNvPr id="4" name="Slide Number Placeholder 3"/>
          <p:cNvSpPr>
            <a:spLocks noGrp="1"/>
          </p:cNvSpPr>
          <p:nvPr>
            <p:ph type="sldNum" sz="quarter" idx="5"/>
          </p:nvPr>
        </p:nvSpPr>
        <p:spPr/>
        <p:txBody>
          <a:bodyPr/>
          <a:lstStyle/>
          <a:p>
            <a:fld id="{2B2834C3-DD57-43F1-BA72-DB15EC44922D}" type="slidenum">
              <a:rPr lang="en-IN" smtClean="0"/>
              <a:t>3</a:t>
            </a:fld>
            <a:endParaRPr lang="en-IN"/>
          </a:p>
        </p:txBody>
      </p:sp>
    </p:spTree>
    <p:extLst>
      <p:ext uri="{BB962C8B-B14F-4D97-AF65-F5344CB8AC3E}">
        <p14:creationId xmlns:p14="http://schemas.microsoft.com/office/powerpoint/2010/main" val="2159806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B619C-7B54-9766-7034-4A86409FA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C31B7-EA1C-2242-8167-18D188F79A1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B92366E-4A3F-0DA8-0F03-2A6EE6B056C3}"/>
              </a:ext>
            </a:extLst>
          </p:cNvPr>
          <p:cNvSpPr>
            <a:spLocks noGrp="1"/>
          </p:cNvSpPr>
          <p:nvPr>
            <p:ph type="body" idx="1"/>
          </p:nvPr>
        </p:nvSpPr>
        <p:spPr/>
        <p:txBody>
          <a:bodyPr/>
          <a:lstStyle/>
          <a:p>
            <a:pPr marL="342900" indent="-342900">
              <a:buFont typeface="Wingdings" panose="05000000000000000000" pitchFamily="2" charset="2"/>
              <a:buChar char="v"/>
            </a:pPr>
            <a:r>
              <a:rPr lang="en-US" sz="2800" b="1" dirty="0">
                <a:solidFill>
                  <a:srgbClr val="0043C8"/>
                </a:solidFill>
              </a:rPr>
              <a:t> </a:t>
            </a:r>
            <a:r>
              <a:rPr lang="en-US" sz="2600" b="1" dirty="0">
                <a:solidFill>
                  <a:srgbClr val="0043C8"/>
                </a:solidFill>
              </a:rPr>
              <a:t>Data Understanding</a:t>
            </a:r>
          </a:p>
          <a:p>
            <a:pPr marL="800100" lvl="1" indent="-342900">
              <a:buFont typeface="Wingdings" panose="05000000000000000000" pitchFamily="2" charset="2"/>
              <a:buChar char="Ø"/>
            </a:pPr>
            <a:r>
              <a:rPr lang="en-US" sz="2200" b="1" dirty="0">
                <a:solidFill>
                  <a:schemeClr val="tx1"/>
                </a:solidFill>
              </a:rPr>
              <a:t>Checked all raw files (like player stats and match details) to see what information was available.</a:t>
            </a:r>
          </a:p>
          <a:p>
            <a:pPr marL="800100" lvl="1" indent="-342900">
              <a:buFont typeface="Wingdings" panose="05000000000000000000" pitchFamily="2" charset="2"/>
              <a:buChar char="Ø"/>
            </a:pPr>
            <a:r>
              <a:rPr lang="en-US" sz="2200" b="1" dirty="0">
                <a:solidFill>
                  <a:schemeClr val="tx1"/>
                </a:solidFill>
              </a:rPr>
              <a:t>Identified useful columns for analysis such as goals, assists, minutes, and player identities.</a:t>
            </a:r>
          </a:p>
          <a:p>
            <a:pPr marL="342900" indent="-342900">
              <a:buFont typeface="Wingdings" panose="05000000000000000000" pitchFamily="2" charset="2"/>
              <a:buChar char="v"/>
            </a:pPr>
            <a:r>
              <a:rPr lang="en-US" sz="2600" b="1" dirty="0">
                <a:solidFill>
                  <a:srgbClr val="0043C8"/>
                </a:solidFill>
              </a:rPr>
              <a:t> Data Merging</a:t>
            </a:r>
          </a:p>
          <a:p>
            <a:pPr marL="800100" lvl="1" indent="-342900">
              <a:buFont typeface="Wingdings" panose="05000000000000000000" pitchFamily="2" charset="2"/>
              <a:buChar char="Ø"/>
            </a:pPr>
            <a:r>
              <a:rPr lang="en-US" sz="2200" b="1" dirty="0">
                <a:solidFill>
                  <a:schemeClr val="tx1"/>
                </a:solidFill>
              </a:rPr>
              <a:t>Joined files together using unique player and match IDs.</a:t>
            </a:r>
          </a:p>
          <a:p>
            <a:pPr marL="800100" lvl="1" indent="-342900">
              <a:buFont typeface="Wingdings" panose="05000000000000000000" pitchFamily="2" charset="2"/>
              <a:buChar char="Ø"/>
            </a:pPr>
            <a:r>
              <a:rPr lang="en-US" sz="2200" b="1" dirty="0">
                <a:solidFill>
                  <a:schemeClr val="tx1"/>
                </a:solidFill>
              </a:rPr>
              <a:t>Combined features so every player-record included all stats needed for analysis.</a:t>
            </a:r>
          </a:p>
          <a:p>
            <a:pPr marL="342900" indent="-342900">
              <a:buFont typeface="Wingdings" panose="05000000000000000000" pitchFamily="2" charset="2"/>
              <a:buChar char="v"/>
            </a:pPr>
            <a:r>
              <a:rPr lang="en-US" sz="2600" b="1" dirty="0">
                <a:solidFill>
                  <a:srgbClr val="0043C8"/>
                </a:solidFill>
              </a:rPr>
              <a:t> Data Cleaning</a:t>
            </a:r>
          </a:p>
          <a:p>
            <a:pPr marL="800100" lvl="1" indent="-342900">
              <a:buFont typeface="Wingdings" panose="05000000000000000000" pitchFamily="2" charset="2"/>
              <a:buChar char="Ø"/>
            </a:pPr>
            <a:r>
              <a:rPr lang="en-US" sz="2200" b="1" dirty="0">
                <a:solidFill>
                  <a:schemeClr val="tx1"/>
                </a:solidFill>
              </a:rPr>
              <a:t>Removed extra columns and duplicate rows to keep the dataset tidy.</a:t>
            </a:r>
          </a:p>
          <a:p>
            <a:pPr marL="800100" lvl="1" indent="-342900">
              <a:buFont typeface="Wingdings" panose="05000000000000000000" pitchFamily="2" charset="2"/>
              <a:buChar char="Ø"/>
            </a:pPr>
            <a:r>
              <a:rPr lang="en-US" sz="2200" b="1" dirty="0">
                <a:solidFill>
                  <a:schemeClr val="tx1"/>
                </a:solidFill>
              </a:rPr>
              <a:t>Fixed missing and wrong data by filling gaps with “NA” for categories and median values for numbers.</a:t>
            </a:r>
          </a:p>
          <a:p>
            <a:pPr marL="342900" indent="-342900">
              <a:buFont typeface="Wingdings" panose="05000000000000000000" pitchFamily="2" charset="2"/>
              <a:buChar char="v"/>
            </a:pPr>
            <a:r>
              <a:rPr lang="en-US" sz="2600" b="1" dirty="0">
                <a:solidFill>
                  <a:srgbClr val="0043C8"/>
                </a:solidFill>
              </a:rPr>
              <a:t> Data Preprocessing</a:t>
            </a:r>
          </a:p>
          <a:p>
            <a:pPr marL="800100" lvl="1" indent="-342900">
              <a:buFont typeface="Wingdings" panose="05000000000000000000" pitchFamily="2" charset="2"/>
              <a:buChar char="Ø"/>
            </a:pPr>
            <a:r>
              <a:rPr lang="en-US" sz="2200" b="1" dirty="0">
                <a:solidFill>
                  <a:schemeClr val="tx1"/>
                </a:solidFill>
              </a:rPr>
              <a:t>Changed column types so numbers, dates, and text would work in analysis tools.</a:t>
            </a:r>
          </a:p>
          <a:p>
            <a:pPr marL="800100" lvl="1" indent="-342900">
              <a:buFont typeface="Wingdings" panose="05000000000000000000" pitchFamily="2" charset="2"/>
              <a:buChar char="Ø"/>
            </a:pPr>
            <a:r>
              <a:rPr lang="en-US" sz="2200" b="1" dirty="0">
                <a:solidFill>
                  <a:schemeClr val="tx1"/>
                </a:solidFill>
              </a:rPr>
              <a:t>Made new calculation columns (like Goals per 90) and saved the final data for Tableau dashboards.</a:t>
            </a:r>
          </a:p>
          <a:p>
            <a:r>
              <a:rPr lang="en-IN" sz="2400" b="1" dirty="0">
                <a:solidFill>
                  <a:srgbClr val="002060"/>
                </a:solidFill>
              </a:rPr>
              <a:t>Data Description :</a:t>
            </a:r>
            <a:endParaRPr lang="en-IN" sz="1200" b="1" dirty="0">
              <a:solidFill>
                <a:schemeClr val="tx1"/>
              </a:solidFill>
            </a:endParaRPr>
          </a:p>
          <a:p>
            <a:pPr marL="342900" indent="-342900">
              <a:buFont typeface="Arial" panose="020B0604020202020204" pitchFamily="34" charset="0"/>
              <a:buChar char="•"/>
            </a:pPr>
            <a:r>
              <a:rPr lang="en-US" sz="1200" b="1" dirty="0">
                <a:solidFill>
                  <a:schemeClr val="tx1"/>
                </a:solidFill>
              </a:rPr>
              <a:t>This data belongs to a cleaned </a:t>
            </a:r>
            <a:r>
              <a:rPr lang="en-US" sz="1200" b="1" dirty="0">
                <a:solidFill>
                  <a:srgbClr val="0033CC"/>
                </a:solidFill>
              </a:rPr>
              <a:t>Football player and Match dataset</a:t>
            </a:r>
            <a:r>
              <a:rPr lang="en-US" sz="1200" b="1" dirty="0">
                <a:solidFill>
                  <a:schemeClr val="tx1"/>
                </a:solidFill>
              </a:rPr>
              <a:t> featuring key statistics, attributes, and event records across various competitions.</a:t>
            </a:r>
            <a:endParaRPr lang="en-IN" sz="1200" b="1" dirty="0">
              <a:solidFill>
                <a:schemeClr val="tx1"/>
              </a:solidFill>
            </a:endParaRPr>
          </a:p>
          <a:p>
            <a:pPr marL="342900" indent="-342900">
              <a:buFont typeface="Arial" panose="020B0604020202020204" pitchFamily="34" charset="0"/>
              <a:buChar char="•"/>
            </a:pPr>
            <a:r>
              <a:rPr lang="en-US" sz="1200" b="1" dirty="0">
                <a:solidFill>
                  <a:srgbClr val="0033CC"/>
                </a:solidFill>
              </a:rPr>
              <a:t>Player Identification: </a:t>
            </a:r>
            <a:r>
              <a:rPr lang="en-US" sz="1200" b="1" dirty="0">
                <a:solidFill>
                  <a:schemeClr val="tx1"/>
                </a:solidFill>
              </a:rPr>
              <a:t>Unique player ID, name, and nationality.</a:t>
            </a:r>
          </a:p>
          <a:p>
            <a:pPr marL="342900" indent="-342900">
              <a:buFont typeface="Arial" panose="020B0604020202020204" pitchFamily="34" charset="0"/>
              <a:buChar char="•"/>
            </a:pPr>
            <a:r>
              <a:rPr lang="en-US" sz="1200" b="1" dirty="0">
                <a:solidFill>
                  <a:srgbClr val="0033CC"/>
                </a:solidFill>
              </a:rPr>
              <a:t>Market Value:</a:t>
            </a:r>
            <a:r>
              <a:rPr lang="en-US" sz="1200" b="1" dirty="0">
                <a:solidFill>
                  <a:schemeClr val="tx1"/>
                </a:solidFill>
              </a:rPr>
              <a:t> market worth of players and Highest Market values of players in euros.</a:t>
            </a:r>
          </a:p>
          <a:p>
            <a:pPr marL="342900" indent="-342900">
              <a:buFont typeface="Arial" panose="020B0604020202020204" pitchFamily="34" charset="0"/>
              <a:buChar char="•"/>
            </a:pPr>
            <a:r>
              <a:rPr lang="en-US" sz="1200" b="1" dirty="0">
                <a:solidFill>
                  <a:srgbClr val="0033CC"/>
                </a:solidFill>
              </a:rPr>
              <a:t>Position: </a:t>
            </a:r>
            <a:r>
              <a:rPr lang="en-US" sz="1200" b="1" dirty="0">
                <a:solidFill>
                  <a:schemeClr val="tx1"/>
                </a:solidFill>
              </a:rPr>
              <a:t>The role of a player on the field, such as goalkeeper, defender, midfielder, or forward, which defines their primary responsibilities during the match.</a:t>
            </a:r>
            <a:endParaRPr lang="en-IN" sz="1200" b="1" dirty="0">
              <a:solidFill>
                <a:schemeClr val="tx1"/>
              </a:solidFill>
            </a:endParaRPr>
          </a:p>
          <a:p>
            <a:pPr marL="342900" indent="-342900">
              <a:buFont typeface="Arial" panose="020B0604020202020204" pitchFamily="34" charset="0"/>
              <a:buChar char="•"/>
            </a:pPr>
            <a:r>
              <a:rPr lang="en-US" sz="1200" b="1" dirty="0">
                <a:solidFill>
                  <a:srgbClr val="0033CC"/>
                </a:solidFill>
              </a:rPr>
              <a:t>Match Details: </a:t>
            </a:r>
            <a:r>
              <a:rPr lang="en-US" sz="1200" b="1" dirty="0">
                <a:solidFill>
                  <a:schemeClr val="tx1"/>
                </a:solidFill>
              </a:rPr>
              <a:t>Date, competition type.</a:t>
            </a:r>
          </a:p>
          <a:p>
            <a:pPr marL="342900" indent="-342900">
              <a:buFont typeface="Arial" panose="020B0604020202020204" pitchFamily="34" charset="0"/>
              <a:buChar char="•"/>
            </a:pPr>
            <a:r>
              <a:rPr lang="en-US" sz="1200" b="1" dirty="0">
                <a:solidFill>
                  <a:srgbClr val="0033CC"/>
                </a:solidFill>
              </a:rPr>
              <a:t>Performance Metrics:</a:t>
            </a:r>
            <a:r>
              <a:rPr lang="en-US" sz="1200" b="1" dirty="0">
                <a:solidFill>
                  <a:schemeClr val="tx1"/>
                </a:solidFill>
              </a:rPr>
              <a:t> Goals, assists and fouls.</a:t>
            </a:r>
          </a:p>
          <a:p>
            <a:pPr marL="342900" indent="-342900">
              <a:buFont typeface="Arial" panose="020B0604020202020204" pitchFamily="34" charset="0"/>
              <a:buChar char="•"/>
            </a:pPr>
            <a:r>
              <a:rPr lang="en-US" sz="1200" b="1" dirty="0">
                <a:solidFill>
                  <a:srgbClr val="0033CC"/>
                </a:solidFill>
              </a:rPr>
              <a:t>Referee Information: </a:t>
            </a:r>
            <a:r>
              <a:rPr lang="en-US" sz="1200" b="1" dirty="0">
                <a:solidFill>
                  <a:schemeClr val="tx1"/>
                </a:solidFill>
              </a:rPr>
              <a:t>Referee assigned to each match, with data on cards issued and fouls called.</a:t>
            </a:r>
          </a:p>
          <a:p>
            <a:pPr marL="342900" indent="-342900">
              <a:buFont typeface="Arial" panose="020B0604020202020204" pitchFamily="34" charset="0"/>
              <a:buChar char="•"/>
            </a:pPr>
            <a:r>
              <a:rPr lang="en-US" sz="1200" b="1" dirty="0">
                <a:solidFill>
                  <a:srgbClr val="0033CC"/>
                </a:solidFill>
              </a:rPr>
              <a:t>Contract and Transfer Data: </a:t>
            </a:r>
            <a:r>
              <a:rPr lang="en-US" sz="1200" b="1" dirty="0">
                <a:solidFill>
                  <a:schemeClr val="tx1"/>
                </a:solidFill>
              </a:rPr>
              <a:t>Information on player contracts for valuation analysis.</a:t>
            </a:r>
          </a:p>
          <a:p>
            <a:pPr marL="342900" indent="-342900">
              <a:buFont typeface="Arial" panose="020B0604020202020204" pitchFamily="34" charset="0"/>
              <a:buChar char="•"/>
            </a:pPr>
            <a:r>
              <a:rPr lang="en-US" sz="1200" b="1" dirty="0">
                <a:solidFill>
                  <a:srgbClr val="0033CC"/>
                </a:solidFill>
              </a:rPr>
              <a:t>Team and Manager Info: </a:t>
            </a:r>
            <a:r>
              <a:rPr lang="en-US" sz="1200" b="1" dirty="0">
                <a:solidFill>
                  <a:schemeClr val="tx1"/>
                </a:solidFill>
              </a:rPr>
              <a:t>Lists home and away club names and manager names.</a:t>
            </a:r>
          </a:p>
          <a:p>
            <a:pPr marL="342900" indent="-342900">
              <a:buFont typeface="Arial" panose="020B0604020202020204" pitchFamily="34" charset="0"/>
              <a:buChar char="•"/>
            </a:pPr>
            <a:r>
              <a:rPr lang="en-US" sz="1200" b="1" dirty="0">
                <a:solidFill>
                  <a:srgbClr val="0033CC"/>
                </a:solidFill>
              </a:rPr>
              <a:t>Venue Info: </a:t>
            </a:r>
            <a:r>
              <a:rPr lang="en-US" sz="1200" b="1" dirty="0">
                <a:solidFill>
                  <a:schemeClr val="tx1"/>
                </a:solidFill>
              </a:rPr>
              <a:t>Includes stadium name and attendance count.</a:t>
            </a:r>
            <a:endParaRPr lang="en-IN" sz="1200" b="1" dirty="0">
              <a:solidFill>
                <a:schemeClr val="tx1"/>
              </a:solidFill>
            </a:endParaRPr>
          </a:p>
        </p:txBody>
      </p:sp>
      <p:sp>
        <p:nvSpPr>
          <p:cNvPr id="4" name="Slide Number Placeholder 3">
            <a:extLst>
              <a:ext uri="{FF2B5EF4-FFF2-40B4-BE49-F238E27FC236}">
                <a16:creationId xmlns:a16="http://schemas.microsoft.com/office/drawing/2014/main" id="{C183CE14-AB7B-AF39-8BB6-AC8159B220AA}"/>
              </a:ext>
            </a:extLst>
          </p:cNvPr>
          <p:cNvSpPr>
            <a:spLocks noGrp="1"/>
          </p:cNvSpPr>
          <p:nvPr>
            <p:ph type="sldNum" sz="quarter" idx="5"/>
          </p:nvPr>
        </p:nvSpPr>
        <p:spPr/>
        <p:txBody>
          <a:bodyPr/>
          <a:lstStyle/>
          <a:p>
            <a:fld id="{2B2834C3-DD57-43F1-BA72-DB15EC44922D}" type="slidenum">
              <a:rPr lang="en-IN" smtClean="0"/>
              <a:t>4</a:t>
            </a:fld>
            <a:endParaRPr lang="en-IN"/>
          </a:p>
        </p:txBody>
      </p:sp>
    </p:spTree>
    <p:extLst>
      <p:ext uri="{BB962C8B-B14F-4D97-AF65-F5344CB8AC3E}">
        <p14:creationId xmlns:p14="http://schemas.microsoft.com/office/powerpoint/2010/main" val="866027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15974-2CD0-E6B2-58B3-0F790B8E0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C3BD3-5682-99B1-AF6C-878ED3F84BB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E3E317D-DF48-71F5-1BE9-1C22699A4D73}"/>
              </a:ext>
            </a:extLst>
          </p:cNvPr>
          <p:cNvSpPr>
            <a:spLocks noGrp="1"/>
          </p:cNvSpPr>
          <p:nvPr>
            <p:ph type="body" idx="1"/>
          </p:nvPr>
        </p:nvSpPr>
        <p:spPr/>
        <p:txBody>
          <a:bodyPr/>
          <a:lstStyle/>
          <a:p>
            <a:pPr marL="342900" indent="-342900">
              <a:buFont typeface="Wingdings" panose="05000000000000000000" pitchFamily="2" charset="2"/>
              <a:buChar char="Ø"/>
            </a:pPr>
            <a:r>
              <a:rPr lang="en-US" sz="2800" b="1" dirty="0">
                <a:solidFill>
                  <a:srgbClr val="0033CC"/>
                </a:solidFill>
              </a:rPr>
              <a:t>Excel: </a:t>
            </a:r>
          </a:p>
          <a:p>
            <a:pPr marL="742950" lvl="1" indent="-285750">
              <a:buFont typeface="Wingdings" panose="05000000000000000000" pitchFamily="2" charset="2"/>
              <a:buChar char="v"/>
            </a:pPr>
            <a:r>
              <a:rPr lang="en-US" sz="2600" b="1" dirty="0">
                <a:solidFill>
                  <a:schemeClr val="tx1"/>
                </a:solidFill>
              </a:rPr>
              <a:t>Used for initial Quick Data Summarizing ,data analysis and exploration.</a:t>
            </a:r>
          </a:p>
          <a:p>
            <a:pPr marL="342900" indent="-342900">
              <a:buFont typeface="Wingdings" panose="05000000000000000000" pitchFamily="2" charset="2"/>
              <a:buChar char="Ø"/>
            </a:pPr>
            <a:r>
              <a:rPr lang="en-US" sz="2800" b="1" dirty="0">
                <a:solidFill>
                  <a:srgbClr val="0033CC"/>
                </a:solidFill>
              </a:rPr>
              <a:t>MySQL:</a:t>
            </a:r>
            <a:r>
              <a:rPr lang="en-US" sz="2800" b="1" dirty="0">
                <a:solidFill>
                  <a:schemeClr val="tx1"/>
                </a:solidFill>
              </a:rPr>
              <a:t> </a:t>
            </a:r>
          </a:p>
          <a:p>
            <a:pPr marL="800100" lvl="1" indent="-342900">
              <a:buFont typeface="Wingdings" panose="05000000000000000000" pitchFamily="2" charset="2"/>
              <a:buChar char="v"/>
            </a:pPr>
            <a:r>
              <a:rPr lang="en-US" sz="2600" b="1" dirty="0">
                <a:solidFill>
                  <a:schemeClr val="tx1"/>
                </a:solidFill>
              </a:rPr>
              <a:t>Utilized for data connection, storage, and creating database triggers.</a:t>
            </a:r>
          </a:p>
          <a:p>
            <a:pPr marL="800100" lvl="1" indent="-342900">
              <a:buFont typeface="Wingdings" panose="05000000000000000000" pitchFamily="2" charset="2"/>
              <a:buChar char="v"/>
            </a:pPr>
            <a:r>
              <a:rPr lang="en-US" sz="2600" b="1" dirty="0">
                <a:solidFill>
                  <a:schemeClr val="tx1"/>
                </a:solidFill>
              </a:rPr>
              <a:t>Data Querying and Efficient handling of large datasets</a:t>
            </a:r>
            <a:endParaRPr lang="en-IN" sz="2600" b="1" dirty="0">
              <a:solidFill>
                <a:schemeClr val="tx1"/>
              </a:solidFill>
            </a:endParaRPr>
          </a:p>
          <a:p>
            <a:pPr marL="342900" indent="-342900">
              <a:buFont typeface="Wingdings" panose="05000000000000000000" pitchFamily="2" charset="2"/>
              <a:buChar char="Ø"/>
            </a:pPr>
            <a:r>
              <a:rPr lang="en-US" sz="2800" b="1" dirty="0">
                <a:solidFill>
                  <a:srgbClr val="0033CC"/>
                </a:solidFill>
              </a:rPr>
              <a:t>Tableau: </a:t>
            </a:r>
          </a:p>
          <a:p>
            <a:pPr marL="800100" lvl="1" indent="-342900">
              <a:buFont typeface="Wingdings" panose="05000000000000000000" pitchFamily="2" charset="2"/>
              <a:buChar char="v"/>
            </a:pPr>
            <a:r>
              <a:rPr lang="en-US" sz="2600" b="1" dirty="0">
                <a:solidFill>
                  <a:schemeClr val="tx1"/>
                </a:solidFill>
              </a:rPr>
              <a:t>Employed for interactive visualization and dashboard creation.</a:t>
            </a:r>
          </a:p>
          <a:p>
            <a:pPr marL="800100" lvl="1" indent="-342900">
              <a:buFont typeface="Wingdings" panose="05000000000000000000" pitchFamily="2" charset="2"/>
              <a:buChar char="v"/>
            </a:pPr>
            <a:r>
              <a:rPr lang="en-US" sz="2600" b="1" dirty="0">
                <a:solidFill>
                  <a:schemeClr val="tx1"/>
                </a:solidFill>
              </a:rPr>
              <a:t>Dynamic reports and insights communication.</a:t>
            </a:r>
            <a:endParaRPr lang="en-IN" sz="2600" b="1" dirty="0">
              <a:solidFill>
                <a:schemeClr val="tx1"/>
              </a:solidFill>
            </a:endParaRPr>
          </a:p>
          <a:p>
            <a:pPr marL="342900" indent="-342900">
              <a:buFont typeface="Wingdings" panose="05000000000000000000" pitchFamily="2" charset="2"/>
              <a:buChar char="Ø"/>
            </a:pPr>
            <a:r>
              <a:rPr lang="en-US" sz="2800" b="1" dirty="0">
                <a:solidFill>
                  <a:srgbClr val="0033CC"/>
                </a:solidFill>
              </a:rPr>
              <a:t>Python: </a:t>
            </a:r>
          </a:p>
          <a:p>
            <a:pPr marL="800100" lvl="1" indent="-342900">
              <a:buFont typeface="Wingdings" panose="05000000000000000000" pitchFamily="2" charset="2"/>
              <a:buChar char="v"/>
            </a:pPr>
            <a:r>
              <a:rPr lang="en-US" sz="2600" b="1" dirty="0">
                <a:solidFill>
                  <a:schemeClr val="tx1"/>
                </a:solidFill>
              </a:rPr>
              <a:t>Data preprocessing</a:t>
            </a:r>
          </a:p>
          <a:p>
            <a:pPr marL="800100" lvl="1" indent="-342900">
              <a:buFont typeface="Wingdings" panose="05000000000000000000" pitchFamily="2" charset="2"/>
              <a:buChar char="v"/>
            </a:pPr>
            <a:r>
              <a:rPr lang="en-US" sz="2600" b="1" dirty="0">
                <a:solidFill>
                  <a:schemeClr val="tx1"/>
                </a:solidFill>
              </a:rPr>
              <a:t>Statistical hypothesis testing</a:t>
            </a:r>
          </a:p>
          <a:p>
            <a:pPr marL="800100" lvl="1" indent="-342900">
              <a:buFont typeface="Wingdings" panose="05000000000000000000" pitchFamily="2" charset="2"/>
              <a:buChar char="v"/>
            </a:pPr>
            <a:r>
              <a:rPr lang="en-US" sz="2600" b="1" dirty="0">
                <a:solidFill>
                  <a:schemeClr val="tx1"/>
                </a:solidFill>
              </a:rPr>
              <a:t>Machine learning models</a:t>
            </a:r>
          </a:p>
          <a:p>
            <a:pPr marL="800100" lvl="1" indent="-342900">
              <a:buFont typeface="Wingdings" panose="05000000000000000000" pitchFamily="2" charset="2"/>
              <a:buChar char="v"/>
            </a:pPr>
            <a:r>
              <a:rPr lang="en-US" sz="2600" b="1" dirty="0">
                <a:solidFill>
                  <a:schemeClr val="tx1"/>
                </a:solidFill>
              </a:rPr>
              <a:t>Prediction tasks.</a:t>
            </a:r>
          </a:p>
        </p:txBody>
      </p:sp>
      <p:sp>
        <p:nvSpPr>
          <p:cNvPr id="4" name="Slide Number Placeholder 3">
            <a:extLst>
              <a:ext uri="{FF2B5EF4-FFF2-40B4-BE49-F238E27FC236}">
                <a16:creationId xmlns:a16="http://schemas.microsoft.com/office/drawing/2014/main" id="{8E9E7DB1-0787-14CB-D9DE-2EE1CA214672}"/>
              </a:ext>
            </a:extLst>
          </p:cNvPr>
          <p:cNvSpPr>
            <a:spLocks noGrp="1"/>
          </p:cNvSpPr>
          <p:nvPr>
            <p:ph type="sldNum" sz="quarter" idx="5"/>
          </p:nvPr>
        </p:nvSpPr>
        <p:spPr/>
        <p:txBody>
          <a:bodyPr/>
          <a:lstStyle/>
          <a:p>
            <a:fld id="{2B2834C3-DD57-43F1-BA72-DB15EC44922D}" type="slidenum">
              <a:rPr lang="en-IN" smtClean="0"/>
              <a:t>5</a:t>
            </a:fld>
            <a:endParaRPr lang="en-IN"/>
          </a:p>
        </p:txBody>
      </p:sp>
    </p:spTree>
    <p:extLst>
      <p:ext uri="{BB962C8B-B14F-4D97-AF65-F5344CB8AC3E}">
        <p14:creationId xmlns:p14="http://schemas.microsoft.com/office/powerpoint/2010/main" val="3370983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E46A7-FD3E-964F-D8DC-C1C1D340B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1CE7CE-B437-D6CF-A53C-9050B971F69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C950113-8212-F2FD-0AB4-E751AEFF803C}"/>
              </a:ext>
            </a:extLst>
          </p:cNvPr>
          <p:cNvSpPr>
            <a:spLocks noGrp="1"/>
          </p:cNvSpPr>
          <p:nvPr>
            <p:ph type="body" idx="1"/>
          </p:nvPr>
        </p:nvSpPr>
        <p:spPr/>
        <p:txBody>
          <a:bodyPr/>
          <a:lstStyle/>
          <a:p>
            <a:r>
              <a:rPr lang="en-IN" sz="2400" b="1" dirty="0">
                <a:solidFill>
                  <a:srgbClr val="002060"/>
                </a:solidFill>
              </a:rPr>
              <a:t>Descriptive Analysis :</a:t>
            </a:r>
            <a:endParaRPr lang="en-IN" sz="1200" b="1" dirty="0">
              <a:solidFill>
                <a:srgbClr val="0033CC"/>
              </a:solidFill>
            </a:endParaRPr>
          </a:p>
          <a:p>
            <a:pPr marL="342900" indent="-342900">
              <a:buFont typeface="Arial" panose="020B0604020202020204" pitchFamily="34" charset="0"/>
              <a:buChar char="•"/>
            </a:pPr>
            <a:r>
              <a:rPr lang="en-US" sz="1200" b="1" dirty="0">
                <a:solidFill>
                  <a:srgbClr val="0033CC"/>
                </a:solidFill>
              </a:rPr>
              <a:t>Summarized the Data :</a:t>
            </a:r>
            <a:r>
              <a:rPr lang="en-US" sz="1200" b="1" dirty="0">
                <a:solidFill>
                  <a:schemeClr val="tx1"/>
                </a:solidFill>
              </a:rPr>
              <a:t> Found basic numbers like </a:t>
            </a:r>
            <a:r>
              <a:rPr lang="en-US" sz="1200" b="1" dirty="0">
                <a:solidFill>
                  <a:schemeClr val="tx1"/>
                </a:solidFill>
                <a:highlight>
                  <a:srgbClr val="FFFF00"/>
                </a:highlight>
              </a:rPr>
              <a:t>totals, averages, highest and lowest </a:t>
            </a:r>
            <a:r>
              <a:rPr lang="en-US" sz="1200" b="1" dirty="0">
                <a:solidFill>
                  <a:schemeClr val="tx1"/>
                </a:solidFill>
              </a:rPr>
              <a:t>values to quickly understand key points (like how many players, goals, clubs, market values, etc.).</a:t>
            </a:r>
            <a:endParaRPr lang="en-IN" sz="1200" b="1" dirty="0">
              <a:solidFill>
                <a:schemeClr val="tx1"/>
              </a:solidFill>
            </a:endParaRPr>
          </a:p>
          <a:p>
            <a:pPr marL="342900" indent="-342900">
              <a:buFont typeface="Arial" panose="020B0604020202020204" pitchFamily="34" charset="0"/>
              <a:buChar char="•"/>
            </a:pPr>
            <a:r>
              <a:rPr lang="en-US" sz="1200" b="1" dirty="0">
                <a:solidFill>
                  <a:srgbClr val="0033CC"/>
                </a:solidFill>
              </a:rPr>
              <a:t>Showed Everything in Charts :</a:t>
            </a:r>
            <a:r>
              <a:rPr lang="en-US" sz="1200" b="1" dirty="0">
                <a:solidFill>
                  <a:schemeClr val="tx1"/>
                </a:solidFill>
              </a:rPr>
              <a:t> Created clear visuals - like </a:t>
            </a:r>
            <a:r>
              <a:rPr lang="en-US" sz="1200" b="1" dirty="0">
                <a:solidFill>
                  <a:schemeClr val="tx1"/>
                </a:solidFill>
                <a:highlight>
                  <a:srgbClr val="00FF00"/>
                </a:highlight>
              </a:rPr>
              <a:t>bar charts, pie charts, and line graphs </a:t>
            </a:r>
            <a:r>
              <a:rPr lang="en-US" sz="1200" b="1" dirty="0">
                <a:solidFill>
                  <a:schemeClr val="tx1"/>
                </a:solidFill>
              </a:rPr>
              <a:t>- so patterns and differences are easy to spot for everyone.</a:t>
            </a:r>
            <a:endParaRPr lang="en-IN" sz="1200" b="1" dirty="0">
              <a:solidFill>
                <a:schemeClr val="tx1"/>
              </a:solidFill>
            </a:endParaRPr>
          </a:p>
          <a:p>
            <a:pPr marL="342900" indent="-342900">
              <a:buFont typeface="Arial" panose="020B0604020202020204" pitchFamily="34" charset="0"/>
              <a:buChar char="•"/>
            </a:pPr>
            <a:r>
              <a:rPr lang="en-US" sz="1200" b="1" dirty="0">
                <a:solidFill>
                  <a:srgbClr val="0033CC"/>
                </a:solidFill>
              </a:rPr>
              <a:t>Looked for Patterns :</a:t>
            </a:r>
            <a:r>
              <a:rPr lang="en-US" sz="1200" b="1" dirty="0">
                <a:solidFill>
                  <a:schemeClr val="tx1"/>
                </a:solidFill>
              </a:rPr>
              <a:t> Checked which players or clubs do best and when, spotted any </a:t>
            </a:r>
            <a:r>
              <a:rPr lang="en-US" sz="1200" b="1" dirty="0">
                <a:solidFill>
                  <a:schemeClr val="tx1"/>
                </a:solidFill>
                <a:highlight>
                  <a:srgbClr val="FFFF00"/>
                </a:highlight>
              </a:rPr>
              <a:t>unusual trends</a:t>
            </a:r>
            <a:r>
              <a:rPr lang="en-US" sz="1200" b="1" dirty="0">
                <a:solidFill>
                  <a:schemeClr val="tx1"/>
                </a:solidFill>
              </a:rPr>
              <a:t> or standout seasons, and saw where there are </a:t>
            </a:r>
            <a:r>
              <a:rPr lang="en-US" sz="1200" b="1" dirty="0">
                <a:solidFill>
                  <a:schemeClr val="tx1"/>
                </a:solidFill>
                <a:highlight>
                  <a:srgbClr val="FFFF00"/>
                </a:highlight>
              </a:rPr>
              <a:t>sudden spikes or drops.</a:t>
            </a:r>
            <a:endParaRPr lang="en-IN" sz="1200" b="1" dirty="0">
              <a:solidFill>
                <a:schemeClr val="tx1"/>
              </a:solidFill>
              <a:highlight>
                <a:srgbClr val="FFFF00"/>
              </a:highlight>
            </a:endParaRPr>
          </a:p>
          <a:p>
            <a:pPr marL="342900" indent="-342900">
              <a:buFont typeface="Arial" panose="020B0604020202020204" pitchFamily="34" charset="0"/>
              <a:buChar char="•"/>
            </a:pPr>
            <a:r>
              <a:rPr lang="en-US" sz="1200" b="1" dirty="0">
                <a:solidFill>
                  <a:srgbClr val="0033CC"/>
                </a:solidFill>
              </a:rPr>
              <a:t>Made it Useful for Decisions :</a:t>
            </a:r>
            <a:r>
              <a:rPr lang="en-US" sz="1200" b="1" dirty="0">
                <a:solidFill>
                  <a:schemeClr val="tx1"/>
                </a:solidFill>
              </a:rPr>
              <a:t> These summaries and charts help coaches, managers, or fans make smarter choices—for example, </a:t>
            </a:r>
            <a:r>
              <a:rPr lang="en-US" sz="1200" b="1" dirty="0">
                <a:solidFill>
                  <a:schemeClr val="tx1"/>
                </a:solidFill>
                <a:highlight>
                  <a:srgbClr val="00FF00"/>
                </a:highlight>
              </a:rPr>
              <a:t>focusing on successful players, strong clubs, or areas needing improvement.</a:t>
            </a:r>
          </a:p>
          <a:p>
            <a:pPr marL="342900" indent="-342900">
              <a:buFont typeface="Arial" panose="020B0604020202020204" pitchFamily="34" charset="0"/>
              <a:buChar char="•"/>
            </a:pPr>
            <a:r>
              <a:rPr lang="en-US" sz="1200" b="1" dirty="0">
                <a:solidFill>
                  <a:srgbClr val="0033CC"/>
                </a:solidFill>
              </a:rPr>
              <a:t>Compared Different Groups:</a:t>
            </a:r>
            <a:r>
              <a:rPr lang="en-US" sz="1200" b="1" dirty="0">
                <a:solidFill>
                  <a:schemeClr val="tx1"/>
                </a:solidFill>
              </a:rPr>
              <a:t> Broke down the data by categories (like </a:t>
            </a:r>
            <a:r>
              <a:rPr lang="en-US" sz="1200" b="1" dirty="0">
                <a:solidFill>
                  <a:schemeClr val="tx1"/>
                </a:solidFill>
                <a:highlight>
                  <a:srgbClr val="FFFF00"/>
                </a:highlight>
              </a:rPr>
              <a:t>player position, club, season, or competition</a:t>
            </a:r>
            <a:r>
              <a:rPr lang="en-US" sz="1200" b="1" dirty="0">
                <a:solidFill>
                  <a:schemeClr val="tx1"/>
                </a:solidFill>
              </a:rPr>
              <a:t>) to see how different groups perform and discover what makes some better than others.</a:t>
            </a:r>
            <a:endParaRPr lang="en-IN" sz="1200" b="1" dirty="0">
              <a:solidFill>
                <a:schemeClr val="tx1"/>
              </a:solidFill>
            </a:endParaRPr>
          </a:p>
          <a:p>
            <a:endParaRPr lang="en-IN" dirty="0"/>
          </a:p>
          <a:p>
            <a:r>
              <a:rPr lang="en-US" sz="2400" b="1" dirty="0">
                <a:solidFill>
                  <a:srgbClr val="0033CC"/>
                </a:solidFill>
              </a:rPr>
              <a:t>Conclusion : </a:t>
            </a:r>
          </a:p>
          <a:p>
            <a:endParaRPr lang="en-US" sz="1200" b="1" dirty="0">
              <a:solidFill>
                <a:schemeClr val="tx1"/>
              </a:solidFill>
            </a:endParaRPr>
          </a:p>
          <a:p>
            <a:r>
              <a:rPr lang="en-US" sz="1200" b="1" dirty="0">
                <a:solidFill>
                  <a:schemeClr val="tx1"/>
                </a:solidFill>
              </a:rPr>
              <a:t>Descriptive analysis is the first and most important step for finding value in data, as it helps everyone see what is really happening.</a:t>
            </a:r>
            <a:endParaRPr lang="en-IN" sz="1200" b="1" dirty="0">
              <a:solidFill>
                <a:schemeClr val="tx1"/>
              </a:solidFill>
            </a:endParaRPr>
          </a:p>
        </p:txBody>
      </p:sp>
      <p:sp>
        <p:nvSpPr>
          <p:cNvPr id="4" name="Slide Number Placeholder 3">
            <a:extLst>
              <a:ext uri="{FF2B5EF4-FFF2-40B4-BE49-F238E27FC236}">
                <a16:creationId xmlns:a16="http://schemas.microsoft.com/office/drawing/2014/main" id="{D3F81DCD-F625-632F-028E-8BDFE2D5EE54}"/>
              </a:ext>
            </a:extLst>
          </p:cNvPr>
          <p:cNvSpPr>
            <a:spLocks noGrp="1"/>
          </p:cNvSpPr>
          <p:nvPr>
            <p:ph type="sldNum" sz="quarter" idx="5"/>
          </p:nvPr>
        </p:nvSpPr>
        <p:spPr/>
        <p:txBody>
          <a:bodyPr/>
          <a:lstStyle/>
          <a:p>
            <a:fld id="{2B2834C3-DD57-43F1-BA72-DB15EC44922D}" type="slidenum">
              <a:rPr lang="en-IN" smtClean="0"/>
              <a:t>6</a:t>
            </a:fld>
            <a:endParaRPr lang="en-IN"/>
          </a:p>
        </p:txBody>
      </p:sp>
    </p:spTree>
    <p:extLst>
      <p:ext uri="{BB962C8B-B14F-4D97-AF65-F5344CB8AC3E}">
        <p14:creationId xmlns:p14="http://schemas.microsoft.com/office/powerpoint/2010/main" val="1245306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0D1C-1F91-5DD9-8920-FD786C829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48DE2-A9B9-10D9-5D24-62A260D6773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8E9E484-B300-13AB-5FC7-EAB42E534FE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Probability of Assisting (</a:t>
            </a:r>
            <a:r>
              <a:rPr lang="en-US" sz="1200" b="0" i="0" kern="1200" dirty="0" err="1">
                <a:solidFill>
                  <a:schemeClr val="tx1"/>
                </a:solidFill>
                <a:effectLst/>
                <a:latin typeface="+mn-lt"/>
                <a:ea typeface="+mn-ea"/>
                <a:cs typeface="+mn-cs"/>
              </a:rPr>
              <a:t>p_assist</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shows how often a player makes at least one assist in a match, e.g., 7.36% times a player assisted.</a:t>
            </a:r>
          </a:p>
          <a:p>
            <a:r>
              <a:rPr lang="en-US" sz="1200" b="0" i="0" kern="1200" dirty="0">
                <a:solidFill>
                  <a:schemeClr val="tx1"/>
                </a:solidFill>
                <a:effectLst/>
                <a:latin typeface="+mn-lt"/>
                <a:ea typeface="+mn-ea"/>
                <a:cs typeface="+mn-cs"/>
              </a:rPr>
              <a:t>Probability of No Goals and No Assists (</a:t>
            </a:r>
            <a:r>
              <a:rPr lang="en-US" sz="1200" b="0" i="0" kern="1200" dirty="0" err="1">
                <a:solidFill>
                  <a:schemeClr val="tx1"/>
                </a:solidFill>
                <a:effectLst/>
                <a:latin typeface="+mn-lt"/>
                <a:ea typeface="+mn-ea"/>
                <a:cs typeface="+mn-cs"/>
              </a:rPr>
              <a:t>p_no_goals_no_assist</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shows how often players neither scored nor assisted in a match, e.g., 82.56% of match performances had no goals or assists.</a:t>
            </a:r>
          </a:p>
          <a:p>
            <a:r>
              <a:rPr lang="en-US" sz="1200" b="0" i="0" kern="1200" dirty="0">
                <a:solidFill>
                  <a:schemeClr val="tx1"/>
                </a:solidFill>
                <a:effectLst/>
                <a:latin typeface="+mn-lt"/>
                <a:ea typeface="+mn-ea"/>
                <a:cs typeface="+mn-cs"/>
              </a:rPr>
              <a:t>Probability of Goals or Assists (</a:t>
            </a:r>
            <a:r>
              <a:rPr lang="en-US" sz="1200" b="0" i="0" kern="1200" dirty="0" err="1">
                <a:solidFill>
                  <a:schemeClr val="tx1"/>
                </a:solidFill>
                <a:effectLst/>
                <a:latin typeface="+mn-lt"/>
                <a:ea typeface="+mn-ea"/>
                <a:cs typeface="+mn-cs"/>
              </a:rPr>
              <a:t>p_goals_or_assist</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is how often a player either scored or assisted (or both) in a match, indicating how often players contributed to scoring, e.g., 17.44% of the time.</a:t>
            </a:r>
          </a:p>
          <a:p>
            <a:r>
              <a:rPr lang="en-US" sz="1200" b="0" i="0" kern="1200" dirty="0">
                <a:solidFill>
                  <a:schemeClr val="tx1"/>
                </a:solidFill>
                <a:effectLst/>
                <a:latin typeface="+mn-lt"/>
                <a:ea typeface="+mn-ea"/>
                <a:cs typeface="+mn-cs"/>
              </a:rPr>
              <a:t>Conditional Probability of Assist Given Goals (</a:t>
            </a:r>
            <a:r>
              <a:rPr lang="en-US" sz="1200" b="0" i="0" kern="1200" dirty="0" err="1">
                <a:solidFill>
                  <a:schemeClr val="tx1"/>
                </a:solidFill>
                <a:effectLst/>
                <a:latin typeface="+mn-lt"/>
                <a:ea typeface="+mn-ea"/>
                <a:cs typeface="+mn-cs"/>
              </a:rPr>
              <a:t>cond_assist_given_goals</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Among those matches where a player scored, this shows how often they also assisted. This tells you the chance a goal scorer also helped another goal, e.g., 13.4% of goal scorers also assisted.</a:t>
            </a:r>
          </a:p>
          <a:p>
            <a:r>
              <a:rPr lang="en-US" sz="1200" b="0" i="0" kern="1200" dirty="0">
                <a:solidFill>
                  <a:schemeClr val="tx1"/>
                </a:solidFill>
                <a:effectLst/>
                <a:latin typeface="+mn-lt"/>
                <a:ea typeface="+mn-ea"/>
                <a:cs typeface="+mn-cs"/>
              </a:rPr>
              <a:t>Conditional Probability of Goals Given Assist (</a:t>
            </a:r>
            <a:r>
              <a:rPr lang="en-US" sz="1200" b="0" i="0" kern="1200" dirty="0" err="1">
                <a:solidFill>
                  <a:schemeClr val="tx1"/>
                </a:solidFill>
                <a:effectLst/>
                <a:latin typeface="+mn-lt"/>
                <a:ea typeface="+mn-ea"/>
                <a:cs typeface="+mn-cs"/>
              </a:rPr>
              <a:t>cond_goals_given_assist</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Among those matches where a player assisted, this shows how often they also scored. This tells you the chance an assister also scored themselves, e.g., 21.17% of assisters also scored.</a:t>
            </a:r>
          </a:p>
          <a:p>
            <a:r>
              <a:rPr lang="en-US" sz="1200" b="0" i="0" kern="1200" dirty="0">
                <a:solidFill>
                  <a:schemeClr val="tx1"/>
                </a:solidFill>
                <a:effectLst/>
                <a:latin typeface="+mn-lt"/>
                <a:ea typeface="+mn-ea"/>
                <a:cs typeface="+mn-cs"/>
              </a:rPr>
              <a:t>These probabilities and conditional probabilities give insight into player performance patterns: whether players tend to score, assist, or do both in matches.</a:t>
            </a:r>
          </a:p>
        </p:txBody>
      </p:sp>
      <p:sp>
        <p:nvSpPr>
          <p:cNvPr id="4" name="Slide Number Placeholder 3">
            <a:extLst>
              <a:ext uri="{FF2B5EF4-FFF2-40B4-BE49-F238E27FC236}">
                <a16:creationId xmlns:a16="http://schemas.microsoft.com/office/drawing/2014/main" id="{BC1EA0FF-540F-AA97-08D8-310A4239CA4A}"/>
              </a:ext>
            </a:extLst>
          </p:cNvPr>
          <p:cNvSpPr>
            <a:spLocks noGrp="1"/>
          </p:cNvSpPr>
          <p:nvPr>
            <p:ph type="sldNum" sz="quarter" idx="5"/>
          </p:nvPr>
        </p:nvSpPr>
        <p:spPr/>
        <p:txBody>
          <a:bodyPr/>
          <a:lstStyle/>
          <a:p>
            <a:fld id="{2B2834C3-DD57-43F1-BA72-DB15EC44922D}" type="slidenum">
              <a:rPr lang="en-IN" smtClean="0"/>
              <a:t>7</a:t>
            </a:fld>
            <a:endParaRPr lang="en-IN"/>
          </a:p>
        </p:txBody>
      </p:sp>
    </p:spTree>
    <p:extLst>
      <p:ext uri="{BB962C8B-B14F-4D97-AF65-F5344CB8AC3E}">
        <p14:creationId xmlns:p14="http://schemas.microsoft.com/office/powerpoint/2010/main" val="3319678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8C26A-47F8-3C2A-CDD3-B4A950DDE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6BFE1-F8DF-C0AC-847D-71A871E09C9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012214F-99DE-95B6-0B9C-25A3165F0A8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In easy language, the KDE plot of sample means (CLT) means:</a:t>
            </a:r>
          </a:p>
          <a:p>
            <a:r>
              <a:rPr lang="en-US" sz="1200" b="0" i="0" kern="1200" dirty="0">
                <a:solidFill>
                  <a:schemeClr val="tx1"/>
                </a:solidFill>
                <a:effectLst/>
                <a:latin typeface="+mn-lt"/>
                <a:ea typeface="+mn-ea"/>
                <a:cs typeface="+mn-cs"/>
              </a:rPr>
              <a:t>We took many small groups (samples) from the whole dataset and calculated the average goals in each group.</a:t>
            </a:r>
          </a:p>
          <a:p>
            <a:r>
              <a:rPr lang="en-US" sz="1200" b="0" i="0" kern="1200" dirty="0">
                <a:solidFill>
                  <a:schemeClr val="tx1"/>
                </a:solidFill>
                <a:effectLst/>
                <a:latin typeface="+mn-lt"/>
                <a:ea typeface="+mn-ea"/>
                <a:cs typeface="+mn-cs"/>
              </a:rPr>
              <a:t>Then, we made a graph of all those averages.</a:t>
            </a:r>
          </a:p>
          <a:p>
            <a:r>
              <a:rPr lang="en-US" sz="1200" b="0" i="0" kern="1200" dirty="0">
                <a:solidFill>
                  <a:schemeClr val="tx1"/>
                </a:solidFill>
                <a:effectLst/>
                <a:latin typeface="+mn-lt"/>
                <a:ea typeface="+mn-ea"/>
                <a:cs typeface="+mn-cs"/>
              </a:rPr>
              <a:t>This graph becomes bell-shaped (normal curve) even if the individual player scores are very uneven.</a:t>
            </a:r>
          </a:p>
          <a:p>
            <a:r>
              <a:rPr lang="en-US" sz="1200" b="0" i="0" kern="1200" dirty="0">
                <a:solidFill>
                  <a:schemeClr val="tx1"/>
                </a:solidFill>
                <a:effectLst/>
                <a:latin typeface="+mn-lt"/>
                <a:ea typeface="+mn-ea"/>
                <a:cs typeface="+mn-cs"/>
              </a:rPr>
              <a:t>Why is this useful? Because averages are easier and more reliable to work with than raw data, especially when data is messy. For example, if you want to predict a player's average goals per game, knowing this bell curve helps you understand the variability and uncertainty of your estimates in a predictable way.</a:t>
            </a:r>
          </a:p>
          <a:p>
            <a:r>
              <a:rPr lang="en-US" sz="1200" b="0" i="0" kern="1200" dirty="0">
                <a:solidFill>
                  <a:schemeClr val="tx1"/>
                </a:solidFill>
                <a:effectLst/>
                <a:latin typeface="+mn-lt"/>
                <a:ea typeface="+mn-ea"/>
                <a:cs typeface="+mn-cs"/>
              </a:rPr>
              <a:t>So, CLT lets you trust averages from samples to represent the whole population and use standard statistics for predictions and decisions.</a:t>
            </a:r>
          </a:p>
        </p:txBody>
      </p:sp>
      <p:sp>
        <p:nvSpPr>
          <p:cNvPr id="4" name="Slide Number Placeholder 3">
            <a:extLst>
              <a:ext uri="{FF2B5EF4-FFF2-40B4-BE49-F238E27FC236}">
                <a16:creationId xmlns:a16="http://schemas.microsoft.com/office/drawing/2014/main" id="{ECE9AE00-91BB-DA1F-25C2-CD7850142EE4}"/>
              </a:ext>
            </a:extLst>
          </p:cNvPr>
          <p:cNvSpPr>
            <a:spLocks noGrp="1"/>
          </p:cNvSpPr>
          <p:nvPr>
            <p:ph type="sldNum" sz="quarter" idx="5"/>
          </p:nvPr>
        </p:nvSpPr>
        <p:spPr/>
        <p:txBody>
          <a:bodyPr/>
          <a:lstStyle/>
          <a:p>
            <a:fld id="{2B2834C3-DD57-43F1-BA72-DB15EC44922D}" type="slidenum">
              <a:rPr lang="en-IN" smtClean="0"/>
              <a:t>8</a:t>
            </a:fld>
            <a:endParaRPr lang="en-IN"/>
          </a:p>
        </p:txBody>
      </p:sp>
    </p:spTree>
    <p:extLst>
      <p:ext uri="{BB962C8B-B14F-4D97-AF65-F5344CB8AC3E}">
        <p14:creationId xmlns:p14="http://schemas.microsoft.com/office/powerpoint/2010/main" val="1674056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81C75-C1A5-FBB8-94ED-00850417D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4B447-FAF8-B4FE-12AA-04D2E7655AA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A60FD2-5AB0-7D21-F2C8-1F0BBFAA0E4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775F7C-144E-1772-ABB7-35043E5B52F2}"/>
              </a:ext>
            </a:extLst>
          </p:cNvPr>
          <p:cNvSpPr>
            <a:spLocks noGrp="1"/>
          </p:cNvSpPr>
          <p:nvPr>
            <p:ph type="sldNum" sz="quarter" idx="5"/>
          </p:nvPr>
        </p:nvSpPr>
        <p:spPr/>
        <p:txBody>
          <a:bodyPr/>
          <a:lstStyle/>
          <a:p>
            <a:fld id="{2B2834C3-DD57-43F1-BA72-DB15EC44922D}" type="slidenum">
              <a:rPr lang="en-IN" smtClean="0"/>
              <a:t>9</a:t>
            </a:fld>
            <a:endParaRPr lang="en-IN"/>
          </a:p>
        </p:txBody>
      </p:sp>
    </p:spTree>
    <p:extLst>
      <p:ext uri="{BB962C8B-B14F-4D97-AF65-F5344CB8AC3E}">
        <p14:creationId xmlns:p14="http://schemas.microsoft.com/office/powerpoint/2010/main" val="948932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74AAC-B14F-084E-A3AA-D70A7D9B0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28859-C4A2-4704-14FE-EB80C841EAF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7508294-DB42-CB3B-EE36-BAB25BFBEC6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87066C-6DB4-0FC0-D9F1-271E57B44226}"/>
              </a:ext>
            </a:extLst>
          </p:cNvPr>
          <p:cNvSpPr>
            <a:spLocks noGrp="1"/>
          </p:cNvSpPr>
          <p:nvPr>
            <p:ph type="sldNum" sz="quarter" idx="5"/>
          </p:nvPr>
        </p:nvSpPr>
        <p:spPr/>
        <p:txBody>
          <a:bodyPr/>
          <a:lstStyle/>
          <a:p>
            <a:fld id="{2B2834C3-DD57-43F1-BA72-DB15EC44922D}" type="slidenum">
              <a:rPr lang="en-IN" smtClean="0"/>
              <a:t>10</a:t>
            </a:fld>
            <a:endParaRPr lang="en-IN"/>
          </a:p>
        </p:txBody>
      </p:sp>
    </p:spTree>
    <p:extLst>
      <p:ext uri="{BB962C8B-B14F-4D97-AF65-F5344CB8AC3E}">
        <p14:creationId xmlns:p14="http://schemas.microsoft.com/office/powerpoint/2010/main" val="3693684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8C27A-1D2E-F1E7-9ED3-181053E37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14E2B-6D10-DBDB-56EA-8EB0CA55DE0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A6D361F-334A-9765-C1BB-4D0A8EB3D84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31A0B1E-1574-7DAA-9918-8DC658D7F214}"/>
              </a:ext>
            </a:extLst>
          </p:cNvPr>
          <p:cNvSpPr>
            <a:spLocks noGrp="1"/>
          </p:cNvSpPr>
          <p:nvPr>
            <p:ph type="sldNum" sz="quarter" idx="5"/>
          </p:nvPr>
        </p:nvSpPr>
        <p:spPr/>
        <p:txBody>
          <a:bodyPr/>
          <a:lstStyle/>
          <a:p>
            <a:fld id="{2B2834C3-DD57-43F1-BA72-DB15EC44922D}" type="slidenum">
              <a:rPr lang="en-IN" smtClean="0"/>
              <a:t>11</a:t>
            </a:fld>
            <a:endParaRPr lang="en-IN"/>
          </a:p>
        </p:txBody>
      </p:sp>
    </p:spTree>
    <p:extLst>
      <p:ext uri="{BB962C8B-B14F-4D97-AF65-F5344CB8AC3E}">
        <p14:creationId xmlns:p14="http://schemas.microsoft.com/office/powerpoint/2010/main" val="3830774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6B255-749F-DB7E-66B2-B0EDF5382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41622-B34D-F361-AC3A-5F7DD5A257D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8F1E9D2-8738-3B92-45CD-B82ECCB3CB1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CAB6DD-D996-3056-93B9-0D95BE962F72}"/>
              </a:ext>
            </a:extLst>
          </p:cNvPr>
          <p:cNvSpPr>
            <a:spLocks noGrp="1"/>
          </p:cNvSpPr>
          <p:nvPr>
            <p:ph type="sldNum" sz="quarter" idx="5"/>
          </p:nvPr>
        </p:nvSpPr>
        <p:spPr/>
        <p:txBody>
          <a:bodyPr/>
          <a:lstStyle/>
          <a:p>
            <a:fld id="{2B2834C3-DD57-43F1-BA72-DB15EC44922D}" type="slidenum">
              <a:rPr lang="en-IN" smtClean="0"/>
              <a:t>12</a:t>
            </a:fld>
            <a:endParaRPr lang="en-IN"/>
          </a:p>
        </p:txBody>
      </p:sp>
    </p:spTree>
    <p:extLst>
      <p:ext uri="{BB962C8B-B14F-4D97-AF65-F5344CB8AC3E}">
        <p14:creationId xmlns:p14="http://schemas.microsoft.com/office/powerpoint/2010/main" val="155207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E67C-B366-4E28-BC54-2837BAA37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76FD7-8D95-A27A-4595-08C3F689455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593181C-4BCE-6127-CF6C-E1118EAF4C5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D2EFC26-C4C9-CA1D-0F4B-ACC9127B11F8}"/>
              </a:ext>
            </a:extLst>
          </p:cNvPr>
          <p:cNvSpPr>
            <a:spLocks noGrp="1"/>
          </p:cNvSpPr>
          <p:nvPr>
            <p:ph type="sldNum" sz="quarter" idx="5"/>
          </p:nvPr>
        </p:nvSpPr>
        <p:spPr/>
        <p:txBody>
          <a:bodyPr/>
          <a:lstStyle/>
          <a:p>
            <a:fld id="{2B2834C3-DD57-43F1-BA72-DB15EC44922D}" type="slidenum">
              <a:rPr lang="en-IN" smtClean="0"/>
              <a:t>13</a:t>
            </a:fld>
            <a:endParaRPr lang="en-IN"/>
          </a:p>
        </p:txBody>
      </p:sp>
    </p:spTree>
    <p:extLst>
      <p:ext uri="{BB962C8B-B14F-4D97-AF65-F5344CB8AC3E}">
        <p14:creationId xmlns:p14="http://schemas.microsoft.com/office/powerpoint/2010/main" val="1519845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875C1-1FAD-AD0A-C085-3BED500C0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FFBF5-D269-CB94-F9E3-F792CF24B49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FCAA6E0-7739-5F44-592D-CCB5648E30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C55437-C82D-4BE3-58C8-A1FAE5D29B5E}"/>
              </a:ext>
            </a:extLst>
          </p:cNvPr>
          <p:cNvSpPr>
            <a:spLocks noGrp="1"/>
          </p:cNvSpPr>
          <p:nvPr>
            <p:ph type="sldNum" sz="quarter" idx="5"/>
          </p:nvPr>
        </p:nvSpPr>
        <p:spPr/>
        <p:txBody>
          <a:bodyPr/>
          <a:lstStyle/>
          <a:p>
            <a:fld id="{2B2834C3-DD57-43F1-BA72-DB15EC44922D}" type="slidenum">
              <a:rPr lang="en-IN" smtClean="0"/>
              <a:t>14</a:t>
            </a:fld>
            <a:endParaRPr lang="en-IN"/>
          </a:p>
        </p:txBody>
      </p:sp>
    </p:spTree>
    <p:extLst>
      <p:ext uri="{BB962C8B-B14F-4D97-AF65-F5344CB8AC3E}">
        <p14:creationId xmlns:p14="http://schemas.microsoft.com/office/powerpoint/2010/main" val="890838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5699B-26EA-7CBC-955E-2723387FF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E638E-EC86-7C32-4C55-687061A6734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18311A0-6002-F99C-5791-39C4D9DBF0C2}"/>
              </a:ext>
            </a:extLst>
          </p:cNvPr>
          <p:cNvSpPr>
            <a:spLocks noGrp="1"/>
          </p:cNvSpPr>
          <p:nvPr>
            <p:ph type="body" idx="1"/>
          </p:nvPr>
        </p:nvSpPr>
        <p:spPr/>
        <p:txBody>
          <a:bodyPr/>
          <a:lstStyle/>
          <a:p>
            <a:r>
              <a:rPr lang="en-IN" sz="2400" b="1" dirty="0">
                <a:solidFill>
                  <a:srgbClr val="002060"/>
                </a:solidFill>
              </a:rPr>
              <a:t>Descriptive Analysis :</a:t>
            </a:r>
            <a:endParaRPr lang="en-IN" sz="1200" b="1" dirty="0">
              <a:solidFill>
                <a:srgbClr val="0033CC"/>
              </a:solidFill>
            </a:endParaRPr>
          </a:p>
          <a:p>
            <a:pPr marL="342900" indent="-342900">
              <a:buFont typeface="Arial" panose="020B0604020202020204" pitchFamily="34" charset="0"/>
              <a:buChar char="•"/>
            </a:pPr>
            <a:r>
              <a:rPr lang="en-US" sz="1200" b="1" dirty="0">
                <a:solidFill>
                  <a:srgbClr val="0033CC"/>
                </a:solidFill>
              </a:rPr>
              <a:t>Summarized the Data :</a:t>
            </a:r>
            <a:r>
              <a:rPr lang="en-US" sz="1200" b="1" dirty="0">
                <a:solidFill>
                  <a:schemeClr val="tx1"/>
                </a:solidFill>
              </a:rPr>
              <a:t> Found basic numbers like </a:t>
            </a:r>
            <a:r>
              <a:rPr lang="en-US" sz="1200" b="1" dirty="0">
                <a:solidFill>
                  <a:schemeClr val="tx1"/>
                </a:solidFill>
                <a:highlight>
                  <a:srgbClr val="FFFF00"/>
                </a:highlight>
              </a:rPr>
              <a:t>totals, averages, highest and lowest </a:t>
            </a:r>
            <a:r>
              <a:rPr lang="en-US" sz="1200" b="1" dirty="0">
                <a:solidFill>
                  <a:schemeClr val="tx1"/>
                </a:solidFill>
              </a:rPr>
              <a:t>values to quickly understand key points (like how many players, goals, clubs, market values, etc.).</a:t>
            </a:r>
            <a:endParaRPr lang="en-IN" sz="1200" b="1" dirty="0">
              <a:solidFill>
                <a:schemeClr val="tx1"/>
              </a:solidFill>
            </a:endParaRPr>
          </a:p>
          <a:p>
            <a:pPr marL="342900" indent="-342900">
              <a:buFont typeface="Arial" panose="020B0604020202020204" pitchFamily="34" charset="0"/>
              <a:buChar char="•"/>
            </a:pPr>
            <a:r>
              <a:rPr lang="en-US" sz="1200" b="1" dirty="0">
                <a:solidFill>
                  <a:srgbClr val="0033CC"/>
                </a:solidFill>
              </a:rPr>
              <a:t>Showed Everything in Charts :</a:t>
            </a:r>
            <a:r>
              <a:rPr lang="en-US" sz="1200" b="1" dirty="0">
                <a:solidFill>
                  <a:schemeClr val="tx1"/>
                </a:solidFill>
              </a:rPr>
              <a:t> Created clear visuals - like </a:t>
            </a:r>
            <a:r>
              <a:rPr lang="en-US" sz="1200" b="1" dirty="0">
                <a:solidFill>
                  <a:schemeClr val="tx1"/>
                </a:solidFill>
                <a:highlight>
                  <a:srgbClr val="00FF00"/>
                </a:highlight>
              </a:rPr>
              <a:t>bar charts, pie charts, and line graphs </a:t>
            </a:r>
            <a:r>
              <a:rPr lang="en-US" sz="1200" b="1" dirty="0">
                <a:solidFill>
                  <a:schemeClr val="tx1"/>
                </a:solidFill>
              </a:rPr>
              <a:t>- so patterns and differences are easy to spot for everyone.</a:t>
            </a:r>
            <a:endParaRPr lang="en-IN" sz="1200" b="1" dirty="0">
              <a:solidFill>
                <a:schemeClr val="tx1"/>
              </a:solidFill>
            </a:endParaRPr>
          </a:p>
          <a:p>
            <a:pPr marL="342900" indent="-342900">
              <a:buFont typeface="Arial" panose="020B0604020202020204" pitchFamily="34" charset="0"/>
              <a:buChar char="•"/>
            </a:pPr>
            <a:r>
              <a:rPr lang="en-US" sz="1200" b="1" dirty="0">
                <a:solidFill>
                  <a:srgbClr val="0033CC"/>
                </a:solidFill>
              </a:rPr>
              <a:t>Looked for Patterns :</a:t>
            </a:r>
            <a:r>
              <a:rPr lang="en-US" sz="1200" b="1" dirty="0">
                <a:solidFill>
                  <a:schemeClr val="tx1"/>
                </a:solidFill>
              </a:rPr>
              <a:t> Checked which players or clubs do best and when, spotted any </a:t>
            </a:r>
            <a:r>
              <a:rPr lang="en-US" sz="1200" b="1" dirty="0">
                <a:solidFill>
                  <a:schemeClr val="tx1"/>
                </a:solidFill>
                <a:highlight>
                  <a:srgbClr val="FFFF00"/>
                </a:highlight>
              </a:rPr>
              <a:t>unusual trends</a:t>
            </a:r>
            <a:r>
              <a:rPr lang="en-US" sz="1200" b="1" dirty="0">
                <a:solidFill>
                  <a:schemeClr val="tx1"/>
                </a:solidFill>
              </a:rPr>
              <a:t> or standout seasons, and saw where there are </a:t>
            </a:r>
            <a:r>
              <a:rPr lang="en-US" sz="1200" b="1" dirty="0">
                <a:solidFill>
                  <a:schemeClr val="tx1"/>
                </a:solidFill>
                <a:highlight>
                  <a:srgbClr val="FFFF00"/>
                </a:highlight>
              </a:rPr>
              <a:t>sudden spikes or drops.</a:t>
            </a:r>
            <a:endParaRPr lang="en-IN" sz="1200" b="1" dirty="0">
              <a:solidFill>
                <a:schemeClr val="tx1"/>
              </a:solidFill>
              <a:highlight>
                <a:srgbClr val="FFFF00"/>
              </a:highlight>
            </a:endParaRPr>
          </a:p>
          <a:p>
            <a:pPr marL="342900" indent="-342900">
              <a:buFont typeface="Arial" panose="020B0604020202020204" pitchFamily="34" charset="0"/>
              <a:buChar char="•"/>
            </a:pPr>
            <a:r>
              <a:rPr lang="en-US" sz="1200" b="1" dirty="0">
                <a:solidFill>
                  <a:srgbClr val="0033CC"/>
                </a:solidFill>
              </a:rPr>
              <a:t>Made it Useful for Decisions :</a:t>
            </a:r>
            <a:r>
              <a:rPr lang="en-US" sz="1200" b="1" dirty="0">
                <a:solidFill>
                  <a:schemeClr val="tx1"/>
                </a:solidFill>
              </a:rPr>
              <a:t> These summaries and charts help coaches, managers, or fans make smarter choices—for example, </a:t>
            </a:r>
            <a:r>
              <a:rPr lang="en-US" sz="1200" b="1" dirty="0">
                <a:solidFill>
                  <a:schemeClr val="tx1"/>
                </a:solidFill>
                <a:highlight>
                  <a:srgbClr val="00FF00"/>
                </a:highlight>
              </a:rPr>
              <a:t>focusing on successful players, strong clubs, or areas needing improvement.</a:t>
            </a:r>
          </a:p>
          <a:p>
            <a:pPr marL="342900" indent="-342900">
              <a:buFont typeface="Arial" panose="020B0604020202020204" pitchFamily="34" charset="0"/>
              <a:buChar char="•"/>
            </a:pPr>
            <a:r>
              <a:rPr lang="en-US" sz="1200" b="1" dirty="0">
                <a:solidFill>
                  <a:srgbClr val="0033CC"/>
                </a:solidFill>
              </a:rPr>
              <a:t>Compared Different Groups:</a:t>
            </a:r>
            <a:r>
              <a:rPr lang="en-US" sz="1200" b="1" dirty="0">
                <a:solidFill>
                  <a:schemeClr val="tx1"/>
                </a:solidFill>
              </a:rPr>
              <a:t> Broke down the data by categories (like </a:t>
            </a:r>
            <a:r>
              <a:rPr lang="en-US" sz="1200" b="1" dirty="0">
                <a:solidFill>
                  <a:schemeClr val="tx1"/>
                </a:solidFill>
                <a:highlight>
                  <a:srgbClr val="FFFF00"/>
                </a:highlight>
              </a:rPr>
              <a:t>player position, club, season, or competition</a:t>
            </a:r>
            <a:r>
              <a:rPr lang="en-US" sz="1200" b="1" dirty="0">
                <a:solidFill>
                  <a:schemeClr val="tx1"/>
                </a:solidFill>
              </a:rPr>
              <a:t>) to see how different groups perform and discover what makes some better than others.</a:t>
            </a:r>
            <a:endParaRPr lang="en-IN" sz="1200" b="1" dirty="0">
              <a:solidFill>
                <a:schemeClr val="tx1"/>
              </a:solidFill>
            </a:endParaRPr>
          </a:p>
          <a:p>
            <a:endParaRPr lang="en-IN" dirty="0"/>
          </a:p>
          <a:p>
            <a:r>
              <a:rPr lang="en-US" sz="2400" b="1" dirty="0">
                <a:solidFill>
                  <a:srgbClr val="0033CC"/>
                </a:solidFill>
              </a:rPr>
              <a:t>Conclusion : </a:t>
            </a:r>
          </a:p>
          <a:p>
            <a:endParaRPr lang="en-US" sz="1200" b="1" dirty="0">
              <a:solidFill>
                <a:schemeClr val="tx1"/>
              </a:solidFill>
            </a:endParaRPr>
          </a:p>
          <a:p>
            <a:r>
              <a:rPr lang="en-US" sz="1200" b="1" dirty="0">
                <a:solidFill>
                  <a:schemeClr val="tx1"/>
                </a:solidFill>
              </a:rPr>
              <a:t>Descriptive analysis is the first and most important step for finding value in data, as it helps everyone see what is really happening.</a:t>
            </a:r>
            <a:endParaRPr lang="en-IN" sz="1200" b="1" dirty="0">
              <a:solidFill>
                <a:schemeClr val="tx1"/>
              </a:solidFill>
            </a:endParaRPr>
          </a:p>
        </p:txBody>
      </p:sp>
      <p:sp>
        <p:nvSpPr>
          <p:cNvPr id="4" name="Slide Number Placeholder 3">
            <a:extLst>
              <a:ext uri="{FF2B5EF4-FFF2-40B4-BE49-F238E27FC236}">
                <a16:creationId xmlns:a16="http://schemas.microsoft.com/office/drawing/2014/main" id="{64CB0525-5C73-6B22-26AB-24423BF70B19}"/>
              </a:ext>
            </a:extLst>
          </p:cNvPr>
          <p:cNvSpPr>
            <a:spLocks noGrp="1"/>
          </p:cNvSpPr>
          <p:nvPr>
            <p:ph type="sldNum" sz="quarter" idx="5"/>
          </p:nvPr>
        </p:nvSpPr>
        <p:spPr/>
        <p:txBody>
          <a:bodyPr/>
          <a:lstStyle/>
          <a:p>
            <a:fld id="{2B2834C3-DD57-43F1-BA72-DB15EC44922D}" type="slidenum">
              <a:rPr lang="en-IN" smtClean="0"/>
              <a:t>15</a:t>
            </a:fld>
            <a:endParaRPr lang="en-IN"/>
          </a:p>
        </p:txBody>
      </p:sp>
    </p:spTree>
    <p:extLst>
      <p:ext uri="{BB962C8B-B14F-4D97-AF65-F5344CB8AC3E}">
        <p14:creationId xmlns:p14="http://schemas.microsoft.com/office/powerpoint/2010/main" val="3416560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D1EDF-2CDF-2BB1-2274-5A9349321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7C897-B8C0-19EB-785E-700365F7577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65A67B9-07ED-8917-3EFA-7485DBC05B7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1F337C-CC7F-892F-6033-C53F24ABF31E}"/>
              </a:ext>
            </a:extLst>
          </p:cNvPr>
          <p:cNvSpPr>
            <a:spLocks noGrp="1"/>
          </p:cNvSpPr>
          <p:nvPr>
            <p:ph type="sldNum" sz="quarter" idx="5"/>
          </p:nvPr>
        </p:nvSpPr>
        <p:spPr/>
        <p:txBody>
          <a:bodyPr/>
          <a:lstStyle/>
          <a:p>
            <a:fld id="{2B2834C3-DD57-43F1-BA72-DB15EC44922D}" type="slidenum">
              <a:rPr lang="en-IN" smtClean="0"/>
              <a:t>16</a:t>
            </a:fld>
            <a:endParaRPr lang="en-IN"/>
          </a:p>
        </p:txBody>
      </p:sp>
    </p:spTree>
    <p:extLst>
      <p:ext uri="{BB962C8B-B14F-4D97-AF65-F5344CB8AC3E}">
        <p14:creationId xmlns:p14="http://schemas.microsoft.com/office/powerpoint/2010/main" val="3080591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AFB04-89C0-CCC9-E325-16F420F76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B61C0-5758-200B-550B-2EE7A379B48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105A49D-7B1C-3C40-9D84-EDA939F4D8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009D8B3-4C47-8C1D-9AF4-0196F4AE3697}"/>
              </a:ext>
            </a:extLst>
          </p:cNvPr>
          <p:cNvSpPr>
            <a:spLocks noGrp="1"/>
          </p:cNvSpPr>
          <p:nvPr>
            <p:ph type="sldNum" sz="quarter" idx="5"/>
          </p:nvPr>
        </p:nvSpPr>
        <p:spPr/>
        <p:txBody>
          <a:bodyPr/>
          <a:lstStyle/>
          <a:p>
            <a:fld id="{2B2834C3-DD57-43F1-BA72-DB15EC44922D}" type="slidenum">
              <a:rPr lang="en-IN" smtClean="0"/>
              <a:t>17</a:t>
            </a:fld>
            <a:endParaRPr lang="en-IN"/>
          </a:p>
        </p:txBody>
      </p:sp>
    </p:spTree>
    <p:extLst>
      <p:ext uri="{BB962C8B-B14F-4D97-AF65-F5344CB8AC3E}">
        <p14:creationId xmlns:p14="http://schemas.microsoft.com/office/powerpoint/2010/main" val="3669732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A425E-8F92-2B47-9613-6B988D523F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D1F8E-1994-0399-9FFD-EF5CBB8F6E5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8C2BEBB-BC04-A851-5EBC-1D671E6A568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What does "cluster" mean in K-means clustering?</a:t>
            </a:r>
          </a:p>
          <a:p>
            <a:r>
              <a:rPr lang="en-US" sz="1200" b="0" i="0" kern="1200" dirty="0">
                <a:solidFill>
                  <a:schemeClr val="tx1"/>
                </a:solidFill>
                <a:effectLst/>
                <a:latin typeface="+mn-lt"/>
                <a:ea typeface="+mn-ea"/>
                <a:cs typeface="+mn-cs"/>
              </a:rPr>
              <a:t>A "cluster" is just a group of similar things—here, it means grouping players who have similar statistics and physical attributes (like age, height, goals, etc.). You don’t need to decide the groups ahead of time. The computer finds natural groupings based on the data, so players in the same cluster are more alike to each other than to those in other clusters.​</a:t>
            </a:r>
          </a:p>
          <a:p>
            <a:r>
              <a:rPr lang="en-US" sz="1200" b="0" i="0" kern="1200" dirty="0">
                <a:solidFill>
                  <a:schemeClr val="tx1"/>
                </a:solidFill>
                <a:effectLst/>
                <a:latin typeface="+mn-lt"/>
                <a:ea typeface="+mn-ea"/>
                <a:cs typeface="+mn-cs"/>
              </a:rPr>
              <a:t>What does the y-axis show?</a:t>
            </a:r>
          </a:p>
          <a:p>
            <a:r>
              <a:rPr lang="en-US" sz="1200" b="0" i="0" kern="1200" dirty="0">
                <a:solidFill>
                  <a:schemeClr val="tx1"/>
                </a:solidFill>
                <a:effectLst/>
                <a:latin typeface="+mn-lt"/>
                <a:ea typeface="+mn-ea"/>
                <a:cs typeface="+mn-cs"/>
              </a:rPr>
              <a:t>The y-axis in the elbow curve shows the "Within-Cluster Sum of Squares" (WCSS). This is a measure of how close the players in each group are to the center of their group. A lower value means the points (players) in a group are closer together and more similar.​</a:t>
            </a:r>
          </a:p>
          <a:p>
            <a:r>
              <a:rPr lang="en-US" sz="1200" b="0" i="0" kern="1200" dirty="0">
                <a:solidFill>
                  <a:schemeClr val="tx1"/>
                </a:solidFill>
                <a:effectLst/>
                <a:latin typeface="+mn-lt"/>
                <a:ea typeface="+mn-ea"/>
                <a:cs typeface="+mn-cs"/>
              </a:rPr>
              <a:t>Why do we choose 4 clusters?</a:t>
            </a:r>
          </a:p>
          <a:p>
            <a:r>
              <a:rPr lang="en-US" sz="1200" b="0" i="0" kern="1200" dirty="0">
                <a:solidFill>
                  <a:schemeClr val="tx1"/>
                </a:solidFill>
                <a:effectLst/>
                <a:latin typeface="+mn-lt"/>
                <a:ea typeface="+mn-ea"/>
                <a:cs typeface="+mn-cs"/>
              </a:rPr>
              <a:t>When you look at the elbow curve, you see the WCSS drops fast as you add clusters—but after 4, the improvement slows down. That "elbow" at 4 means you’ve picked a number of groups that keeps the clusters meaningful and clear, without making things too complicated. The computer is saying 4 types of player profiles is the best balance for your data.​​</a:t>
            </a:r>
          </a:p>
          <a:p>
            <a:r>
              <a:rPr lang="en-US" sz="1200" b="0" i="0" kern="1200" dirty="0">
                <a:solidFill>
                  <a:schemeClr val="tx1"/>
                </a:solidFill>
                <a:effectLst/>
                <a:latin typeface="+mn-lt"/>
                <a:ea typeface="+mn-ea"/>
                <a:cs typeface="+mn-cs"/>
              </a:rPr>
              <a:t>Why use K-means clustering for player demographics?</a:t>
            </a:r>
          </a:p>
          <a:p>
            <a:r>
              <a:rPr lang="en-US" sz="1200" b="0" i="0" kern="1200" dirty="0">
                <a:solidFill>
                  <a:schemeClr val="tx1"/>
                </a:solidFill>
                <a:effectLst/>
                <a:latin typeface="+mn-lt"/>
                <a:ea typeface="+mn-ea"/>
                <a:cs typeface="+mn-cs"/>
              </a:rPr>
              <a:t>K-means lets you automatically sort players into groups based on similarities in their data. This helps coaches, analysts, or recruiters quickly see what kinds of players there are, build strategies, compare groups, or make fair decisions. It's a tool to help make sense of a lot of information by showing natural categories within your team or league.</a:t>
            </a:r>
          </a:p>
          <a:p>
            <a:endParaRPr lang="en-IN" dirty="0"/>
          </a:p>
        </p:txBody>
      </p:sp>
      <p:sp>
        <p:nvSpPr>
          <p:cNvPr id="4" name="Slide Number Placeholder 3">
            <a:extLst>
              <a:ext uri="{FF2B5EF4-FFF2-40B4-BE49-F238E27FC236}">
                <a16:creationId xmlns:a16="http://schemas.microsoft.com/office/drawing/2014/main" id="{4335405C-FA89-1C34-3290-BF69394DE58C}"/>
              </a:ext>
            </a:extLst>
          </p:cNvPr>
          <p:cNvSpPr>
            <a:spLocks noGrp="1"/>
          </p:cNvSpPr>
          <p:nvPr>
            <p:ph type="sldNum" sz="quarter" idx="5"/>
          </p:nvPr>
        </p:nvSpPr>
        <p:spPr/>
        <p:txBody>
          <a:bodyPr/>
          <a:lstStyle/>
          <a:p>
            <a:fld id="{2B2834C3-DD57-43F1-BA72-DB15EC44922D}" type="slidenum">
              <a:rPr lang="en-IN" smtClean="0"/>
              <a:t>18</a:t>
            </a:fld>
            <a:endParaRPr lang="en-IN"/>
          </a:p>
        </p:txBody>
      </p:sp>
    </p:spTree>
    <p:extLst>
      <p:ext uri="{BB962C8B-B14F-4D97-AF65-F5344CB8AC3E}">
        <p14:creationId xmlns:p14="http://schemas.microsoft.com/office/powerpoint/2010/main" val="12713652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F8608-42B5-9858-CC59-CD53D7A47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5D766-BC10-EDEB-AE81-FD5770E7C71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F9C8640-08C2-5D53-C225-31A4295AB1C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2B2845-BAF7-BE11-AB4D-29E6328BC62E}"/>
              </a:ext>
            </a:extLst>
          </p:cNvPr>
          <p:cNvSpPr>
            <a:spLocks noGrp="1"/>
          </p:cNvSpPr>
          <p:nvPr>
            <p:ph type="sldNum" sz="quarter" idx="5"/>
          </p:nvPr>
        </p:nvSpPr>
        <p:spPr/>
        <p:txBody>
          <a:bodyPr/>
          <a:lstStyle/>
          <a:p>
            <a:fld id="{2B2834C3-DD57-43F1-BA72-DB15EC44922D}" type="slidenum">
              <a:rPr lang="en-IN" smtClean="0"/>
              <a:t>19</a:t>
            </a:fld>
            <a:endParaRPr lang="en-IN"/>
          </a:p>
        </p:txBody>
      </p:sp>
    </p:spTree>
    <p:extLst>
      <p:ext uri="{BB962C8B-B14F-4D97-AF65-F5344CB8AC3E}">
        <p14:creationId xmlns:p14="http://schemas.microsoft.com/office/powerpoint/2010/main" val="688487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9911D-8088-DF4F-4E26-37F2B27D2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593BC-2FEF-A4D5-2775-40DE44F7921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F6ED7C4-60A3-7E2F-3D9C-F6B320E167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AB3035-999E-D406-EDFC-4650150E5A43}"/>
              </a:ext>
            </a:extLst>
          </p:cNvPr>
          <p:cNvSpPr>
            <a:spLocks noGrp="1"/>
          </p:cNvSpPr>
          <p:nvPr>
            <p:ph type="sldNum" sz="quarter" idx="5"/>
          </p:nvPr>
        </p:nvSpPr>
        <p:spPr/>
        <p:txBody>
          <a:bodyPr/>
          <a:lstStyle/>
          <a:p>
            <a:fld id="{2B2834C3-DD57-43F1-BA72-DB15EC44922D}" type="slidenum">
              <a:rPr lang="en-IN" smtClean="0"/>
              <a:t>20</a:t>
            </a:fld>
            <a:endParaRPr lang="en-IN"/>
          </a:p>
        </p:txBody>
      </p:sp>
    </p:spTree>
    <p:extLst>
      <p:ext uri="{BB962C8B-B14F-4D97-AF65-F5344CB8AC3E}">
        <p14:creationId xmlns:p14="http://schemas.microsoft.com/office/powerpoint/2010/main" val="2142561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8AE51-7494-6AEF-EDDA-BF9BC1461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2C986-64F2-0502-52EC-1334B424339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A0EBF29-1EE8-72BA-6CD8-00ABDECB738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31ADCF-BF2E-7422-04D6-78F2E46F8C34}"/>
              </a:ext>
            </a:extLst>
          </p:cNvPr>
          <p:cNvSpPr>
            <a:spLocks noGrp="1"/>
          </p:cNvSpPr>
          <p:nvPr>
            <p:ph type="sldNum" sz="quarter" idx="5"/>
          </p:nvPr>
        </p:nvSpPr>
        <p:spPr/>
        <p:txBody>
          <a:bodyPr/>
          <a:lstStyle/>
          <a:p>
            <a:fld id="{2B2834C3-DD57-43F1-BA72-DB15EC44922D}" type="slidenum">
              <a:rPr lang="en-IN" smtClean="0"/>
              <a:t>21</a:t>
            </a:fld>
            <a:endParaRPr lang="en-IN"/>
          </a:p>
        </p:txBody>
      </p:sp>
    </p:spTree>
    <p:extLst>
      <p:ext uri="{BB962C8B-B14F-4D97-AF65-F5344CB8AC3E}">
        <p14:creationId xmlns:p14="http://schemas.microsoft.com/office/powerpoint/2010/main" val="3543644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DD763-8BD8-8319-D255-751DC9DF9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2514C-A141-EE98-A7EA-BE373177E21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A8AB2A4-1D58-6947-CCE0-3E3C365951E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Recommendations/Action Steps: Add a slide suggesting 2-3 next actions for coaches/managers based on your findings (for example, how to use clusters for scouting, how to respond to strict refereeing,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Data Limitations: Briefly mention any data gaps (e.g., missing seasons, injuries, player transfers) or assumptions, to show critical thinking.</a:t>
            </a:r>
          </a:p>
          <a:p>
            <a:r>
              <a:rPr lang="en-US" sz="1200" b="0" i="0" kern="1200" dirty="0">
                <a:solidFill>
                  <a:schemeClr val="tx1"/>
                </a:solidFill>
                <a:effectLst/>
                <a:latin typeface="+mn-lt"/>
                <a:ea typeface="+mn-ea"/>
                <a:cs typeface="+mn-cs"/>
              </a:rPr>
              <a:t>Visualization Variety: Add at least one interactive or more dynamic visualization (e.g., heatmap, animation, or a Tableau dashboard GIF/screenshot) for extra engagement and to demonstrate your BI/dashboard skills.</a:t>
            </a:r>
          </a:p>
          <a:p>
            <a:r>
              <a:rPr lang="en-US" sz="1200" b="0" i="0" kern="1200" dirty="0">
                <a:solidFill>
                  <a:schemeClr val="tx1"/>
                </a:solidFill>
                <a:effectLst/>
                <a:latin typeface="+mn-lt"/>
                <a:ea typeface="+mn-ea"/>
                <a:cs typeface="+mn-cs"/>
              </a:rPr>
              <a:t>Model Explainability: For regression or clusters, a small “feature importance” graphic or simple table could explain why certain attributes matter most.</a:t>
            </a:r>
          </a:p>
          <a:p>
            <a:r>
              <a:rPr lang="en-US" sz="1200" b="0" i="0" kern="1200">
                <a:solidFill>
                  <a:schemeClr val="tx1"/>
                </a:solidFill>
                <a:effectLst/>
                <a:latin typeface="+mn-lt"/>
                <a:ea typeface="+mn-ea"/>
                <a:cs typeface="+mn-cs"/>
              </a:rPr>
              <a:t>Future Work: One bullet on expanding to more leagues, adding injury/time series analysis, or deploying dashboards for club use.</a:t>
            </a:r>
          </a:p>
        </p:txBody>
      </p:sp>
      <p:sp>
        <p:nvSpPr>
          <p:cNvPr id="4" name="Slide Number Placeholder 3">
            <a:extLst>
              <a:ext uri="{FF2B5EF4-FFF2-40B4-BE49-F238E27FC236}">
                <a16:creationId xmlns:a16="http://schemas.microsoft.com/office/drawing/2014/main" id="{3D2C7A5D-1897-D924-2E9E-06A4561107DD}"/>
              </a:ext>
            </a:extLst>
          </p:cNvPr>
          <p:cNvSpPr>
            <a:spLocks noGrp="1"/>
          </p:cNvSpPr>
          <p:nvPr>
            <p:ph type="sldNum" sz="quarter" idx="5"/>
          </p:nvPr>
        </p:nvSpPr>
        <p:spPr/>
        <p:txBody>
          <a:bodyPr/>
          <a:lstStyle/>
          <a:p>
            <a:fld id="{2B2834C3-DD57-43F1-BA72-DB15EC44922D}" type="slidenum">
              <a:rPr lang="en-IN" smtClean="0"/>
              <a:t>22</a:t>
            </a:fld>
            <a:endParaRPr lang="en-IN"/>
          </a:p>
        </p:txBody>
      </p:sp>
    </p:spTree>
    <p:extLst>
      <p:ext uri="{BB962C8B-B14F-4D97-AF65-F5344CB8AC3E}">
        <p14:creationId xmlns:p14="http://schemas.microsoft.com/office/powerpoint/2010/main" val="3779165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5F480-FF12-9366-4880-19B729AF0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B4223-0CCC-F73A-D8D8-834AF8D20C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4E8D54C-3EFA-463C-B9E7-873A796B4EB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Recommendations/Action Steps: Add a slide suggesting 2-3 next actions for coaches/managers based on your findings (for example, how to use clusters for scouting, how to respond to strict refereeing,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Data Limitations: Briefly mention any data gaps (e.g., missing seasons, injuries, player transfers) or assumptions, to show critical thinking.</a:t>
            </a:r>
          </a:p>
          <a:p>
            <a:r>
              <a:rPr lang="en-US" sz="1200" b="0" i="0" kern="1200" dirty="0">
                <a:solidFill>
                  <a:schemeClr val="tx1"/>
                </a:solidFill>
                <a:effectLst/>
                <a:latin typeface="+mn-lt"/>
                <a:ea typeface="+mn-ea"/>
                <a:cs typeface="+mn-cs"/>
              </a:rPr>
              <a:t>Visualization Variety: Add at least one interactive or more dynamic visualization (e.g., heatmap, animation, or a Tableau dashboard GIF/screenshot) for extra engagement and to demonstrate your BI/dashboard skills.</a:t>
            </a:r>
          </a:p>
          <a:p>
            <a:r>
              <a:rPr lang="en-US" sz="1200" b="0" i="0" kern="1200" dirty="0">
                <a:solidFill>
                  <a:schemeClr val="tx1"/>
                </a:solidFill>
                <a:effectLst/>
                <a:latin typeface="+mn-lt"/>
                <a:ea typeface="+mn-ea"/>
                <a:cs typeface="+mn-cs"/>
              </a:rPr>
              <a:t>Model Explainability: For regression or clusters, a small “feature importance” graphic or simple table could explain why certain attributes matter most.</a:t>
            </a:r>
          </a:p>
          <a:p>
            <a:r>
              <a:rPr lang="en-US" sz="1200" b="0" i="0" kern="1200">
                <a:solidFill>
                  <a:schemeClr val="tx1"/>
                </a:solidFill>
                <a:effectLst/>
                <a:latin typeface="+mn-lt"/>
                <a:ea typeface="+mn-ea"/>
                <a:cs typeface="+mn-cs"/>
              </a:rPr>
              <a:t>Future Work: One bullet on expanding to more leagues, adding injury/time series analysis, or deploying dashboards for club use.</a:t>
            </a:r>
          </a:p>
        </p:txBody>
      </p:sp>
      <p:sp>
        <p:nvSpPr>
          <p:cNvPr id="4" name="Slide Number Placeholder 3">
            <a:extLst>
              <a:ext uri="{FF2B5EF4-FFF2-40B4-BE49-F238E27FC236}">
                <a16:creationId xmlns:a16="http://schemas.microsoft.com/office/drawing/2014/main" id="{B65A1C15-3954-5558-9833-282BBB08AB6E}"/>
              </a:ext>
            </a:extLst>
          </p:cNvPr>
          <p:cNvSpPr>
            <a:spLocks noGrp="1"/>
          </p:cNvSpPr>
          <p:nvPr>
            <p:ph type="sldNum" sz="quarter" idx="5"/>
          </p:nvPr>
        </p:nvSpPr>
        <p:spPr/>
        <p:txBody>
          <a:bodyPr/>
          <a:lstStyle/>
          <a:p>
            <a:fld id="{2B2834C3-DD57-43F1-BA72-DB15EC44922D}" type="slidenum">
              <a:rPr lang="en-IN" smtClean="0"/>
              <a:t>23</a:t>
            </a:fld>
            <a:endParaRPr lang="en-IN"/>
          </a:p>
        </p:txBody>
      </p:sp>
    </p:spTree>
    <p:extLst>
      <p:ext uri="{BB962C8B-B14F-4D97-AF65-F5344CB8AC3E}">
        <p14:creationId xmlns:p14="http://schemas.microsoft.com/office/powerpoint/2010/main" val="3000358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8073-5327-39E5-DEC3-F59663D375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D0D206D-CBB1-9BCE-92E4-56063ADE50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2E3A064-85C5-0B63-B6CD-BC42A709C5E7}"/>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5" name="Footer Placeholder 4">
            <a:extLst>
              <a:ext uri="{FF2B5EF4-FFF2-40B4-BE49-F238E27FC236}">
                <a16:creationId xmlns:a16="http://schemas.microsoft.com/office/drawing/2014/main" id="{B1FB5EB9-77D2-6E3E-D8E3-FE10656BF2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1FA77F-333F-438B-8868-F7079AA35DC7}"/>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54494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96EEA-4DE9-0F2C-FBDA-5AA5A29593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C9019D-C846-9A13-41C6-C659A7D341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08B805-B289-336C-1FFA-BC5946DBB2E3}"/>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5" name="Footer Placeholder 4">
            <a:extLst>
              <a:ext uri="{FF2B5EF4-FFF2-40B4-BE49-F238E27FC236}">
                <a16:creationId xmlns:a16="http://schemas.microsoft.com/office/drawing/2014/main" id="{FEF35C46-9D9D-592D-CD38-98B507B973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A45C0E-26C3-2B8D-5B65-64EAABD81AA7}"/>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966924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78458-7AE8-920E-757E-EA6149EE53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019281-763A-22E5-16BB-C6CEEB7805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500366-18F4-7BD2-6873-4A6D597EDF35}"/>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5" name="Footer Placeholder 4">
            <a:extLst>
              <a:ext uri="{FF2B5EF4-FFF2-40B4-BE49-F238E27FC236}">
                <a16:creationId xmlns:a16="http://schemas.microsoft.com/office/drawing/2014/main" id="{E58012E1-EAB0-7992-2AAC-3641B91C1B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BB2741-D50E-1EED-AA68-5634676A0B10}"/>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3303026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69AF5-7837-5206-6954-E47FD2EFBD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07FE2A-512A-C4B2-F217-0832928E64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74056A-2E6D-ABBF-9F37-278B2A7ECE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584ACD-0A8A-6BC3-F2B5-2516C1E2A8FF}"/>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6" name="Footer Placeholder 5">
            <a:extLst>
              <a:ext uri="{FF2B5EF4-FFF2-40B4-BE49-F238E27FC236}">
                <a16:creationId xmlns:a16="http://schemas.microsoft.com/office/drawing/2014/main" id="{095C4E81-8443-3C78-0904-7FC9FAC375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7DE6A1-E8F2-E64B-B209-9FF902731BDC}"/>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1616398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9E237-E30D-0ECD-09EA-64A6ABED41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167555-B3F6-D0EA-AC55-49B96AA66A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C88109-A9F5-F7AA-BAF9-936E116E30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FEB6272-C012-6D4E-BA56-BD527464E9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2A94DE-62D1-2DDD-4540-F5E9DDA9AB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2CD961-451F-8150-BA9A-65004D9DFC68}"/>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8" name="Footer Placeholder 7">
            <a:extLst>
              <a:ext uri="{FF2B5EF4-FFF2-40B4-BE49-F238E27FC236}">
                <a16:creationId xmlns:a16="http://schemas.microsoft.com/office/drawing/2014/main" id="{E65B6721-1F17-D8AE-535E-54BCAC82B3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B508DC-7740-5412-7677-1FCCF9B59419}"/>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773340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1B417-BD09-5E93-1722-FC3F61E7354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CDBA88-4FEE-1F0B-D887-FB6AA772793D}"/>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4" name="Footer Placeholder 3">
            <a:extLst>
              <a:ext uri="{FF2B5EF4-FFF2-40B4-BE49-F238E27FC236}">
                <a16:creationId xmlns:a16="http://schemas.microsoft.com/office/drawing/2014/main" id="{CC6BFC56-A37C-34B5-6452-C784F2E9A3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0EBABF-C095-E88F-B892-9302F8CA6AEE}"/>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3726974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58A8B8-50EC-F0C2-257E-B4B69E9D3BF6}"/>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3" name="Footer Placeholder 2">
            <a:extLst>
              <a:ext uri="{FF2B5EF4-FFF2-40B4-BE49-F238E27FC236}">
                <a16:creationId xmlns:a16="http://schemas.microsoft.com/office/drawing/2014/main" id="{E023DB9B-A1FC-A439-DC5D-16DDF6F0B5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37D5288-057A-1922-ACDF-490608B2DCDA}"/>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2395807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0FBC-2F5C-3886-AB53-32C575B771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89C320B-6D81-280A-2FB1-3D6AA5A492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9E82B8C-A92E-E433-82A7-23EEDD51C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DD0647-7783-29E9-CBBC-778E330A374B}"/>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6" name="Footer Placeholder 5">
            <a:extLst>
              <a:ext uri="{FF2B5EF4-FFF2-40B4-BE49-F238E27FC236}">
                <a16:creationId xmlns:a16="http://schemas.microsoft.com/office/drawing/2014/main" id="{19E1C1D0-96F1-6FE2-77FD-283C9C792B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181720-B4CD-6B1C-B730-FB8632FA22F3}"/>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1353825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65E90-A64A-2F03-07C8-DA68CC412F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D5AB73-8D79-654C-85C1-331E2FCEE9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92256E6-2322-AD6C-662C-C9CC58E5CD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C31B34-2F5D-F44F-B698-E2FCD2440107}"/>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6" name="Footer Placeholder 5">
            <a:extLst>
              <a:ext uri="{FF2B5EF4-FFF2-40B4-BE49-F238E27FC236}">
                <a16:creationId xmlns:a16="http://schemas.microsoft.com/office/drawing/2014/main" id="{ECC3BCC6-BBEC-FD51-BE72-59F2855931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04F8A7-5870-ED87-66DD-EBCF091AD430}"/>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3836983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7C16-A9B7-02C8-CE98-A1708159B3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C82946-C6F2-82A8-CBF0-23E1348045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C68AB0-2A65-C303-ED01-86E94E320D6B}"/>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5" name="Footer Placeholder 4">
            <a:extLst>
              <a:ext uri="{FF2B5EF4-FFF2-40B4-BE49-F238E27FC236}">
                <a16:creationId xmlns:a16="http://schemas.microsoft.com/office/drawing/2014/main" id="{AF6EE05D-8BA3-03A9-D805-E489FB6943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4C9576-653B-0F03-0838-B1D2A9E8B741}"/>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4106451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248173-41D8-55A7-4447-F9CB7E9E3A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8F2C82-571C-50B5-36A7-43207D0E40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3A6413-5EE1-26B3-0722-8313B248C3E5}"/>
              </a:ext>
            </a:extLst>
          </p:cNvPr>
          <p:cNvSpPr>
            <a:spLocks noGrp="1"/>
          </p:cNvSpPr>
          <p:nvPr>
            <p:ph type="dt" sz="half" idx="10"/>
          </p:nvPr>
        </p:nvSpPr>
        <p:spPr/>
        <p:txBody>
          <a:bodyPr/>
          <a:lstStyle/>
          <a:p>
            <a:fld id="{F0E20C9E-2F25-42EB-96C4-9F515B19F0EE}" type="datetimeFigureOut">
              <a:rPr lang="en-IN" smtClean="0"/>
              <a:t>27-11-2025</a:t>
            </a:fld>
            <a:endParaRPr lang="en-IN"/>
          </a:p>
        </p:txBody>
      </p:sp>
      <p:sp>
        <p:nvSpPr>
          <p:cNvPr id="5" name="Footer Placeholder 4">
            <a:extLst>
              <a:ext uri="{FF2B5EF4-FFF2-40B4-BE49-F238E27FC236}">
                <a16:creationId xmlns:a16="http://schemas.microsoft.com/office/drawing/2014/main" id="{4486875D-5D60-A58A-E8A5-F92E6E6062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92DA3F-C958-A026-8025-88A2685D8BBB}"/>
              </a:ext>
            </a:extLst>
          </p:cNvPr>
          <p:cNvSpPr>
            <a:spLocks noGrp="1"/>
          </p:cNvSpPr>
          <p:nvPr>
            <p:ph type="sldNum" sz="quarter" idx="12"/>
          </p:nvPr>
        </p:nvSpPr>
        <p:spPr/>
        <p:txBody>
          <a:bodyPr/>
          <a:lstStyle/>
          <a:p>
            <a:fld id="{2AF604D5-F745-452C-93F5-1435A6B8FAFA}" type="slidenum">
              <a:rPr lang="en-IN" smtClean="0"/>
              <a:t>‹#›</a:t>
            </a:fld>
            <a:endParaRPr lang="en-IN"/>
          </a:p>
        </p:txBody>
      </p:sp>
    </p:spTree>
    <p:extLst>
      <p:ext uri="{BB962C8B-B14F-4D97-AF65-F5344CB8AC3E}">
        <p14:creationId xmlns:p14="http://schemas.microsoft.com/office/powerpoint/2010/main" val="3461968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E8637F-4801-8A04-5F2F-9A313ED48B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663F2D-2DDC-782F-7A6B-A9D810C5DC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86EA1B-1B51-E82F-7310-478578330E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E20C9E-2F25-42EB-96C4-9F515B19F0EE}" type="datetimeFigureOut">
              <a:rPr lang="en-IN" smtClean="0"/>
              <a:t>27-11-2025</a:t>
            </a:fld>
            <a:endParaRPr lang="en-IN"/>
          </a:p>
        </p:txBody>
      </p:sp>
      <p:sp>
        <p:nvSpPr>
          <p:cNvPr id="5" name="Footer Placeholder 4">
            <a:extLst>
              <a:ext uri="{FF2B5EF4-FFF2-40B4-BE49-F238E27FC236}">
                <a16:creationId xmlns:a16="http://schemas.microsoft.com/office/drawing/2014/main" id="{7DF0E68A-90B5-470D-9599-13660C2561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9E082B9-DD78-F992-6B7E-2284B0C36C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F604D5-F745-452C-93F5-1435A6B8FAFA}" type="slidenum">
              <a:rPr lang="en-IN" smtClean="0"/>
              <a:t>‹#›</a:t>
            </a:fld>
            <a:endParaRPr lang="en-IN"/>
          </a:p>
        </p:txBody>
      </p:sp>
    </p:spTree>
    <p:extLst>
      <p:ext uri="{BB962C8B-B14F-4D97-AF65-F5344CB8AC3E}">
        <p14:creationId xmlns:p14="http://schemas.microsoft.com/office/powerpoint/2010/main" val="3405269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hyperlink" Target="https://public.tableau.com/app/profile/yash.chatniwala/viz/Insights_17619029463490/Dashboard1?publish=yes" TargetMode="Externa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hyperlink" Target="https://public.tableau.com/app/profile/yash.chatniwala/viz/Insights_17619029463490/Dashboard2?publish=yes" TargetMode="Externa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9.xml"/><Relationship Id="rId5" Type="http://schemas.openxmlformats.org/officeDocument/2006/relationships/hyperlink" Target="https://public.tableau.com/app/profile/yash.chatniwala/viz/Insights_17619029463490/Dashboard3?publish=yes" TargetMode="Externa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24807-81DE-4865-8E03-BCB48C9DC7B0}"/>
              </a:ext>
            </a:extLst>
          </p:cNvPr>
          <p:cNvSpPr>
            <a:spLocks noGrp="1" noRot="1" noMove="1" noResize="1" noEditPoints="1" noAdjustHandles="1" noChangeArrowheads="1" noChangeShapeType="1"/>
          </p:cNvSpPr>
          <p:nvPr>
            <p:ph type="ctrTitle"/>
          </p:nvPr>
        </p:nvSpPr>
        <p:spPr>
          <a:xfrm>
            <a:off x="6536600" y="219918"/>
            <a:ext cx="5504507" cy="4545265"/>
          </a:xfrm>
        </p:spPr>
        <p:txBody>
          <a:bodyPr>
            <a:normAutofit/>
          </a:bodyPr>
          <a:lstStyle/>
          <a:p>
            <a:pPr algn="l"/>
            <a:r>
              <a:rPr lang="en-IN" sz="4000" b="1" dirty="0">
                <a:solidFill>
                  <a:srgbClr val="002060"/>
                </a:solidFill>
                <a:latin typeface="Times New Roman" panose="02020603050405020304" pitchFamily="18" charset="0"/>
                <a:cs typeface="Times New Roman" panose="02020603050405020304" pitchFamily="18" charset="0"/>
              </a:rPr>
              <a:t>Name</a:t>
            </a:r>
            <a:r>
              <a:rPr lang="en-IN" sz="4000" dirty="0">
                <a:latin typeface="Times New Roman" panose="02020603050405020304" pitchFamily="18" charset="0"/>
                <a:cs typeface="Times New Roman" panose="02020603050405020304" pitchFamily="18" charset="0"/>
              </a:rPr>
              <a:t> : </a:t>
            </a:r>
            <a:r>
              <a:rPr lang="en-IN" sz="2800" dirty="0">
                <a:latin typeface="Book Antiqua" panose="02040602050305030304" pitchFamily="18" charset="0"/>
              </a:rPr>
              <a:t>Yash Chatniwala</a:t>
            </a:r>
            <a:br>
              <a:rPr lang="en-IN" sz="2800" dirty="0">
                <a:latin typeface="Book Antiqua" panose="02040602050305030304" pitchFamily="18" charset="0"/>
              </a:rPr>
            </a:br>
            <a:r>
              <a:rPr lang="en-IN" sz="2800" dirty="0">
                <a:latin typeface="Book Antiqua" panose="02040602050305030304" pitchFamily="18" charset="0"/>
              </a:rPr>
              <a:t>	         Shubham Mane</a:t>
            </a:r>
            <a:br>
              <a:rPr lang="en-IN" sz="4000" dirty="0"/>
            </a:br>
            <a:br>
              <a:rPr lang="en-IN" sz="4000" dirty="0"/>
            </a:br>
            <a:r>
              <a:rPr lang="en-IN" sz="4000" b="1" dirty="0">
                <a:solidFill>
                  <a:srgbClr val="002060"/>
                </a:solidFill>
                <a:latin typeface="Times New Roman" panose="02020603050405020304" pitchFamily="18" charset="0"/>
                <a:cs typeface="Times New Roman" panose="02020603050405020304" pitchFamily="18" charset="0"/>
              </a:rPr>
              <a:t>Enrolment No : </a:t>
            </a:r>
            <a:br>
              <a:rPr lang="en-IN" sz="2800" dirty="0">
                <a:latin typeface="Book Antiqua" panose="02040602050305030304" pitchFamily="18" charset="0"/>
              </a:rPr>
            </a:br>
            <a:r>
              <a:rPr lang="en-IN" sz="2800" dirty="0">
                <a:latin typeface="Book Antiqua" panose="02040602050305030304" pitchFamily="18" charset="0"/>
              </a:rPr>
              <a:t>Yash         : EN12025087816</a:t>
            </a:r>
            <a:br>
              <a:rPr lang="en-IN" sz="2800" dirty="0">
                <a:latin typeface="Book Antiqua" panose="02040602050305030304" pitchFamily="18" charset="0"/>
              </a:rPr>
            </a:br>
            <a:r>
              <a:rPr lang="en-IN" sz="2800" dirty="0">
                <a:latin typeface="Book Antiqua" panose="02040602050305030304" pitchFamily="18" charset="0"/>
              </a:rPr>
              <a:t>Shubham : EN12026088689</a:t>
            </a:r>
            <a:br>
              <a:rPr lang="en-IN" sz="2800" dirty="0">
                <a:latin typeface="Book Antiqua" panose="02040602050305030304" pitchFamily="18" charset="0"/>
              </a:rPr>
            </a:br>
            <a:br>
              <a:rPr lang="en-IN" sz="2800" dirty="0">
                <a:latin typeface="Book Antiqua" panose="02040602050305030304" pitchFamily="18" charset="0"/>
              </a:rPr>
            </a:br>
            <a:r>
              <a:rPr lang="en-IN" sz="2800" b="1" dirty="0">
                <a:solidFill>
                  <a:srgbClr val="002060"/>
                </a:solidFill>
                <a:latin typeface="Times New Roman" panose="02020603050405020304" pitchFamily="18" charset="0"/>
                <a:cs typeface="Times New Roman" panose="02020603050405020304" pitchFamily="18" charset="0"/>
              </a:rPr>
              <a:t>Batch code  </a:t>
            </a:r>
            <a:r>
              <a:rPr lang="en-IN" sz="2800" b="1" dirty="0">
                <a:latin typeface="Times New Roman" panose="02020603050405020304" pitchFamily="18" charset="0"/>
                <a:cs typeface="Times New Roman" panose="02020603050405020304" pitchFamily="18" charset="0"/>
              </a:rPr>
              <a:t>:</a:t>
            </a:r>
            <a:r>
              <a:rPr lang="en-IN" sz="2800" b="1" dirty="0">
                <a:latin typeface="Elephant" panose="02020904090505020303" pitchFamily="18" charset="0"/>
              </a:rPr>
              <a:t> </a:t>
            </a:r>
            <a:r>
              <a:rPr lang="en-IN" sz="2800" dirty="0">
                <a:latin typeface="Book Antiqua" panose="02040602050305030304" pitchFamily="18" charset="0"/>
              </a:rPr>
              <a:t>DA51</a:t>
            </a:r>
            <a:br>
              <a:rPr lang="en-IN" sz="2800" dirty="0">
                <a:latin typeface="Elephant" panose="02020904090505020303" pitchFamily="18" charset="0"/>
              </a:rPr>
            </a:br>
            <a:r>
              <a:rPr lang="en-IN" sz="2800" b="1" dirty="0">
                <a:solidFill>
                  <a:srgbClr val="002060"/>
                </a:solidFill>
                <a:latin typeface="Times New Roman" panose="02020603050405020304" pitchFamily="18" charset="0"/>
                <a:cs typeface="Times New Roman" panose="02020603050405020304" pitchFamily="18" charset="0"/>
              </a:rPr>
              <a:t>Mentor</a:t>
            </a:r>
            <a:r>
              <a:rPr lang="en-IN" sz="2800" dirty="0">
                <a:solidFill>
                  <a:srgbClr val="002060"/>
                </a:solidFill>
                <a:latin typeface="Elephant" panose="02020904090505020303" pitchFamily="18" charset="0"/>
              </a:rPr>
              <a:t> </a:t>
            </a:r>
            <a:r>
              <a:rPr lang="en-IN" sz="2800" dirty="0">
                <a:solidFill>
                  <a:srgbClr val="002060"/>
                </a:solidFill>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 </a:t>
            </a:r>
            <a:r>
              <a:rPr lang="en-IN" sz="2800" dirty="0">
                <a:latin typeface="Book Antiqua" panose="02040602050305030304" pitchFamily="18" charset="0"/>
              </a:rPr>
              <a:t>Jaya Pandey</a:t>
            </a:r>
          </a:p>
        </p:txBody>
      </p:sp>
      <p:sp>
        <p:nvSpPr>
          <p:cNvPr id="4" name="TextBox 3">
            <a:extLst>
              <a:ext uri="{FF2B5EF4-FFF2-40B4-BE49-F238E27FC236}">
                <a16:creationId xmlns:a16="http://schemas.microsoft.com/office/drawing/2014/main" id="{714919F8-D240-FC46-9DA4-6B547BC334E6}"/>
              </a:ext>
            </a:extLst>
          </p:cNvPr>
          <p:cNvSpPr txBox="1">
            <a:spLocks noGrp="1" noRot="1" noMove="1" noResize="1" noEditPoints="1" noAdjustHandles="1" noChangeArrowheads="1" noChangeShapeType="1"/>
          </p:cNvSpPr>
          <p:nvPr/>
        </p:nvSpPr>
        <p:spPr>
          <a:xfrm>
            <a:off x="5739894" y="5103674"/>
            <a:ext cx="6301213" cy="1754326"/>
          </a:xfrm>
          <a:prstGeom prst="rect">
            <a:avLst/>
          </a:prstGeom>
          <a:noFill/>
        </p:spPr>
        <p:txBody>
          <a:bodyPr wrap="square" rtlCol="0">
            <a:spAutoFit/>
          </a:bodyPr>
          <a:lstStyle/>
          <a:p>
            <a:pPr algn="ctr"/>
            <a:r>
              <a:rPr lang="en-IN" sz="3600" b="1" dirty="0">
                <a:latin typeface="Constantia" panose="02030602050306030303" pitchFamily="18" charset="0"/>
                <a:cs typeface="Times New Roman" panose="02020603050405020304" pitchFamily="18" charset="0"/>
              </a:rPr>
              <a:t>CAPSTONE PROJECT</a:t>
            </a:r>
          </a:p>
          <a:p>
            <a:pPr algn="ctr"/>
            <a:r>
              <a:rPr lang="en-IN" sz="3600" b="1" dirty="0">
                <a:solidFill>
                  <a:srgbClr val="002060"/>
                </a:solidFill>
                <a:latin typeface="Times New Roman" panose="02020603050405020304" pitchFamily="18" charset="0"/>
                <a:cs typeface="Times New Roman" panose="02020603050405020304" pitchFamily="18" charset="0"/>
              </a:rPr>
              <a:t>Football Analytics</a:t>
            </a:r>
          </a:p>
          <a:p>
            <a:pPr algn="ct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444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6E4A1A69-FA59-3B37-BC82-2DAF8471C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57D10-61C7-1C5A-7835-C5464E66A8DF}"/>
              </a:ext>
            </a:extLst>
          </p:cNvPr>
          <p:cNvSpPr>
            <a:spLocks noGrp="1" noRot="1" noMove="1" noResize="1" noEditPoints="1" noAdjustHandles="1" noChangeArrowheads="1" noChangeShapeType="1"/>
          </p:cNvSpPr>
          <p:nvPr>
            <p:ph type="title"/>
          </p:nvPr>
        </p:nvSpPr>
        <p:spPr>
          <a:xfrm>
            <a:off x="382109" y="233320"/>
            <a:ext cx="11897321" cy="2064191"/>
          </a:xfrm>
        </p:spPr>
        <p:txBody>
          <a:bodyPr>
            <a:normAutofit fontScale="90000"/>
          </a:bodyPr>
          <a:lstStyle/>
          <a:p>
            <a:r>
              <a:rPr lang="en-IN" sz="4000" b="1" dirty="0">
                <a:solidFill>
                  <a:srgbClr val="002060"/>
                </a:solidFill>
                <a:latin typeface="Times New Roman" panose="02020603050405020304" pitchFamily="18" charset="0"/>
                <a:cs typeface="Times New Roman" panose="02020603050405020304" pitchFamily="18" charset="0"/>
              </a:rPr>
              <a:t>Introduction:</a:t>
            </a:r>
            <a:br>
              <a:rPr lang="en-IN" sz="4000" b="1" dirty="0">
                <a:latin typeface="Times New Roman" panose="02020603050405020304" pitchFamily="18" charset="0"/>
                <a:cs typeface="Times New Roman" panose="02020603050405020304" pitchFamily="18" charset="0"/>
              </a:rPr>
            </a:b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It is very hard for football teams and managers to use all the numbers and data from matches to make good decisions. There is too much information about players, matches, and competitions, and it is not easy to find what really matters. This project aims to organize, analyze, and explain this football data using charts, tests, and models, so it becomes simple for clubs, managers, and fans to find important patterns and make better choices.</a:t>
            </a:r>
            <a:endParaRPr lang="en-IN" sz="4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F2D1BD5-E6D3-EB9A-929D-EEB2E479819F}"/>
              </a:ext>
            </a:extLst>
          </p:cNvPr>
          <p:cNvSpPr>
            <a:spLocks noGrp="1" noRot="1" noMove="1" noResize="1" noEditPoints="1" noAdjustHandles="1" noChangeArrowheads="1" noChangeShapeType="1"/>
          </p:cNvSpPr>
          <p:nvPr>
            <p:ph type="body" idx="1"/>
          </p:nvPr>
        </p:nvSpPr>
        <p:spPr>
          <a:xfrm>
            <a:off x="382109" y="2426329"/>
            <a:ext cx="11324022" cy="4318503"/>
          </a:xfrm>
        </p:spPr>
        <p:txBody>
          <a:bodyPr/>
          <a:lstStyle/>
          <a:p>
            <a:r>
              <a:rPr lang="en-IN" sz="4000" b="1" dirty="0">
                <a:solidFill>
                  <a:srgbClr val="002060"/>
                </a:solidFill>
                <a:latin typeface="Times New Roman" panose="02020603050405020304" pitchFamily="18" charset="0"/>
                <a:cs typeface="Times New Roman" panose="02020603050405020304" pitchFamily="18" charset="0"/>
              </a:rPr>
              <a:t>Business Objective </a:t>
            </a:r>
            <a:r>
              <a:rPr lang="en-IN" sz="4000" b="1" dirty="0">
                <a:solidFill>
                  <a:srgbClr val="002060"/>
                </a:solidFill>
              </a:rPr>
              <a:t>:</a:t>
            </a:r>
          </a:p>
          <a:p>
            <a:pPr marL="342900" indent="-342900">
              <a:buFont typeface="Wingdings" panose="05000000000000000000" pitchFamily="2" charset="2"/>
              <a:buChar char="v"/>
            </a:pPr>
            <a:r>
              <a:rPr lang="en-US" sz="2000" b="1" dirty="0">
                <a:solidFill>
                  <a:schemeClr val="tx1"/>
                </a:solidFill>
              </a:rPr>
              <a:t>Analyze </a:t>
            </a:r>
            <a:r>
              <a:rPr lang="en-US" sz="2000" b="1" dirty="0">
                <a:solidFill>
                  <a:srgbClr val="0033CC"/>
                </a:solidFill>
              </a:rPr>
              <a:t>how player market values relate </a:t>
            </a:r>
            <a:r>
              <a:rPr lang="en-US" sz="2000" b="1" dirty="0">
                <a:solidFill>
                  <a:schemeClr val="tx1"/>
                </a:solidFill>
              </a:rPr>
              <a:t>to their on-field performance, such as goals, assists, and minutes played </a:t>
            </a:r>
          </a:p>
          <a:p>
            <a:pPr marL="342900" indent="-342900">
              <a:buFont typeface="Wingdings" panose="05000000000000000000" pitchFamily="2" charset="2"/>
              <a:buChar char="v"/>
            </a:pPr>
            <a:r>
              <a:rPr lang="en-US" sz="2000" b="1" dirty="0">
                <a:solidFill>
                  <a:srgbClr val="0033CC"/>
                </a:solidFill>
              </a:rPr>
              <a:t>Creating easy-to-understand dashboards</a:t>
            </a:r>
            <a:r>
              <a:rPr lang="en-US" sz="2000" b="1" dirty="0">
                <a:solidFill>
                  <a:schemeClr val="tx1"/>
                </a:solidFill>
              </a:rPr>
              <a:t> for coaches to monitor player and team performance across competitions and seasons</a:t>
            </a:r>
            <a:endParaRPr lang="en-IN" sz="2000" b="1" dirty="0">
              <a:solidFill>
                <a:schemeClr val="tx1"/>
              </a:solidFill>
            </a:endParaRPr>
          </a:p>
          <a:p>
            <a:pPr marL="342900" indent="-342900">
              <a:buFont typeface="Wingdings" panose="05000000000000000000" pitchFamily="2" charset="2"/>
              <a:buChar char="v"/>
            </a:pPr>
            <a:r>
              <a:rPr lang="en-US" sz="2000" b="1" dirty="0">
                <a:solidFill>
                  <a:srgbClr val="0033CC"/>
                </a:solidFill>
              </a:rPr>
              <a:t>Identify</a:t>
            </a:r>
            <a:r>
              <a:rPr lang="en-US" sz="2000" b="1" dirty="0">
                <a:solidFill>
                  <a:schemeClr val="tx1"/>
                </a:solidFill>
              </a:rPr>
              <a:t> consistent </a:t>
            </a:r>
            <a:r>
              <a:rPr lang="en-US" sz="2000" b="1" dirty="0">
                <a:solidFill>
                  <a:srgbClr val="0033CC"/>
                </a:solidFill>
              </a:rPr>
              <a:t>top performers versus underperformers </a:t>
            </a:r>
            <a:r>
              <a:rPr lang="en-US" sz="2000" b="1" dirty="0">
                <a:solidFill>
                  <a:schemeClr val="tx1"/>
                </a:solidFill>
              </a:rPr>
              <a:t>to help in future team selection or transfers.</a:t>
            </a:r>
          </a:p>
          <a:p>
            <a:pPr marL="342900" indent="-342900">
              <a:buFont typeface="Wingdings" panose="05000000000000000000" pitchFamily="2" charset="2"/>
              <a:buChar char="v"/>
            </a:pPr>
            <a:r>
              <a:rPr lang="en-US" sz="2000" b="1" dirty="0">
                <a:solidFill>
                  <a:schemeClr val="tx1"/>
                </a:solidFill>
              </a:rPr>
              <a:t>Study referee influence by checking if certain referees are linked to </a:t>
            </a:r>
            <a:r>
              <a:rPr lang="en-US" sz="2000" b="1" dirty="0">
                <a:solidFill>
                  <a:srgbClr val="0033CC"/>
                </a:solidFill>
              </a:rPr>
              <a:t>more fouls, cards, or penalties</a:t>
            </a:r>
            <a:r>
              <a:rPr lang="en-US" sz="2000" b="1" dirty="0">
                <a:solidFill>
                  <a:schemeClr val="tx1"/>
                </a:solidFill>
              </a:rPr>
              <a:t> in matches.</a:t>
            </a:r>
          </a:p>
          <a:p>
            <a:pPr marL="342900" indent="-342900">
              <a:buFont typeface="Wingdings" panose="05000000000000000000" pitchFamily="2" charset="2"/>
              <a:buChar char="v"/>
            </a:pPr>
            <a:r>
              <a:rPr lang="en-US" sz="2000" b="1" dirty="0">
                <a:solidFill>
                  <a:schemeClr val="tx1"/>
                </a:solidFill>
              </a:rPr>
              <a:t>Build simple </a:t>
            </a:r>
            <a:r>
              <a:rPr lang="en-US" sz="2000" b="1" dirty="0">
                <a:solidFill>
                  <a:srgbClr val="0033CC"/>
                </a:solidFill>
              </a:rPr>
              <a:t>models or forecasts to predict future </a:t>
            </a:r>
            <a:r>
              <a:rPr lang="en-US" sz="2000" b="1" dirty="0">
                <a:solidFill>
                  <a:schemeClr val="tx1"/>
                </a:solidFill>
              </a:rPr>
              <a:t>team or player performance based on recent data.</a:t>
            </a:r>
          </a:p>
        </p:txBody>
      </p:sp>
    </p:spTree>
    <p:extLst>
      <p:ext uri="{BB962C8B-B14F-4D97-AF65-F5344CB8AC3E}">
        <p14:creationId xmlns:p14="http://schemas.microsoft.com/office/powerpoint/2010/main" val="3231192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0E75656-20B1-A14C-4462-E8F188695AAA}"/>
              </a:ext>
            </a:extLst>
          </p:cNvPr>
          <p:cNvCxnSpPr>
            <a:cxnSpLocks noGrp="1" noRot="1" noMove="1" noResize="1" noEditPoints="1" noAdjustHandles="1" noChangeArrowheads="1" noChangeShapeType="1"/>
          </p:cNvCxnSpPr>
          <p:nvPr/>
        </p:nvCxnSpPr>
        <p:spPr>
          <a:xfrm>
            <a:off x="7678847" y="1192947"/>
            <a:ext cx="1321806" cy="2254313"/>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7ED73D1-D2A4-4CD0-1A88-D006F5E67CD0}"/>
              </a:ext>
            </a:extLst>
          </p:cNvPr>
          <p:cNvCxnSpPr>
            <a:cxnSpLocks noGrp="1" noRot="1" noMove="1" noResize="1" noEditPoints="1" noAdjustHandles="1" noChangeArrowheads="1" noChangeShapeType="1"/>
          </p:cNvCxnSpPr>
          <p:nvPr/>
        </p:nvCxnSpPr>
        <p:spPr>
          <a:xfrm flipV="1">
            <a:off x="7678847" y="3447260"/>
            <a:ext cx="1321806" cy="2254313"/>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15" name="Hexagon 14">
            <a:extLst>
              <a:ext uri="{FF2B5EF4-FFF2-40B4-BE49-F238E27FC236}">
                <a16:creationId xmlns:a16="http://schemas.microsoft.com/office/drawing/2014/main" id="{C953F820-315B-AF03-DA48-F9C619297AC0}"/>
              </a:ext>
            </a:extLst>
          </p:cNvPr>
          <p:cNvSpPr>
            <a:spLocks noGrp="1" noRot="1" noMove="1" noResize="1" noEditPoints="1" noAdjustHandles="1" noChangeArrowheads="1" noChangeShapeType="1"/>
          </p:cNvSpPr>
          <p:nvPr/>
        </p:nvSpPr>
        <p:spPr>
          <a:xfrm>
            <a:off x="6760048" y="2637745"/>
            <a:ext cx="1810693" cy="1548143"/>
          </a:xfrm>
          <a:prstGeom prst="hexagon">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D8751FA-2E74-0087-C41B-18567012ECFB}"/>
              </a:ext>
            </a:extLst>
          </p:cNvPr>
          <p:cNvSpPr>
            <a:spLocks noGrp="1" noRot="1" noMove="1" noResize="1" noEditPoints="1" noAdjustHandles="1" noChangeArrowheads="1" noChangeShapeType="1"/>
          </p:cNvSpPr>
          <p:nvPr/>
        </p:nvSpPr>
        <p:spPr>
          <a:xfrm>
            <a:off x="7533991" y="1025456"/>
            <a:ext cx="289711" cy="334979"/>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A1BE7DE1-702F-0BB1-A3C5-3A25664E00F9}"/>
              </a:ext>
            </a:extLst>
          </p:cNvPr>
          <p:cNvSpPr>
            <a:spLocks noGrp="1" noRot="1" noMove="1" noResize="1" noEditPoints="1" noAdjustHandles="1" noChangeArrowheads="1" noChangeShapeType="1"/>
          </p:cNvSpPr>
          <p:nvPr/>
        </p:nvSpPr>
        <p:spPr>
          <a:xfrm>
            <a:off x="7543044" y="5534084"/>
            <a:ext cx="289711" cy="334979"/>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C1E880C4-2195-3384-7397-470864FDC564}"/>
              </a:ext>
            </a:extLst>
          </p:cNvPr>
          <p:cNvSpPr>
            <a:spLocks noGrp="1" noRot="1" noMove="1" noResize="1" noEditPoints="1" noAdjustHandles="1" noChangeArrowheads="1" noChangeShapeType="1"/>
          </p:cNvSpPr>
          <p:nvPr/>
        </p:nvSpPr>
        <p:spPr>
          <a:xfrm>
            <a:off x="7856142" y="1564138"/>
            <a:ext cx="289711" cy="334979"/>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278C60A5-39B2-0734-B896-617A300AA29C}"/>
              </a:ext>
            </a:extLst>
          </p:cNvPr>
          <p:cNvSpPr>
            <a:spLocks noGrp="1" noRot="1" noMove="1" noResize="1" noEditPoints="1" noAdjustHandles="1" noChangeArrowheads="1" noChangeShapeType="1"/>
          </p:cNvSpPr>
          <p:nvPr/>
        </p:nvSpPr>
        <p:spPr>
          <a:xfrm>
            <a:off x="8182068" y="2103574"/>
            <a:ext cx="289711" cy="334979"/>
          </a:xfrm>
          <a:prstGeom prst="ellipse">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A7A7CB70-3CEA-AA9D-F637-C652F1A5264B}"/>
              </a:ext>
            </a:extLst>
          </p:cNvPr>
          <p:cNvSpPr>
            <a:spLocks noGrp="1" noRot="1" noMove="1" noResize="1" noEditPoints="1" noAdjustHandles="1" noChangeArrowheads="1" noChangeShapeType="1"/>
          </p:cNvSpPr>
          <p:nvPr/>
        </p:nvSpPr>
        <p:spPr>
          <a:xfrm>
            <a:off x="8525346" y="2673188"/>
            <a:ext cx="289711" cy="334979"/>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C6AF9C6B-FB45-1FDE-44A3-7E13E70B42EB}"/>
              </a:ext>
            </a:extLst>
          </p:cNvPr>
          <p:cNvSpPr>
            <a:spLocks noGrp="1" noRot="1" noMove="1" noResize="1" noEditPoints="1" noAdjustHandles="1" noChangeArrowheads="1" noChangeShapeType="1"/>
          </p:cNvSpPr>
          <p:nvPr/>
        </p:nvSpPr>
        <p:spPr>
          <a:xfrm>
            <a:off x="8833919" y="3213379"/>
            <a:ext cx="289711" cy="334979"/>
          </a:xfrm>
          <a:prstGeom prst="ellipse">
            <a:avLst/>
          </a:prstGeom>
          <a:solidFill>
            <a:srgbClr val="0043C8"/>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ADC145DB-C37E-4249-34CC-D43E82F32EE7}"/>
              </a:ext>
            </a:extLst>
          </p:cNvPr>
          <p:cNvSpPr>
            <a:spLocks noGrp="1" noRot="1" noMove="1" noResize="1" noEditPoints="1" noAdjustHandles="1" noChangeArrowheads="1" noChangeShapeType="1"/>
          </p:cNvSpPr>
          <p:nvPr/>
        </p:nvSpPr>
        <p:spPr>
          <a:xfrm>
            <a:off x="8544208" y="3797588"/>
            <a:ext cx="289711" cy="334979"/>
          </a:xfrm>
          <a:prstGeom prst="ellipse">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5C1645B6-DBC2-E6F9-099F-0CCD5BC83373}"/>
              </a:ext>
            </a:extLst>
          </p:cNvPr>
          <p:cNvSpPr>
            <a:spLocks noGrp="1" noRot="1" noMove="1" noResize="1" noEditPoints="1" noAdjustHandles="1" noChangeArrowheads="1" noChangeShapeType="1"/>
          </p:cNvSpPr>
          <p:nvPr/>
        </p:nvSpPr>
        <p:spPr>
          <a:xfrm>
            <a:off x="8215718" y="4383161"/>
            <a:ext cx="289711" cy="334979"/>
          </a:xfrm>
          <a:prstGeom prst="ellipse">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5D271529-72AA-EEC3-BDFC-2E110FBFBE58}"/>
              </a:ext>
            </a:extLst>
          </p:cNvPr>
          <p:cNvSpPr>
            <a:spLocks noGrp="1" noRot="1" noMove="1" noResize="1" noEditPoints="1" noAdjustHandles="1" noChangeArrowheads="1" noChangeShapeType="1"/>
          </p:cNvSpPr>
          <p:nvPr/>
        </p:nvSpPr>
        <p:spPr>
          <a:xfrm>
            <a:off x="7854484" y="4995402"/>
            <a:ext cx="289711" cy="334979"/>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Connector 26">
            <a:extLst>
              <a:ext uri="{FF2B5EF4-FFF2-40B4-BE49-F238E27FC236}">
                <a16:creationId xmlns:a16="http://schemas.microsoft.com/office/drawing/2014/main" id="{3C4DD636-780A-2C6F-E060-B9A4E7991823}"/>
              </a:ext>
            </a:extLst>
          </p:cNvPr>
          <p:cNvCxnSpPr>
            <a:cxnSpLocks noGrp="1" noRot="1" noMove="1" noResize="1" noEditPoints="1" noAdjustHandles="1" noChangeArrowheads="1" noChangeShapeType="1"/>
          </p:cNvCxnSpPr>
          <p:nvPr/>
        </p:nvCxnSpPr>
        <p:spPr>
          <a:xfrm>
            <a:off x="7823702" y="1192945"/>
            <a:ext cx="9605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E1C24CB-E5AC-E729-8BF9-F8014A9D360F}"/>
              </a:ext>
            </a:extLst>
          </p:cNvPr>
          <p:cNvCxnSpPr>
            <a:cxnSpLocks noGrp="1" noRot="1" noMove="1" noResize="1" noEditPoints="1" noAdjustHandles="1" noChangeArrowheads="1" noChangeShapeType="1"/>
          </p:cNvCxnSpPr>
          <p:nvPr/>
        </p:nvCxnSpPr>
        <p:spPr>
          <a:xfrm>
            <a:off x="8144195" y="1712537"/>
            <a:ext cx="9605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8A046AF-BB7A-F492-1DEC-0DE9C66E5C56}"/>
              </a:ext>
            </a:extLst>
          </p:cNvPr>
          <p:cNvCxnSpPr>
            <a:cxnSpLocks noGrp="1" noRot="1" noMove="1" noResize="1" noEditPoints="1" noAdjustHandles="1" noChangeArrowheads="1" noChangeShapeType="1"/>
          </p:cNvCxnSpPr>
          <p:nvPr/>
        </p:nvCxnSpPr>
        <p:spPr>
          <a:xfrm>
            <a:off x="8462425" y="2271063"/>
            <a:ext cx="9605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EFFF73D-B315-A4B5-C899-A3165A29BFED}"/>
              </a:ext>
            </a:extLst>
          </p:cNvPr>
          <p:cNvCxnSpPr>
            <a:cxnSpLocks noGrp="1" noRot="1" noMove="1" noResize="1" noEditPoints="1" noAdjustHandles="1" noChangeArrowheads="1" noChangeShapeType="1"/>
          </p:cNvCxnSpPr>
          <p:nvPr/>
        </p:nvCxnSpPr>
        <p:spPr>
          <a:xfrm>
            <a:off x="8815056" y="2830639"/>
            <a:ext cx="9605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43F03D7A-228D-EEE5-19D9-D367A00CEC74}"/>
              </a:ext>
            </a:extLst>
          </p:cNvPr>
          <p:cNvCxnSpPr>
            <a:cxnSpLocks noGrp="1" noRot="1" noMove="1" noResize="1" noEditPoints="1" noAdjustHandles="1" noChangeArrowheads="1" noChangeShapeType="1"/>
          </p:cNvCxnSpPr>
          <p:nvPr/>
        </p:nvCxnSpPr>
        <p:spPr>
          <a:xfrm>
            <a:off x="9123630" y="3380868"/>
            <a:ext cx="9605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E908FA0-95C4-1D34-AF24-64EE2A6A298F}"/>
              </a:ext>
            </a:extLst>
          </p:cNvPr>
          <p:cNvCxnSpPr>
            <a:cxnSpLocks noGrp="1" noRot="1" noMove="1" noResize="1" noEditPoints="1" noAdjustHandles="1" noChangeArrowheads="1" noChangeShapeType="1"/>
          </p:cNvCxnSpPr>
          <p:nvPr/>
        </p:nvCxnSpPr>
        <p:spPr>
          <a:xfrm>
            <a:off x="8837235" y="3965077"/>
            <a:ext cx="9605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4DD4210-B739-3071-C08C-D4018C845697}"/>
              </a:ext>
            </a:extLst>
          </p:cNvPr>
          <p:cNvCxnSpPr>
            <a:cxnSpLocks noGrp="1" noRot="1" noMove="1" noResize="1" noEditPoints="1" noAdjustHandles="1" noChangeArrowheads="1" noChangeShapeType="1"/>
          </p:cNvCxnSpPr>
          <p:nvPr/>
        </p:nvCxnSpPr>
        <p:spPr>
          <a:xfrm>
            <a:off x="8494790" y="4574416"/>
            <a:ext cx="9605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23527E5-9BF1-D714-0880-96E84B755F99}"/>
              </a:ext>
            </a:extLst>
          </p:cNvPr>
          <p:cNvCxnSpPr>
            <a:cxnSpLocks noGrp="1" noRot="1" noMove="1" noResize="1" noEditPoints="1" noAdjustHandles="1" noChangeArrowheads="1" noChangeShapeType="1"/>
          </p:cNvCxnSpPr>
          <p:nvPr/>
        </p:nvCxnSpPr>
        <p:spPr>
          <a:xfrm>
            <a:off x="8144195" y="5162891"/>
            <a:ext cx="9605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46A2B5F0-1B6D-C72D-F4D2-EA2C82CC1AA5}"/>
              </a:ext>
            </a:extLst>
          </p:cNvPr>
          <p:cNvCxnSpPr>
            <a:cxnSpLocks noGrp="1" noRot="1" noMove="1" noResize="1" noEditPoints="1" noAdjustHandles="1" noChangeArrowheads="1" noChangeShapeType="1"/>
          </p:cNvCxnSpPr>
          <p:nvPr/>
        </p:nvCxnSpPr>
        <p:spPr>
          <a:xfrm>
            <a:off x="7823702" y="5714395"/>
            <a:ext cx="960572" cy="0"/>
          </a:xfrm>
          <a:prstGeom prst="line">
            <a:avLst/>
          </a:prstGeom>
        </p:spPr>
        <p:style>
          <a:lnRef idx="2">
            <a:schemeClr val="accent1"/>
          </a:lnRef>
          <a:fillRef idx="0">
            <a:schemeClr val="accent1"/>
          </a:fillRef>
          <a:effectRef idx="1">
            <a:schemeClr val="accent1"/>
          </a:effectRef>
          <a:fontRef idx="minor">
            <a:schemeClr val="tx1"/>
          </a:fontRef>
        </p:style>
      </p:cxnSp>
      <p:sp>
        <p:nvSpPr>
          <p:cNvPr id="37" name="Flowchart: Terminator 36">
            <a:extLst>
              <a:ext uri="{FF2B5EF4-FFF2-40B4-BE49-F238E27FC236}">
                <a16:creationId xmlns:a16="http://schemas.microsoft.com/office/drawing/2014/main" id="{37DE6ACF-1A77-D03F-CB9F-D492E651FD1A}"/>
              </a:ext>
            </a:extLst>
          </p:cNvPr>
          <p:cNvSpPr>
            <a:spLocks noGrp="1" noRot="1" noMove="1" noResize="1" noEditPoints="1" noAdjustHandles="1" noChangeArrowheads="1" noChangeShapeType="1"/>
          </p:cNvSpPr>
          <p:nvPr/>
        </p:nvSpPr>
        <p:spPr>
          <a:xfrm>
            <a:off x="8833919" y="955446"/>
            <a:ext cx="1777270" cy="473870"/>
          </a:xfrm>
          <a:prstGeom prst="flowChartTerminato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Hexagon 39">
            <a:extLst>
              <a:ext uri="{FF2B5EF4-FFF2-40B4-BE49-F238E27FC236}">
                <a16:creationId xmlns:a16="http://schemas.microsoft.com/office/drawing/2014/main" id="{5243C315-3D21-CBBC-9B78-A648160808FA}"/>
              </a:ext>
            </a:extLst>
          </p:cNvPr>
          <p:cNvSpPr>
            <a:spLocks noGrp="1" noRot="1" noMove="1" noResize="1" noEditPoints="1" noAdjustHandles="1" noChangeArrowheads="1" noChangeShapeType="1"/>
          </p:cNvSpPr>
          <p:nvPr/>
        </p:nvSpPr>
        <p:spPr>
          <a:xfrm>
            <a:off x="8755551" y="956583"/>
            <a:ext cx="518900" cy="473864"/>
          </a:xfrm>
          <a:prstGeom prst="hexagon">
            <a:avLst/>
          </a:prstGeom>
          <a:solidFill>
            <a:schemeClr val="accent1">
              <a:lumMod val="20000"/>
              <a:lumOff val="8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Flowchart: Terminator 41">
            <a:extLst>
              <a:ext uri="{FF2B5EF4-FFF2-40B4-BE49-F238E27FC236}">
                <a16:creationId xmlns:a16="http://schemas.microsoft.com/office/drawing/2014/main" id="{3F17A0C0-FAC8-F192-3BC1-632ADC264A89}"/>
              </a:ext>
            </a:extLst>
          </p:cNvPr>
          <p:cNvSpPr>
            <a:spLocks noGrp="1" noRot="1" noMove="1" noResize="1" noEditPoints="1" noAdjustHandles="1" noChangeArrowheads="1" noChangeShapeType="1"/>
          </p:cNvSpPr>
          <p:nvPr/>
        </p:nvSpPr>
        <p:spPr>
          <a:xfrm>
            <a:off x="9177948" y="1483900"/>
            <a:ext cx="1777270" cy="473870"/>
          </a:xfrm>
          <a:prstGeom prst="flowChartTerminator">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Hexagon 42">
            <a:extLst>
              <a:ext uri="{FF2B5EF4-FFF2-40B4-BE49-F238E27FC236}">
                <a16:creationId xmlns:a16="http://schemas.microsoft.com/office/drawing/2014/main" id="{ADE1405E-CCE9-192F-1F1B-8B37BC3B8A5B}"/>
              </a:ext>
            </a:extLst>
          </p:cNvPr>
          <p:cNvSpPr>
            <a:spLocks noGrp="1" noRot="1" noMove="1" noResize="1" noEditPoints="1" noAdjustHandles="1" noChangeArrowheads="1" noChangeShapeType="1"/>
          </p:cNvSpPr>
          <p:nvPr/>
        </p:nvSpPr>
        <p:spPr>
          <a:xfrm>
            <a:off x="9099580" y="1485037"/>
            <a:ext cx="518900" cy="473864"/>
          </a:xfrm>
          <a:prstGeom prst="hexagon">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Flowchart: Terminator 45">
            <a:extLst>
              <a:ext uri="{FF2B5EF4-FFF2-40B4-BE49-F238E27FC236}">
                <a16:creationId xmlns:a16="http://schemas.microsoft.com/office/drawing/2014/main" id="{A3465B35-30B7-E531-00D4-A146D8F5E0A1}"/>
              </a:ext>
            </a:extLst>
          </p:cNvPr>
          <p:cNvSpPr>
            <a:spLocks noGrp="1" noRot="1" noMove="1" noResize="1" noEditPoints="1" noAdjustHandles="1" noChangeArrowheads="1" noChangeShapeType="1"/>
          </p:cNvSpPr>
          <p:nvPr/>
        </p:nvSpPr>
        <p:spPr>
          <a:xfrm>
            <a:off x="9503874" y="2033743"/>
            <a:ext cx="1777270" cy="473870"/>
          </a:xfrm>
          <a:prstGeom prst="flowChartTerminator">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Hexagon 46">
            <a:extLst>
              <a:ext uri="{FF2B5EF4-FFF2-40B4-BE49-F238E27FC236}">
                <a16:creationId xmlns:a16="http://schemas.microsoft.com/office/drawing/2014/main" id="{BABAE9FA-BC83-F81A-1F71-4584AF9835FE}"/>
              </a:ext>
            </a:extLst>
          </p:cNvPr>
          <p:cNvSpPr>
            <a:spLocks noGrp="1" noRot="1" noMove="1" noResize="1" noEditPoints="1" noAdjustHandles="1" noChangeArrowheads="1" noChangeShapeType="1"/>
          </p:cNvSpPr>
          <p:nvPr/>
        </p:nvSpPr>
        <p:spPr>
          <a:xfrm>
            <a:off x="9425506" y="2034880"/>
            <a:ext cx="518900" cy="473864"/>
          </a:xfrm>
          <a:prstGeom prst="hexagon">
            <a:avLst/>
          </a:prstGeom>
          <a:solidFill>
            <a:schemeClr val="accent1">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Flowchart: Terminator 47">
            <a:extLst>
              <a:ext uri="{FF2B5EF4-FFF2-40B4-BE49-F238E27FC236}">
                <a16:creationId xmlns:a16="http://schemas.microsoft.com/office/drawing/2014/main" id="{D2938A56-E2F0-5FC4-DE4C-7F14AEFA16B5}"/>
              </a:ext>
            </a:extLst>
          </p:cNvPr>
          <p:cNvSpPr>
            <a:spLocks noGrp="1" noRot="1" noMove="1" noResize="1" noEditPoints="1" noAdjustHandles="1" noChangeArrowheads="1" noChangeShapeType="1"/>
          </p:cNvSpPr>
          <p:nvPr/>
        </p:nvSpPr>
        <p:spPr>
          <a:xfrm>
            <a:off x="9853996" y="2582455"/>
            <a:ext cx="1777270" cy="473870"/>
          </a:xfrm>
          <a:prstGeom prst="flowChartTerminator">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Hexagon 48">
            <a:extLst>
              <a:ext uri="{FF2B5EF4-FFF2-40B4-BE49-F238E27FC236}">
                <a16:creationId xmlns:a16="http://schemas.microsoft.com/office/drawing/2014/main" id="{7731F894-EEB5-F674-9DE5-CA16E6F14A07}"/>
              </a:ext>
            </a:extLst>
          </p:cNvPr>
          <p:cNvSpPr>
            <a:spLocks noGrp="1" noRot="1" noMove="1" noResize="1" noEditPoints="1" noAdjustHandles="1" noChangeArrowheads="1" noChangeShapeType="1"/>
          </p:cNvSpPr>
          <p:nvPr/>
        </p:nvSpPr>
        <p:spPr>
          <a:xfrm>
            <a:off x="9775628" y="2583592"/>
            <a:ext cx="518900" cy="473864"/>
          </a:xfrm>
          <a:prstGeom prst="hexagon">
            <a:avLst/>
          </a:prstGeom>
          <a:solidFill>
            <a:schemeClr val="tx2">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Flowchart: Terminator 49">
            <a:extLst>
              <a:ext uri="{FF2B5EF4-FFF2-40B4-BE49-F238E27FC236}">
                <a16:creationId xmlns:a16="http://schemas.microsoft.com/office/drawing/2014/main" id="{5AE968C9-4E6E-A396-DEB5-94E37B711395}"/>
              </a:ext>
            </a:extLst>
          </p:cNvPr>
          <p:cNvSpPr>
            <a:spLocks noGrp="1" noRot="1" noMove="1" noResize="1" noEditPoints="1" noAdjustHandles="1" noChangeArrowheads="1" noChangeShapeType="1"/>
          </p:cNvSpPr>
          <p:nvPr/>
        </p:nvSpPr>
        <p:spPr>
          <a:xfrm>
            <a:off x="10165949" y="3130036"/>
            <a:ext cx="1777270" cy="473870"/>
          </a:xfrm>
          <a:prstGeom prst="flowChartTerminator">
            <a:avLst/>
          </a:prstGeom>
          <a:solidFill>
            <a:srgbClr val="0043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Hexagon 50">
            <a:extLst>
              <a:ext uri="{FF2B5EF4-FFF2-40B4-BE49-F238E27FC236}">
                <a16:creationId xmlns:a16="http://schemas.microsoft.com/office/drawing/2014/main" id="{5B51CDDD-293C-2387-E114-F264D0BAD0AD}"/>
              </a:ext>
            </a:extLst>
          </p:cNvPr>
          <p:cNvSpPr>
            <a:spLocks noGrp="1" noRot="1" noMove="1" noResize="1" noEditPoints="1" noAdjustHandles="1" noChangeArrowheads="1" noChangeShapeType="1"/>
          </p:cNvSpPr>
          <p:nvPr/>
        </p:nvSpPr>
        <p:spPr>
          <a:xfrm>
            <a:off x="10087581" y="3131173"/>
            <a:ext cx="518900" cy="473864"/>
          </a:xfrm>
          <a:prstGeom prst="hexagon">
            <a:avLst/>
          </a:prstGeom>
          <a:solidFill>
            <a:srgbClr val="0043C8"/>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Flowchart: Terminator 51">
            <a:extLst>
              <a:ext uri="{FF2B5EF4-FFF2-40B4-BE49-F238E27FC236}">
                <a16:creationId xmlns:a16="http://schemas.microsoft.com/office/drawing/2014/main" id="{7DAB74E3-CF26-5AA4-32D5-0533EEFF1EDA}"/>
              </a:ext>
            </a:extLst>
          </p:cNvPr>
          <p:cNvSpPr>
            <a:spLocks noGrp="1" noRot="1" noMove="1" noResize="1" noEditPoints="1" noAdjustHandles="1" noChangeArrowheads="1" noChangeShapeType="1"/>
          </p:cNvSpPr>
          <p:nvPr/>
        </p:nvSpPr>
        <p:spPr>
          <a:xfrm>
            <a:off x="9876175" y="3727788"/>
            <a:ext cx="1777270" cy="473870"/>
          </a:xfrm>
          <a:prstGeom prst="flowChartTerminator">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Hexagon 52">
            <a:extLst>
              <a:ext uri="{FF2B5EF4-FFF2-40B4-BE49-F238E27FC236}">
                <a16:creationId xmlns:a16="http://schemas.microsoft.com/office/drawing/2014/main" id="{C89478D0-5E5F-4BA2-E5AD-7BE45B834C01}"/>
              </a:ext>
            </a:extLst>
          </p:cNvPr>
          <p:cNvSpPr>
            <a:spLocks noGrp="1" noRot="1" noMove="1" noResize="1" noEditPoints="1" noAdjustHandles="1" noChangeArrowheads="1" noChangeShapeType="1"/>
          </p:cNvSpPr>
          <p:nvPr/>
        </p:nvSpPr>
        <p:spPr>
          <a:xfrm>
            <a:off x="9797807" y="3728925"/>
            <a:ext cx="518900" cy="473864"/>
          </a:xfrm>
          <a:prstGeom prst="hexagon">
            <a:avLst/>
          </a:prstGeom>
          <a:solidFill>
            <a:schemeClr val="tx2">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Flowchart: Terminator 53">
            <a:extLst>
              <a:ext uri="{FF2B5EF4-FFF2-40B4-BE49-F238E27FC236}">
                <a16:creationId xmlns:a16="http://schemas.microsoft.com/office/drawing/2014/main" id="{5770F01D-557C-C625-B8BF-E36C9BE9ADAA}"/>
              </a:ext>
            </a:extLst>
          </p:cNvPr>
          <p:cNvSpPr>
            <a:spLocks noGrp="1" noRot="1" noMove="1" noResize="1" noEditPoints="1" noAdjustHandles="1" noChangeArrowheads="1" noChangeShapeType="1"/>
          </p:cNvSpPr>
          <p:nvPr/>
        </p:nvSpPr>
        <p:spPr>
          <a:xfrm>
            <a:off x="9537524" y="4337481"/>
            <a:ext cx="1777270" cy="473870"/>
          </a:xfrm>
          <a:prstGeom prst="flowChartTerminator">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Hexagon 54">
            <a:extLst>
              <a:ext uri="{FF2B5EF4-FFF2-40B4-BE49-F238E27FC236}">
                <a16:creationId xmlns:a16="http://schemas.microsoft.com/office/drawing/2014/main" id="{D7EDF07F-6049-5BE3-359C-940CDEF62E85}"/>
              </a:ext>
            </a:extLst>
          </p:cNvPr>
          <p:cNvSpPr>
            <a:spLocks noGrp="1" noRot="1" noMove="1" noResize="1" noEditPoints="1" noAdjustHandles="1" noChangeArrowheads="1" noChangeShapeType="1"/>
          </p:cNvSpPr>
          <p:nvPr/>
        </p:nvSpPr>
        <p:spPr>
          <a:xfrm>
            <a:off x="9459156" y="4338618"/>
            <a:ext cx="518900" cy="473864"/>
          </a:xfrm>
          <a:prstGeom prst="hexagon">
            <a:avLst/>
          </a:prstGeom>
          <a:solidFill>
            <a:schemeClr val="accent1">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lowchart: Terminator 55">
            <a:extLst>
              <a:ext uri="{FF2B5EF4-FFF2-40B4-BE49-F238E27FC236}">
                <a16:creationId xmlns:a16="http://schemas.microsoft.com/office/drawing/2014/main" id="{5F16C4A2-B3A4-93C7-6844-F17318D61232}"/>
              </a:ext>
            </a:extLst>
          </p:cNvPr>
          <p:cNvSpPr>
            <a:spLocks noGrp="1" noRot="1" noMove="1" noResize="1" noEditPoints="1" noAdjustHandles="1" noChangeArrowheads="1" noChangeShapeType="1"/>
          </p:cNvSpPr>
          <p:nvPr/>
        </p:nvSpPr>
        <p:spPr>
          <a:xfrm>
            <a:off x="9166596" y="4925956"/>
            <a:ext cx="1777270" cy="473870"/>
          </a:xfrm>
          <a:prstGeom prst="flowChartTerminator">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Hexagon 56">
            <a:extLst>
              <a:ext uri="{FF2B5EF4-FFF2-40B4-BE49-F238E27FC236}">
                <a16:creationId xmlns:a16="http://schemas.microsoft.com/office/drawing/2014/main" id="{667041B1-DDFF-CEAA-A0C2-E5DC79A5AA8B}"/>
              </a:ext>
            </a:extLst>
          </p:cNvPr>
          <p:cNvSpPr>
            <a:spLocks noGrp="1" noRot="1" noMove="1" noResize="1" noEditPoints="1" noAdjustHandles="1" noChangeArrowheads="1" noChangeShapeType="1"/>
          </p:cNvSpPr>
          <p:nvPr/>
        </p:nvSpPr>
        <p:spPr>
          <a:xfrm>
            <a:off x="9088228" y="4927093"/>
            <a:ext cx="518900" cy="473864"/>
          </a:xfrm>
          <a:prstGeom prst="hexagon">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Flowchart: Terminator 57">
            <a:extLst>
              <a:ext uri="{FF2B5EF4-FFF2-40B4-BE49-F238E27FC236}">
                <a16:creationId xmlns:a16="http://schemas.microsoft.com/office/drawing/2014/main" id="{17EACF5A-AFDA-9F6A-3003-21AEE4956E8E}"/>
              </a:ext>
            </a:extLst>
          </p:cNvPr>
          <p:cNvSpPr>
            <a:spLocks noGrp="1" noRot="1" noMove="1" noResize="1" noEditPoints="1" noAdjustHandles="1" noChangeArrowheads="1" noChangeShapeType="1"/>
          </p:cNvSpPr>
          <p:nvPr/>
        </p:nvSpPr>
        <p:spPr>
          <a:xfrm>
            <a:off x="8862642" y="5477460"/>
            <a:ext cx="1777270" cy="473870"/>
          </a:xfrm>
          <a:prstGeom prst="flowChartTerminato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Hexagon 58">
            <a:extLst>
              <a:ext uri="{FF2B5EF4-FFF2-40B4-BE49-F238E27FC236}">
                <a16:creationId xmlns:a16="http://schemas.microsoft.com/office/drawing/2014/main" id="{BA45861F-63D3-5CE5-9709-07CEAB889626}"/>
              </a:ext>
            </a:extLst>
          </p:cNvPr>
          <p:cNvSpPr>
            <a:spLocks noGrp="1" noRot="1" noMove="1" noResize="1" noEditPoints="1" noAdjustHandles="1" noChangeArrowheads="1" noChangeShapeType="1"/>
          </p:cNvSpPr>
          <p:nvPr/>
        </p:nvSpPr>
        <p:spPr>
          <a:xfrm>
            <a:off x="8784274" y="5478597"/>
            <a:ext cx="518900" cy="473864"/>
          </a:xfrm>
          <a:prstGeom prst="hexagon">
            <a:avLst/>
          </a:prstGeom>
          <a:solidFill>
            <a:schemeClr val="accent1">
              <a:lumMod val="20000"/>
              <a:lumOff val="8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Hexagon 59">
            <a:extLst>
              <a:ext uri="{FF2B5EF4-FFF2-40B4-BE49-F238E27FC236}">
                <a16:creationId xmlns:a16="http://schemas.microsoft.com/office/drawing/2014/main" id="{A195C57B-9990-C827-0FE3-B20DD41831BB}"/>
              </a:ext>
            </a:extLst>
          </p:cNvPr>
          <p:cNvSpPr>
            <a:spLocks noGrp="1" noRot="1" noMove="1" noResize="1" noEditPoints="1" noAdjustHandles="1" noChangeArrowheads="1" noChangeShapeType="1"/>
          </p:cNvSpPr>
          <p:nvPr/>
        </p:nvSpPr>
        <p:spPr>
          <a:xfrm>
            <a:off x="6914810" y="2788379"/>
            <a:ext cx="1498249" cy="1246873"/>
          </a:xfrm>
          <a:prstGeom prst="hexagon">
            <a:avLst/>
          </a:prstGeom>
          <a:solidFill>
            <a:srgbClr val="002060"/>
          </a:solidFill>
          <a:ln>
            <a:solidFill>
              <a:schemeClr val="bg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9B3FEC62-B408-FF94-0E59-9AA4D6D63E25}"/>
              </a:ext>
            </a:extLst>
          </p:cNvPr>
          <p:cNvSpPr txBox="1">
            <a:spLocks noGrp="1" noRot="1" noMove="1" noResize="1" noEditPoints="1" noAdjustHandles="1" noChangeArrowheads="1" noChangeShapeType="1"/>
          </p:cNvSpPr>
          <p:nvPr/>
        </p:nvSpPr>
        <p:spPr>
          <a:xfrm>
            <a:off x="8788584" y="1011732"/>
            <a:ext cx="451409" cy="369332"/>
          </a:xfrm>
          <a:prstGeom prst="rect">
            <a:avLst/>
          </a:prstGeom>
          <a:noFill/>
        </p:spPr>
        <p:txBody>
          <a:bodyPr wrap="square" rtlCol="0">
            <a:spAutoFit/>
          </a:bodyPr>
          <a:lstStyle/>
          <a:p>
            <a:pPr algn="ctr"/>
            <a:r>
              <a:rPr lang="en-IN" b="1" dirty="0">
                <a:latin typeface="Century" panose="02040604050505020304" pitchFamily="18" charset="0"/>
              </a:rPr>
              <a:t>01</a:t>
            </a:r>
          </a:p>
        </p:txBody>
      </p:sp>
      <p:sp>
        <p:nvSpPr>
          <p:cNvPr id="64" name="TextBox 63">
            <a:extLst>
              <a:ext uri="{FF2B5EF4-FFF2-40B4-BE49-F238E27FC236}">
                <a16:creationId xmlns:a16="http://schemas.microsoft.com/office/drawing/2014/main" id="{9904350A-1019-04CF-DB03-42C72D817114}"/>
              </a:ext>
            </a:extLst>
          </p:cNvPr>
          <p:cNvSpPr txBox="1">
            <a:spLocks noGrp="1" noRot="1" noMove="1" noResize="1" noEditPoints="1" noAdjustHandles="1" noChangeArrowheads="1" noChangeShapeType="1"/>
          </p:cNvSpPr>
          <p:nvPr/>
        </p:nvSpPr>
        <p:spPr>
          <a:xfrm>
            <a:off x="9136450" y="1529328"/>
            <a:ext cx="451409" cy="369332"/>
          </a:xfrm>
          <a:prstGeom prst="rect">
            <a:avLst/>
          </a:prstGeom>
          <a:noFill/>
        </p:spPr>
        <p:txBody>
          <a:bodyPr wrap="square" rtlCol="0">
            <a:spAutoFit/>
          </a:bodyPr>
          <a:lstStyle/>
          <a:p>
            <a:pPr algn="ctr"/>
            <a:r>
              <a:rPr lang="en-IN" b="1" dirty="0">
                <a:latin typeface="Century" panose="02040604050505020304" pitchFamily="18" charset="0"/>
              </a:rPr>
              <a:t>02</a:t>
            </a:r>
          </a:p>
        </p:txBody>
      </p:sp>
      <p:sp>
        <p:nvSpPr>
          <p:cNvPr id="65" name="TextBox 64">
            <a:extLst>
              <a:ext uri="{FF2B5EF4-FFF2-40B4-BE49-F238E27FC236}">
                <a16:creationId xmlns:a16="http://schemas.microsoft.com/office/drawing/2014/main" id="{D8A177CA-EB1E-12E5-2A19-CA701A3F08EF}"/>
              </a:ext>
            </a:extLst>
          </p:cNvPr>
          <p:cNvSpPr txBox="1">
            <a:spLocks noGrp="1" noRot="1" noMove="1" noResize="1" noEditPoints="1" noAdjustHandles="1" noChangeArrowheads="1" noChangeShapeType="1"/>
          </p:cNvSpPr>
          <p:nvPr/>
        </p:nvSpPr>
        <p:spPr>
          <a:xfrm>
            <a:off x="9455362" y="2086042"/>
            <a:ext cx="451409" cy="369332"/>
          </a:xfrm>
          <a:prstGeom prst="rect">
            <a:avLst/>
          </a:prstGeom>
          <a:noFill/>
        </p:spPr>
        <p:txBody>
          <a:bodyPr wrap="square" rtlCol="0">
            <a:spAutoFit/>
          </a:bodyPr>
          <a:lstStyle/>
          <a:p>
            <a:pPr algn="ctr"/>
            <a:r>
              <a:rPr lang="en-IN" b="1" dirty="0">
                <a:latin typeface="Century" panose="02040604050505020304" pitchFamily="18" charset="0"/>
              </a:rPr>
              <a:t>03</a:t>
            </a:r>
          </a:p>
        </p:txBody>
      </p:sp>
      <p:sp>
        <p:nvSpPr>
          <p:cNvPr id="66" name="TextBox 65">
            <a:extLst>
              <a:ext uri="{FF2B5EF4-FFF2-40B4-BE49-F238E27FC236}">
                <a16:creationId xmlns:a16="http://schemas.microsoft.com/office/drawing/2014/main" id="{35B92F8C-7D57-82D0-0F07-EFD899CBC339}"/>
              </a:ext>
            </a:extLst>
          </p:cNvPr>
          <p:cNvSpPr txBox="1">
            <a:spLocks noGrp="1" noRot="1" noMove="1" noResize="1" noEditPoints="1" noAdjustHandles="1" noChangeArrowheads="1" noChangeShapeType="1"/>
          </p:cNvSpPr>
          <p:nvPr/>
        </p:nvSpPr>
        <p:spPr>
          <a:xfrm>
            <a:off x="9809373" y="2649737"/>
            <a:ext cx="451409" cy="369332"/>
          </a:xfrm>
          <a:prstGeom prst="rect">
            <a:avLst/>
          </a:prstGeom>
          <a:noFill/>
        </p:spPr>
        <p:txBody>
          <a:bodyPr wrap="square" rtlCol="0">
            <a:spAutoFit/>
          </a:bodyPr>
          <a:lstStyle/>
          <a:p>
            <a:pPr algn="ctr"/>
            <a:r>
              <a:rPr lang="en-IN" b="1" dirty="0">
                <a:latin typeface="Century" panose="02040604050505020304" pitchFamily="18" charset="0"/>
              </a:rPr>
              <a:t>04</a:t>
            </a:r>
          </a:p>
        </p:txBody>
      </p:sp>
      <p:sp>
        <p:nvSpPr>
          <p:cNvPr id="67" name="TextBox 66">
            <a:extLst>
              <a:ext uri="{FF2B5EF4-FFF2-40B4-BE49-F238E27FC236}">
                <a16:creationId xmlns:a16="http://schemas.microsoft.com/office/drawing/2014/main" id="{77711E30-33E2-8DA0-6214-92B7886B4594}"/>
              </a:ext>
            </a:extLst>
          </p:cNvPr>
          <p:cNvSpPr txBox="1">
            <a:spLocks noGrp="1" noRot="1" noMove="1" noResize="1" noEditPoints="1" noAdjustHandles="1" noChangeArrowheads="1" noChangeShapeType="1"/>
          </p:cNvSpPr>
          <p:nvPr/>
        </p:nvSpPr>
        <p:spPr>
          <a:xfrm>
            <a:off x="10121326" y="3191017"/>
            <a:ext cx="451409" cy="369332"/>
          </a:xfrm>
          <a:prstGeom prst="rect">
            <a:avLst/>
          </a:prstGeom>
          <a:noFill/>
        </p:spPr>
        <p:txBody>
          <a:bodyPr wrap="square" rtlCol="0">
            <a:spAutoFit/>
          </a:bodyPr>
          <a:lstStyle/>
          <a:p>
            <a:pPr algn="ctr"/>
            <a:r>
              <a:rPr lang="en-IN" b="1" dirty="0">
                <a:latin typeface="Century" panose="02040604050505020304" pitchFamily="18" charset="0"/>
              </a:rPr>
              <a:t>05</a:t>
            </a:r>
          </a:p>
        </p:txBody>
      </p:sp>
      <p:sp>
        <p:nvSpPr>
          <p:cNvPr id="68" name="TextBox 67">
            <a:extLst>
              <a:ext uri="{FF2B5EF4-FFF2-40B4-BE49-F238E27FC236}">
                <a16:creationId xmlns:a16="http://schemas.microsoft.com/office/drawing/2014/main" id="{D8BEF545-C44E-1DEB-A6B5-13B795FAF084}"/>
              </a:ext>
            </a:extLst>
          </p:cNvPr>
          <p:cNvSpPr txBox="1">
            <a:spLocks noGrp="1" noRot="1" noMove="1" noResize="1" noEditPoints="1" noAdjustHandles="1" noChangeArrowheads="1" noChangeShapeType="1"/>
          </p:cNvSpPr>
          <p:nvPr/>
        </p:nvSpPr>
        <p:spPr>
          <a:xfrm>
            <a:off x="9828953" y="3763235"/>
            <a:ext cx="451409" cy="369332"/>
          </a:xfrm>
          <a:prstGeom prst="rect">
            <a:avLst/>
          </a:prstGeom>
          <a:noFill/>
        </p:spPr>
        <p:txBody>
          <a:bodyPr wrap="square" rtlCol="0">
            <a:spAutoFit/>
          </a:bodyPr>
          <a:lstStyle/>
          <a:p>
            <a:pPr algn="ctr"/>
            <a:r>
              <a:rPr lang="en-IN" b="1" dirty="0">
                <a:latin typeface="Century" panose="02040604050505020304" pitchFamily="18" charset="0"/>
              </a:rPr>
              <a:t>06</a:t>
            </a:r>
          </a:p>
        </p:txBody>
      </p:sp>
      <p:sp>
        <p:nvSpPr>
          <p:cNvPr id="69" name="TextBox 68">
            <a:extLst>
              <a:ext uri="{FF2B5EF4-FFF2-40B4-BE49-F238E27FC236}">
                <a16:creationId xmlns:a16="http://schemas.microsoft.com/office/drawing/2014/main" id="{4850BDF6-294E-50DD-BB23-716F9067BE8A}"/>
              </a:ext>
            </a:extLst>
          </p:cNvPr>
          <p:cNvSpPr txBox="1">
            <a:spLocks noGrp="1" noRot="1" noMove="1" noResize="1" noEditPoints="1" noAdjustHandles="1" noChangeArrowheads="1" noChangeShapeType="1"/>
          </p:cNvSpPr>
          <p:nvPr/>
        </p:nvSpPr>
        <p:spPr>
          <a:xfrm>
            <a:off x="9492901" y="4392445"/>
            <a:ext cx="451409" cy="369332"/>
          </a:xfrm>
          <a:prstGeom prst="rect">
            <a:avLst/>
          </a:prstGeom>
          <a:noFill/>
        </p:spPr>
        <p:txBody>
          <a:bodyPr wrap="square" rtlCol="0">
            <a:spAutoFit/>
          </a:bodyPr>
          <a:lstStyle/>
          <a:p>
            <a:pPr algn="ctr"/>
            <a:r>
              <a:rPr lang="en-IN" b="1" dirty="0">
                <a:latin typeface="Century" panose="02040604050505020304" pitchFamily="18" charset="0"/>
              </a:rPr>
              <a:t>07</a:t>
            </a:r>
          </a:p>
        </p:txBody>
      </p:sp>
      <p:sp>
        <p:nvSpPr>
          <p:cNvPr id="70" name="TextBox 69">
            <a:extLst>
              <a:ext uri="{FF2B5EF4-FFF2-40B4-BE49-F238E27FC236}">
                <a16:creationId xmlns:a16="http://schemas.microsoft.com/office/drawing/2014/main" id="{3879B9D7-9D13-3F60-1490-4CCE60F7763C}"/>
              </a:ext>
            </a:extLst>
          </p:cNvPr>
          <p:cNvSpPr txBox="1">
            <a:spLocks noGrp="1" noRot="1" noMove="1" noResize="1" noEditPoints="1" noAdjustHandles="1" noChangeArrowheads="1" noChangeShapeType="1"/>
          </p:cNvSpPr>
          <p:nvPr/>
        </p:nvSpPr>
        <p:spPr>
          <a:xfrm>
            <a:off x="9121973" y="4990574"/>
            <a:ext cx="451409" cy="369332"/>
          </a:xfrm>
          <a:prstGeom prst="rect">
            <a:avLst/>
          </a:prstGeom>
          <a:noFill/>
        </p:spPr>
        <p:txBody>
          <a:bodyPr wrap="square" rtlCol="0">
            <a:spAutoFit/>
          </a:bodyPr>
          <a:lstStyle/>
          <a:p>
            <a:pPr algn="ctr"/>
            <a:r>
              <a:rPr lang="en-IN" b="1" dirty="0">
                <a:latin typeface="Century" panose="02040604050505020304" pitchFamily="18" charset="0"/>
              </a:rPr>
              <a:t>08</a:t>
            </a:r>
          </a:p>
        </p:txBody>
      </p:sp>
      <p:sp>
        <p:nvSpPr>
          <p:cNvPr id="71" name="TextBox 70">
            <a:extLst>
              <a:ext uri="{FF2B5EF4-FFF2-40B4-BE49-F238E27FC236}">
                <a16:creationId xmlns:a16="http://schemas.microsoft.com/office/drawing/2014/main" id="{EE1EE053-B287-122C-C5C6-91FEC17AFBD7}"/>
              </a:ext>
            </a:extLst>
          </p:cNvPr>
          <p:cNvSpPr txBox="1">
            <a:spLocks noGrp="1" noRot="1" noMove="1" noResize="1" noEditPoints="1" noAdjustHandles="1" noChangeArrowheads="1" noChangeShapeType="1"/>
          </p:cNvSpPr>
          <p:nvPr/>
        </p:nvSpPr>
        <p:spPr>
          <a:xfrm>
            <a:off x="8813981" y="5529819"/>
            <a:ext cx="451409" cy="369332"/>
          </a:xfrm>
          <a:prstGeom prst="rect">
            <a:avLst/>
          </a:prstGeom>
          <a:noFill/>
        </p:spPr>
        <p:txBody>
          <a:bodyPr wrap="square" rtlCol="0">
            <a:spAutoFit/>
          </a:bodyPr>
          <a:lstStyle/>
          <a:p>
            <a:pPr algn="ctr"/>
            <a:r>
              <a:rPr lang="en-IN" b="1" dirty="0">
                <a:latin typeface="Century" panose="02040604050505020304" pitchFamily="18" charset="0"/>
              </a:rPr>
              <a:t>09</a:t>
            </a:r>
          </a:p>
        </p:txBody>
      </p:sp>
      <p:sp>
        <p:nvSpPr>
          <p:cNvPr id="92" name="Star: 4 Points 91">
            <a:extLst>
              <a:ext uri="{FF2B5EF4-FFF2-40B4-BE49-F238E27FC236}">
                <a16:creationId xmlns:a16="http://schemas.microsoft.com/office/drawing/2014/main" id="{93EB6491-A917-AA80-FBE0-EC4B026046D2}"/>
              </a:ext>
            </a:extLst>
          </p:cNvPr>
          <p:cNvSpPr>
            <a:spLocks noGrp="1" noRot="1" noMove="1" noResize="1" noEditPoints="1" noAdjustHandles="1" noChangeArrowheads="1" noChangeShapeType="1"/>
          </p:cNvSpPr>
          <p:nvPr/>
        </p:nvSpPr>
        <p:spPr>
          <a:xfrm>
            <a:off x="1402404" y="1955654"/>
            <a:ext cx="3110750" cy="2806123"/>
          </a:xfrm>
          <a:prstGeom prst="star4">
            <a:avLst>
              <a:gd name="adj" fmla="val 16160"/>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atin typeface="Times New Roman" panose="02020603050405020304" pitchFamily="18" charset="0"/>
                <a:cs typeface="Times New Roman" panose="02020603050405020304" pitchFamily="18" charset="0"/>
              </a:rPr>
              <a:t>Tools Used</a:t>
            </a:r>
          </a:p>
        </p:txBody>
      </p:sp>
      <p:pic>
        <p:nvPicPr>
          <p:cNvPr id="94" name="Picture 93" descr="A green circle with a white x on it&#10;&#10;AI-generated content may be incorrect.">
            <a:extLst>
              <a:ext uri="{FF2B5EF4-FFF2-40B4-BE49-F238E27FC236}">
                <a16:creationId xmlns:a16="http://schemas.microsoft.com/office/drawing/2014/main" id="{A8E187EF-59E0-D568-F653-17E3205D2510}"/>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4626215" y="2788379"/>
            <a:ext cx="1123299" cy="1123299"/>
          </a:xfrm>
          <a:prstGeom prst="rect">
            <a:avLst/>
          </a:prstGeom>
        </p:spPr>
      </p:pic>
      <p:pic>
        <p:nvPicPr>
          <p:cNvPr id="96" name="Picture 95" descr="A blue dolphin with yellow text&#10;&#10;AI-generated content may be incorrect.">
            <a:extLst>
              <a:ext uri="{FF2B5EF4-FFF2-40B4-BE49-F238E27FC236}">
                <a16:creationId xmlns:a16="http://schemas.microsoft.com/office/drawing/2014/main" id="{0492CBB6-9A58-16E5-E975-6DAC23407558}"/>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2363912" y="755808"/>
            <a:ext cx="1042189" cy="1042189"/>
          </a:xfrm>
          <a:prstGeom prst="rect">
            <a:avLst/>
          </a:prstGeom>
        </p:spPr>
      </p:pic>
      <p:pic>
        <p:nvPicPr>
          <p:cNvPr id="98" name="Picture 97" descr="A logo with colorful crosses&#10;&#10;AI-generated content may be incorrect.">
            <a:extLst>
              <a:ext uri="{FF2B5EF4-FFF2-40B4-BE49-F238E27FC236}">
                <a16:creationId xmlns:a16="http://schemas.microsoft.com/office/drawing/2014/main" id="{8FE3870A-FAD0-3C0D-CCB4-D87D1B0D8B1C}"/>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2221157" y="4919434"/>
            <a:ext cx="1447320" cy="892945"/>
          </a:xfrm>
          <a:prstGeom prst="rect">
            <a:avLst/>
          </a:prstGeom>
        </p:spPr>
      </p:pic>
      <p:pic>
        <p:nvPicPr>
          <p:cNvPr id="100" name="Picture 99" descr="A blue and yellow snake logo&#10;&#10;AI-generated content may be incorrect.">
            <a:extLst>
              <a:ext uri="{FF2B5EF4-FFF2-40B4-BE49-F238E27FC236}">
                <a16:creationId xmlns:a16="http://schemas.microsoft.com/office/drawing/2014/main" id="{B0F0D8E1-FD84-10FF-0B5A-22CDEB8DC3E9}"/>
              </a:ext>
            </a:extLst>
          </p:cNvPr>
          <p:cNvPicPr>
            <a:picLocks noGrp="1" noRot="1" noChangeAspec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tretch>
            <a:fillRect/>
          </a:stretch>
        </p:blipFill>
        <p:spPr>
          <a:xfrm>
            <a:off x="234466" y="2917319"/>
            <a:ext cx="865417" cy="865417"/>
          </a:xfrm>
          <a:prstGeom prst="rect">
            <a:avLst/>
          </a:prstGeom>
        </p:spPr>
      </p:pic>
      <p:sp>
        <p:nvSpPr>
          <p:cNvPr id="2" name="TextBox 1">
            <a:extLst>
              <a:ext uri="{FF2B5EF4-FFF2-40B4-BE49-F238E27FC236}">
                <a16:creationId xmlns:a16="http://schemas.microsoft.com/office/drawing/2014/main" id="{0E31110B-DFA2-2A72-6F9D-5355494111E4}"/>
              </a:ext>
            </a:extLst>
          </p:cNvPr>
          <p:cNvSpPr txBox="1">
            <a:spLocks/>
          </p:cNvSpPr>
          <p:nvPr/>
        </p:nvSpPr>
        <p:spPr>
          <a:xfrm>
            <a:off x="9136450" y="1013262"/>
            <a:ext cx="1449564" cy="338554"/>
          </a:xfrm>
          <a:prstGeom prst="rect">
            <a:avLst/>
          </a:prstGeom>
          <a:noFill/>
        </p:spPr>
        <p:txBody>
          <a:bodyPr wrap="square" rtlCol="0">
            <a:spAutoFit/>
          </a:bodyPr>
          <a:lstStyle/>
          <a:p>
            <a:pPr algn="ctr"/>
            <a:r>
              <a:rPr lang="en-IN" sz="1600" dirty="0"/>
              <a:t>Introduction</a:t>
            </a:r>
          </a:p>
        </p:txBody>
      </p:sp>
      <p:sp>
        <p:nvSpPr>
          <p:cNvPr id="3" name="TextBox 2">
            <a:extLst>
              <a:ext uri="{FF2B5EF4-FFF2-40B4-BE49-F238E27FC236}">
                <a16:creationId xmlns:a16="http://schemas.microsoft.com/office/drawing/2014/main" id="{B37E5356-A60A-E7BF-DFDF-B136F859E0D7}"/>
              </a:ext>
            </a:extLst>
          </p:cNvPr>
          <p:cNvSpPr txBox="1">
            <a:spLocks/>
          </p:cNvSpPr>
          <p:nvPr/>
        </p:nvSpPr>
        <p:spPr>
          <a:xfrm>
            <a:off x="9450603" y="1546170"/>
            <a:ext cx="1562225" cy="338554"/>
          </a:xfrm>
          <a:prstGeom prst="rect">
            <a:avLst/>
          </a:prstGeom>
          <a:noFill/>
        </p:spPr>
        <p:txBody>
          <a:bodyPr wrap="square" rtlCol="0">
            <a:spAutoFit/>
          </a:bodyPr>
          <a:lstStyle/>
          <a:p>
            <a:pPr algn="ctr"/>
            <a:r>
              <a:rPr lang="en-IN" sz="1600" dirty="0"/>
              <a:t>Focus Area</a:t>
            </a:r>
          </a:p>
        </p:txBody>
      </p:sp>
      <p:sp>
        <p:nvSpPr>
          <p:cNvPr id="6" name="TextBox 5">
            <a:extLst>
              <a:ext uri="{FF2B5EF4-FFF2-40B4-BE49-F238E27FC236}">
                <a16:creationId xmlns:a16="http://schemas.microsoft.com/office/drawing/2014/main" id="{3E131391-1099-86F8-B7DE-7B89D28B8D6C}"/>
              </a:ext>
            </a:extLst>
          </p:cNvPr>
          <p:cNvSpPr txBox="1">
            <a:spLocks noGrp="1" noRot="1" noMove="1" noResize="1" noEditPoints="1" noAdjustHandles="1" noChangeArrowheads="1" noChangeShapeType="1"/>
          </p:cNvSpPr>
          <p:nvPr/>
        </p:nvSpPr>
        <p:spPr>
          <a:xfrm>
            <a:off x="9819978" y="2097408"/>
            <a:ext cx="1562225" cy="338554"/>
          </a:xfrm>
          <a:prstGeom prst="rect">
            <a:avLst/>
          </a:prstGeom>
          <a:noFill/>
        </p:spPr>
        <p:txBody>
          <a:bodyPr wrap="square" rtlCol="0">
            <a:spAutoFit/>
          </a:bodyPr>
          <a:lstStyle/>
          <a:p>
            <a:pPr algn="ctr"/>
            <a:r>
              <a:rPr lang="en-IN" sz="1600" dirty="0"/>
              <a:t>Data Cleaning</a:t>
            </a:r>
          </a:p>
        </p:txBody>
      </p:sp>
      <p:sp>
        <p:nvSpPr>
          <p:cNvPr id="7" name="TextBox 6">
            <a:extLst>
              <a:ext uri="{FF2B5EF4-FFF2-40B4-BE49-F238E27FC236}">
                <a16:creationId xmlns:a16="http://schemas.microsoft.com/office/drawing/2014/main" id="{BD6F5715-8F8B-16DB-FC3E-DDC3D61242F1}"/>
              </a:ext>
            </a:extLst>
          </p:cNvPr>
          <p:cNvSpPr txBox="1">
            <a:spLocks noGrp="1" noRot="1" noMove="1" noResize="1" noEditPoints="1" noAdjustHandles="1" noChangeArrowheads="1" noChangeShapeType="1"/>
          </p:cNvSpPr>
          <p:nvPr/>
        </p:nvSpPr>
        <p:spPr>
          <a:xfrm>
            <a:off x="10093217" y="2521395"/>
            <a:ext cx="1562225" cy="584775"/>
          </a:xfrm>
          <a:prstGeom prst="rect">
            <a:avLst/>
          </a:prstGeom>
          <a:noFill/>
        </p:spPr>
        <p:txBody>
          <a:bodyPr wrap="square" rtlCol="0">
            <a:spAutoFit/>
          </a:bodyPr>
          <a:lstStyle/>
          <a:p>
            <a:pPr algn="ctr"/>
            <a:r>
              <a:rPr lang="en-IN" sz="1600" dirty="0"/>
              <a:t>Descriptive Analysis</a:t>
            </a:r>
          </a:p>
        </p:txBody>
      </p:sp>
      <p:sp>
        <p:nvSpPr>
          <p:cNvPr id="8" name="TextBox 7">
            <a:extLst>
              <a:ext uri="{FF2B5EF4-FFF2-40B4-BE49-F238E27FC236}">
                <a16:creationId xmlns:a16="http://schemas.microsoft.com/office/drawing/2014/main" id="{399A25AA-F3D7-F0EC-265B-35666529AF0B}"/>
              </a:ext>
            </a:extLst>
          </p:cNvPr>
          <p:cNvSpPr txBox="1">
            <a:spLocks noGrp="1" noRot="1" noMove="1" noResize="1" noEditPoints="1" noAdjustHandles="1" noChangeArrowheads="1" noChangeShapeType="1"/>
          </p:cNvSpPr>
          <p:nvPr/>
        </p:nvSpPr>
        <p:spPr>
          <a:xfrm>
            <a:off x="10316707" y="3201172"/>
            <a:ext cx="1562225" cy="369332"/>
          </a:xfrm>
          <a:prstGeom prst="rect">
            <a:avLst/>
          </a:prstGeom>
          <a:noFill/>
        </p:spPr>
        <p:txBody>
          <a:bodyPr wrap="square" rtlCol="0">
            <a:spAutoFit/>
          </a:bodyPr>
          <a:lstStyle/>
          <a:p>
            <a:pPr algn="ctr"/>
            <a:r>
              <a:rPr lang="en-IN" dirty="0"/>
              <a:t>EDA</a:t>
            </a:r>
            <a:endParaRPr lang="en-IN" sz="1600" dirty="0"/>
          </a:p>
        </p:txBody>
      </p:sp>
      <p:sp>
        <p:nvSpPr>
          <p:cNvPr id="9" name="TextBox 8">
            <a:extLst>
              <a:ext uri="{FF2B5EF4-FFF2-40B4-BE49-F238E27FC236}">
                <a16:creationId xmlns:a16="http://schemas.microsoft.com/office/drawing/2014/main" id="{F3FBA204-ED27-7836-D41E-36BE858C89A2}"/>
              </a:ext>
            </a:extLst>
          </p:cNvPr>
          <p:cNvSpPr txBox="1">
            <a:spLocks noGrp="1" noRot="1" noMove="1" noResize="1" noEditPoints="1" noAdjustHandles="1" noChangeArrowheads="1" noChangeShapeType="1"/>
          </p:cNvSpPr>
          <p:nvPr/>
        </p:nvSpPr>
        <p:spPr>
          <a:xfrm>
            <a:off x="10069041" y="3677402"/>
            <a:ext cx="1562225" cy="584775"/>
          </a:xfrm>
          <a:prstGeom prst="rect">
            <a:avLst/>
          </a:prstGeom>
          <a:noFill/>
        </p:spPr>
        <p:txBody>
          <a:bodyPr wrap="square" rtlCol="0">
            <a:spAutoFit/>
          </a:bodyPr>
          <a:lstStyle/>
          <a:p>
            <a:pPr algn="ctr"/>
            <a:r>
              <a:rPr lang="en-IN" sz="1600" dirty="0"/>
              <a:t>Statistical Testing</a:t>
            </a:r>
            <a:endParaRPr lang="en-IN" sz="1600" b="1" dirty="0"/>
          </a:p>
        </p:txBody>
      </p:sp>
      <p:sp>
        <p:nvSpPr>
          <p:cNvPr id="10" name="TextBox 9">
            <a:extLst>
              <a:ext uri="{FF2B5EF4-FFF2-40B4-BE49-F238E27FC236}">
                <a16:creationId xmlns:a16="http://schemas.microsoft.com/office/drawing/2014/main" id="{070BF297-C9CE-772B-5AFA-542060C4F196}"/>
              </a:ext>
            </a:extLst>
          </p:cNvPr>
          <p:cNvSpPr txBox="1">
            <a:spLocks noGrp="1" noRot="1" noMove="1" noResize="1" noEditPoints="1" noAdjustHandles="1" noChangeArrowheads="1" noChangeShapeType="1"/>
          </p:cNvSpPr>
          <p:nvPr/>
        </p:nvSpPr>
        <p:spPr>
          <a:xfrm>
            <a:off x="9830076" y="4319393"/>
            <a:ext cx="1562225" cy="523220"/>
          </a:xfrm>
          <a:prstGeom prst="rect">
            <a:avLst/>
          </a:prstGeom>
          <a:noFill/>
        </p:spPr>
        <p:txBody>
          <a:bodyPr wrap="square" rtlCol="0">
            <a:spAutoFit/>
          </a:bodyPr>
          <a:lstStyle/>
          <a:p>
            <a:pPr algn="ctr"/>
            <a:r>
              <a:rPr lang="en-IN" sz="1400" dirty="0"/>
              <a:t>Model Building &amp; Prediction</a:t>
            </a:r>
            <a:endParaRPr lang="en-IN" sz="1400" b="1" dirty="0"/>
          </a:p>
        </p:txBody>
      </p:sp>
      <p:sp>
        <p:nvSpPr>
          <p:cNvPr id="11" name="TextBox 10">
            <a:extLst>
              <a:ext uri="{FF2B5EF4-FFF2-40B4-BE49-F238E27FC236}">
                <a16:creationId xmlns:a16="http://schemas.microsoft.com/office/drawing/2014/main" id="{B5062D7F-B9B3-24A1-B0ED-F20EF08139EC}"/>
              </a:ext>
            </a:extLst>
          </p:cNvPr>
          <p:cNvSpPr txBox="1">
            <a:spLocks noGrp="1" noRot="1" noMove="1" noResize="1" noEditPoints="1" noAdjustHandles="1" noChangeArrowheads="1" noChangeShapeType="1"/>
          </p:cNvSpPr>
          <p:nvPr/>
        </p:nvSpPr>
        <p:spPr>
          <a:xfrm>
            <a:off x="9454844" y="4898241"/>
            <a:ext cx="1562225" cy="553998"/>
          </a:xfrm>
          <a:prstGeom prst="rect">
            <a:avLst/>
          </a:prstGeom>
          <a:noFill/>
        </p:spPr>
        <p:txBody>
          <a:bodyPr wrap="square" rtlCol="0">
            <a:spAutoFit/>
          </a:bodyPr>
          <a:lstStyle/>
          <a:p>
            <a:pPr algn="ctr"/>
            <a:r>
              <a:rPr lang="en-IN" sz="1500" dirty="0"/>
              <a:t>Interpretation &amp; Insights</a:t>
            </a:r>
            <a:endParaRPr lang="en-IN" sz="1500" b="1" dirty="0"/>
          </a:p>
        </p:txBody>
      </p:sp>
      <p:sp>
        <p:nvSpPr>
          <p:cNvPr id="12" name="TextBox 11">
            <a:extLst>
              <a:ext uri="{FF2B5EF4-FFF2-40B4-BE49-F238E27FC236}">
                <a16:creationId xmlns:a16="http://schemas.microsoft.com/office/drawing/2014/main" id="{4FE72CC1-0C71-49CC-A735-CBD2833C11AE}"/>
              </a:ext>
            </a:extLst>
          </p:cNvPr>
          <p:cNvSpPr txBox="1">
            <a:spLocks noGrp="1" noRot="1" noMove="1" noResize="1" noEditPoints="1" noAdjustHandles="1" noChangeArrowheads="1" noChangeShapeType="1"/>
          </p:cNvSpPr>
          <p:nvPr/>
        </p:nvSpPr>
        <p:spPr>
          <a:xfrm>
            <a:off x="9156450" y="5463307"/>
            <a:ext cx="1562225" cy="461665"/>
          </a:xfrm>
          <a:prstGeom prst="rect">
            <a:avLst/>
          </a:prstGeom>
          <a:noFill/>
        </p:spPr>
        <p:txBody>
          <a:bodyPr wrap="square" rtlCol="0">
            <a:spAutoFit/>
          </a:bodyPr>
          <a:lstStyle/>
          <a:p>
            <a:pPr algn="ctr"/>
            <a:r>
              <a:rPr lang="en-IN" sz="1200" dirty="0"/>
              <a:t>Conclusion &amp; Recommendations</a:t>
            </a:r>
            <a:endParaRPr lang="en-IN" sz="1200" b="1" dirty="0"/>
          </a:p>
        </p:txBody>
      </p:sp>
      <p:sp>
        <p:nvSpPr>
          <p:cNvPr id="14" name="TextBox 13">
            <a:extLst>
              <a:ext uri="{FF2B5EF4-FFF2-40B4-BE49-F238E27FC236}">
                <a16:creationId xmlns:a16="http://schemas.microsoft.com/office/drawing/2014/main" id="{E87B23ED-369C-0CA9-7E15-DFA51A825413}"/>
              </a:ext>
            </a:extLst>
          </p:cNvPr>
          <p:cNvSpPr txBox="1">
            <a:spLocks noGrp="1" noRot="1" noMove="1" noResize="1" noEditPoints="1" noAdjustHandles="1" noChangeArrowheads="1" noChangeShapeType="1"/>
          </p:cNvSpPr>
          <p:nvPr/>
        </p:nvSpPr>
        <p:spPr>
          <a:xfrm>
            <a:off x="6961943" y="2896897"/>
            <a:ext cx="1454432" cy="1077218"/>
          </a:xfrm>
          <a:prstGeom prst="rect">
            <a:avLst/>
          </a:prstGeom>
          <a:noFill/>
        </p:spPr>
        <p:txBody>
          <a:bodyPr wrap="square" rtlCol="0">
            <a:spAutoFit/>
          </a:bodyPr>
          <a:lstStyle/>
          <a:p>
            <a:pPr algn="ctr"/>
            <a:r>
              <a:rPr lang="en-US" sz="1600" b="1" dirty="0">
                <a:solidFill>
                  <a:schemeClr val="accent1">
                    <a:lumMod val="20000"/>
                    <a:lumOff val="80000"/>
                  </a:schemeClr>
                </a:solidFill>
                <a:latin typeface="Century" panose="02040604050505020304" pitchFamily="18" charset="0"/>
              </a:rPr>
              <a:t>Capstone Journey : Step by </a:t>
            </a:r>
            <a:br>
              <a:rPr lang="en-US" sz="1600" b="1" dirty="0">
                <a:solidFill>
                  <a:schemeClr val="accent1">
                    <a:lumMod val="20000"/>
                    <a:lumOff val="80000"/>
                  </a:schemeClr>
                </a:solidFill>
                <a:latin typeface="Century" panose="02040604050505020304" pitchFamily="18" charset="0"/>
              </a:rPr>
            </a:br>
            <a:r>
              <a:rPr lang="en-US" sz="1600" b="1" dirty="0">
                <a:solidFill>
                  <a:schemeClr val="accent1">
                    <a:lumMod val="20000"/>
                    <a:lumOff val="80000"/>
                  </a:schemeClr>
                </a:solidFill>
                <a:latin typeface="Century" panose="02040604050505020304" pitchFamily="18" charset="0"/>
              </a:rPr>
              <a:t>Step</a:t>
            </a:r>
          </a:p>
        </p:txBody>
      </p:sp>
    </p:spTree>
    <p:extLst>
      <p:ext uri="{BB962C8B-B14F-4D97-AF65-F5344CB8AC3E}">
        <p14:creationId xmlns:p14="http://schemas.microsoft.com/office/powerpoint/2010/main" val="681990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C0CFAE59-A7E1-CEA5-ABCF-9C6158DFE08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EED09FC-0B11-0CF7-F33B-D828E8B56082}"/>
              </a:ext>
            </a:extLst>
          </p:cNvPr>
          <p:cNvSpPr>
            <a:spLocks noGrp="1" noRot="1" noMove="1" noResize="1" noEditPoints="1" noAdjustHandles="1" noChangeArrowheads="1" noChangeShapeType="1"/>
          </p:cNvSpPr>
          <p:nvPr>
            <p:ph type="body" idx="1"/>
          </p:nvPr>
        </p:nvSpPr>
        <p:spPr>
          <a:xfrm>
            <a:off x="443974" y="202005"/>
            <a:ext cx="11304052" cy="686758"/>
          </a:xfrm>
        </p:spPr>
        <p:txBody>
          <a:bodyPr>
            <a:normAutofit/>
          </a:bodyPr>
          <a:lstStyle/>
          <a:p>
            <a:r>
              <a:rPr lang="en-US" sz="4000" b="1" dirty="0">
                <a:solidFill>
                  <a:srgbClr val="002060"/>
                </a:solidFill>
              </a:rPr>
              <a:t>Data Cleaning and Organization Summary</a:t>
            </a:r>
            <a:r>
              <a:rPr lang="en-IN" sz="4000" b="1" dirty="0">
                <a:solidFill>
                  <a:srgbClr val="002060"/>
                </a:solidFill>
              </a:rPr>
              <a:t>:</a:t>
            </a:r>
          </a:p>
          <a:p>
            <a:pPr lvl="1"/>
            <a:endParaRPr lang="en-US" sz="1800" b="1" dirty="0">
              <a:solidFill>
                <a:schemeClr val="tx1"/>
              </a:solidFill>
            </a:endParaRPr>
          </a:p>
        </p:txBody>
      </p:sp>
      <p:graphicFrame>
        <p:nvGraphicFramePr>
          <p:cNvPr id="26" name="Diagram 25">
            <a:extLst>
              <a:ext uri="{FF2B5EF4-FFF2-40B4-BE49-F238E27FC236}">
                <a16:creationId xmlns:a16="http://schemas.microsoft.com/office/drawing/2014/main" id="{006F01DB-989A-4274-A003-0ACC6682F093}"/>
              </a:ext>
            </a:extLst>
          </p:cNvPr>
          <p:cNvGraphicFramePr>
            <a:graphicFrameLocks noGrp="1" noDrilldown="1" noMove="1" noResize="1"/>
          </p:cNvGraphicFramePr>
          <p:nvPr>
            <p:extLst>
              <p:ext uri="{D42A27DB-BD31-4B8C-83A1-F6EECF244321}">
                <p14:modId xmlns:p14="http://schemas.microsoft.com/office/powerpoint/2010/main" val="2526023916"/>
              </p:ext>
            </p:extLst>
          </p:nvPr>
        </p:nvGraphicFramePr>
        <p:xfrm>
          <a:off x="4449575" y="937548"/>
          <a:ext cx="3292850" cy="50105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0" name="TextBox 29">
            <a:extLst>
              <a:ext uri="{FF2B5EF4-FFF2-40B4-BE49-F238E27FC236}">
                <a16:creationId xmlns:a16="http://schemas.microsoft.com/office/drawing/2014/main" id="{D7AD1CFA-5725-1007-C7F2-03BB38A76604}"/>
              </a:ext>
            </a:extLst>
          </p:cNvPr>
          <p:cNvSpPr txBox="1">
            <a:spLocks noGrp="1" noRot="1" noMove="1" noResize="1" noEditPoints="1" noAdjustHandles="1" noChangeArrowheads="1" noChangeShapeType="1"/>
          </p:cNvSpPr>
          <p:nvPr/>
        </p:nvSpPr>
        <p:spPr>
          <a:xfrm>
            <a:off x="327053" y="6255885"/>
            <a:ext cx="11304052" cy="400110"/>
          </a:xfrm>
          <a:prstGeom prst="rect">
            <a:avLst/>
          </a:prstGeom>
          <a:noFill/>
        </p:spPr>
        <p:txBody>
          <a:bodyPr wrap="square">
            <a:spAutoFit/>
          </a:bodyPr>
          <a:lstStyle/>
          <a:p>
            <a:pPr algn="ctr"/>
            <a:r>
              <a:rPr lang="en-US" sz="2000" i="0" dirty="0">
                <a:effectLst/>
                <a:latin typeface="Times New Roman" panose="02020603050405020304" pitchFamily="18" charset="0"/>
                <a:cs typeface="Times New Roman" panose="02020603050405020304" pitchFamily="18" charset="0"/>
              </a:rPr>
              <a:t>Initially </a:t>
            </a:r>
            <a:r>
              <a:rPr lang="en-US" sz="2000" dirty="0">
                <a:latin typeface="Times New Roman" panose="02020603050405020304" pitchFamily="18" charset="0"/>
                <a:cs typeface="Times New Roman" panose="02020603050405020304" pitchFamily="18" charset="0"/>
              </a:rPr>
              <a:t>There was </a:t>
            </a:r>
            <a:r>
              <a:rPr lang="en-US" sz="2000" b="1" dirty="0">
                <a:solidFill>
                  <a:srgbClr val="002060"/>
                </a:solidFill>
                <a:latin typeface="Times New Roman" panose="02020603050405020304" pitchFamily="18" charset="0"/>
                <a:cs typeface="Times New Roman" panose="02020603050405020304" pitchFamily="18" charset="0"/>
              </a:rPr>
              <a:t>57 Columns </a:t>
            </a:r>
            <a:r>
              <a:rPr lang="en-US" sz="2000" dirty="0">
                <a:latin typeface="Times New Roman" panose="02020603050405020304" pitchFamily="18" charset="0"/>
                <a:cs typeface="Times New Roman" panose="02020603050405020304" pitchFamily="18" charset="0"/>
              </a:rPr>
              <a:t>and </a:t>
            </a:r>
            <a:r>
              <a:rPr lang="en-US" sz="2000" i="0" dirty="0">
                <a:effectLst/>
                <a:latin typeface="Times New Roman" panose="02020603050405020304" pitchFamily="18" charset="0"/>
                <a:cs typeface="Times New Roman" panose="02020603050405020304" pitchFamily="18" charset="0"/>
              </a:rPr>
              <a:t>After data cleaning and preprocessing, </a:t>
            </a:r>
            <a:r>
              <a:rPr lang="en-US" sz="2000" b="1" i="0" dirty="0">
                <a:solidFill>
                  <a:srgbClr val="002060"/>
                </a:solidFill>
                <a:effectLst/>
                <a:latin typeface="Times New Roman" panose="02020603050405020304" pitchFamily="18" charset="0"/>
                <a:cs typeface="Times New Roman" panose="02020603050405020304" pitchFamily="18" charset="0"/>
              </a:rPr>
              <a:t>35 columns remained</a:t>
            </a:r>
            <a:endParaRPr lang="en-IN" sz="20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909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74619E7E-270B-CD5F-D401-328C223BC9F5}"/>
            </a:ext>
          </a:extLst>
        </p:cNvPr>
        <p:cNvGrpSpPr/>
        <p:nvPr/>
      </p:nvGrpSpPr>
      <p:grpSpPr>
        <a:xfrm>
          <a:off x="0" y="0"/>
          <a:ext cx="0" cy="0"/>
          <a:chOff x="0" y="0"/>
          <a:chExt cx="0" cy="0"/>
        </a:xfrm>
      </p:grpSpPr>
      <p:sp>
        <p:nvSpPr>
          <p:cNvPr id="36" name="TextBox 35">
            <a:extLst>
              <a:ext uri="{FF2B5EF4-FFF2-40B4-BE49-F238E27FC236}">
                <a16:creationId xmlns:a16="http://schemas.microsoft.com/office/drawing/2014/main" id="{14BA8F1B-459D-64ED-9500-DAF269CAFBD7}"/>
              </a:ext>
            </a:extLst>
          </p:cNvPr>
          <p:cNvSpPr txBox="1">
            <a:spLocks noGrp="1" noRot="1" noMove="1" noResize="1" noEditPoints="1" noAdjustHandles="1" noChangeArrowheads="1" noChangeShapeType="1"/>
          </p:cNvSpPr>
          <p:nvPr/>
        </p:nvSpPr>
        <p:spPr>
          <a:xfrm>
            <a:off x="120511" y="108642"/>
            <a:ext cx="2733525" cy="2308324"/>
          </a:xfrm>
          <a:prstGeom prst="rect">
            <a:avLst/>
          </a:prstGeom>
          <a:noFill/>
          <a:ln>
            <a:solidFill>
              <a:srgbClr val="002060"/>
            </a:solidFill>
          </a:ln>
        </p:spPr>
        <p:txBody>
          <a:bodyPr wrap="square" rtlCol="0">
            <a:spAutoFit/>
          </a:bodyPr>
          <a:lstStyle/>
          <a:p>
            <a:pPr algn="ctr"/>
            <a:r>
              <a:rPr lang="en-IN" sz="3600" b="1" dirty="0">
                <a:solidFill>
                  <a:srgbClr val="002060"/>
                </a:solidFill>
                <a:latin typeface="Times New Roman" panose="02020603050405020304" pitchFamily="18" charset="0"/>
                <a:cs typeface="Times New Roman" panose="02020603050405020304" pitchFamily="18" charset="0"/>
              </a:rPr>
              <a:t>Focus Areas Of Football Data Analysis</a:t>
            </a:r>
          </a:p>
        </p:txBody>
      </p:sp>
      <p:grpSp>
        <p:nvGrpSpPr>
          <p:cNvPr id="13" name="Group 12">
            <a:extLst>
              <a:ext uri="{FF2B5EF4-FFF2-40B4-BE49-F238E27FC236}">
                <a16:creationId xmlns:a16="http://schemas.microsoft.com/office/drawing/2014/main" id="{F8A46BA7-BA4B-F4F3-D71A-1816A573FBAB}"/>
              </a:ext>
            </a:extLst>
          </p:cNvPr>
          <p:cNvGrpSpPr>
            <a:grpSpLocks noGrp="1" noUngrp="1" noRot="1" noMove="1" noResize="1"/>
          </p:cNvGrpSpPr>
          <p:nvPr/>
        </p:nvGrpSpPr>
        <p:grpSpPr>
          <a:xfrm>
            <a:off x="3389550" y="472155"/>
            <a:ext cx="5428396" cy="5913691"/>
            <a:chOff x="3368080" y="293479"/>
            <a:chExt cx="5428396" cy="5913691"/>
          </a:xfrm>
        </p:grpSpPr>
        <p:grpSp>
          <p:nvGrpSpPr>
            <p:cNvPr id="7" name="Group 6">
              <a:extLst>
                <a:ext uri="{FF2B5EF4-FFF2-40B4-BE49-F238E27FC236}">
                  <a16:creationId xmlns:a16="http://schemas.microsoft.com/office/drawing/2014/main" id="{E403A3B1-80D4-7F96-B559-5FA3C3233DBD}"/>
                </a:ext>
              </a:extLst>
            </p:cNvPr>
            <p:cNvGrpSpPr>
              <a:grpSpLocks noGrp="1" noUngrp="1" noRot="1" noMove="1" noResize="1"/>
            </p:cNvGrpSpPr>
            <p:nvPr/>
          </p:nvGrpSpPr>
          <p:grpSpPr>
            <a:xfrm>
              <a:off x="5002517" y="2225964"/>
              <a:ext cx="2209448" cy="2406071"/>
              <a:chOff x="5002517" y="2225964"/>
              <a:chExt cx="2209448" cy="2406071"/>
            </a:xfrm>
          </p:grpSpPr>
          <p:grpSp>
            <p:nvGrpSpPr>
              <p:cNvPr id="10" name="Group 9">
                <a:extLst>
                  <a:ext uri="{FF2B5EF4-FFF2-40B4-BE49-F238E27FC236}">
                    <a16:creationId xmlns:a16="http://schemas.microsoft.com/office/drawing/2014/main" id="{D78CBF6F-A807-A711-A486-49B2D78D4F1C}"/>
                  </a:ext>
                </a:extLst>
              </p:cNvPr>
              <p:cNvGrpSpPr>
                <a:grpSpLocks noGrp="1" noUngrp="1" noRot="1" noMove="1" noResize="1"/>
              </p:cNvGrpSpPr>
              <p:nvPr/>
            </p:nvGrpSpPr>
            <p:grpSpPr>
              <a:xfrm>
                <a:off x="5235487" y="2590491"/>
                <a:ext cx="1721026" cy="1677017"/>
                <a:chOff x="6367604" y="2366662"/>
                <a:chExt cx="1323692" cy="1311873"/>
              </a:xfrm>
            </p:grpSpPr>
            <p:sp>
              <p:nvSpPr>
                <p:cNvPr id="8" name="Oval 7">
                  <a:extLst>
                    <a:ext uri="{FF2B5EF4-FFF2-40B4-BE49-F238E27FC236}">
                      <a16:creationId xmlns:a16="http://schemas.microsoft.com/office/drawing/2014/main" id="{2F9EED19-F395-C792-CC14-EF32731EB7CE}"/>
                    </a:ext>
                  </a:extLst>
                </p:cNvPr>
                <p:cNvSpPr>
                  <a:spLocks noGrp="1" noRot="1" noChangeAspect="1" noMove="1" noResize="1" noEditPoints="1" noAdjustHandles="1" noChangeArrowheads="1" noChangeShapeType="1"/>
                </p:cNvSpPr>
                <p:nvPr/>
              </p:nvSpPr>
              <p:spPr>
                <a:xfrm>
                  <a:off x="6367604" y="2366662"/>
                  <a:ext cx="1323692" cy="1311873"/>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Times New Roman" panose="02020603050405020304" pitchFamily="18" charset="0"/>
                      <a:cs typeface="Times New Roman" panose="02020603050405020304" pitchFamily="18" charset="0"/>
                    </a:rPr>
                    <a:t>Focus Areas</a:t>
                  </a:r>
                  <a:endParaRPr lang="en-IN" sz="2400" dirty="0">
                    <a:solidFill>
                      <a:schemeClr val="bg1"/>
                    </a:solidFill>
                  </a:endParaRPr>
                </a:p>
              </p:txBody>
            </p:sp>
            <p:sp>
              <p:nvSpPr>
                <p:cNvPr id="9" name="Oval 8">
                  <a:extLst>
                    <a:ext uri="{FF2B5EF4-FFF2-40B4-BE49-F238E27FC236}">
                      <a16:creationId xmlns:a16="http://schemas.microsoft.com/office/drawing/2014/main" id="{9DBCC23E-D5E6-19A7-8989-1BDA25E47407}"/>
                    </a:ext>
                  </a:extLst>
                </p:cNvPr>
                <p:cNvSpPr>
                  <a:spLocks noGrp="1" noRot="1" noChangeAspect="1" noMove="1" noResize="1" noEditPoints="1" noAdjustHandles="1" noChangeArrowheads="1" noChangeShapeType="1"/>
                </p:cNvSpPr>
                <p:nvPr/>
              </p:nvSpPr>
              <p:spPr>
                <a:xfrm>
                  <a:off x="6550884" y="2548308"/>
                  <a:ext cx="957129" cy="948583"/>
                </a:xfrm>
                <a:prstGeom prst="ellipse">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grpSp>
          <p:sp>
            <p:nvSpPr>
              <p:cNvPr id="30" name="Isosceles Triangle 29">
                <a:extLst>
                  <a:ext uri="{FF2B5EF4-FFF2-40B4-BE49-F238E27FC236}">
                    <a16:creationId xmlns:a16="http://schemas.microsoft.com/office/drawing/2014/main" id="{3AEDA26D-C8FF-F858-9289-065571F680AE}"/>
                  </a:ext>
                </a:extLst>
              </p:cNvPr>
              <p:cNvSpPr>
                <a:spLocks noGrp="1" noRot="1" noMove="1" noResize="1" noEditPoints="1" noAdjustHandles="1" noChangeArrowheads="1" noChangeShapeType="1"/>
              </p:cNvSpPr>
              <p:nvPr/>
            </p:nvSpPr>
            <p:spPr>
              <a:xfrm>
                <a:off x="6073138" y="2225964"/>
                <a:ext cx="45719" cy="364527"/>
              </a:xfrm>
              <a:prstGeom prst="triangl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Isosceles Triangle 30">
                <a:extLst>
                  <a:ext uri="{FF2B5EF4-FFF2-40B4-BE49-F238E27FC236}">
                    <a16:creationId xmlns:a16="http://schemas.microsoft.com/office/drawing/2014/main" id="{C4662A9D-E9C7-020E-BFDF-4FCD4FBE41BA}"/>
                  </a:ext>
                </a:extLst>
              </p:cNvPr>
              <p:cNvSpPr>
                <a:spLocks noGrp="1" noRot="1" noMove="1" noResize="1" noEditPoints="1" noAdjustHandles="1" noChangeArrowheads="1" noChangeShapeType="1"/>
              </p:cNvSpPr>
              <p:nvPr/>
            </p:nvSpPr>
            <p:spPr>
              <a:xfrm rot="3411341">
                <a:off x="7006842" y="2759225"/>
                <a:ext cx="45719" cy="364527"/>
              </a:xfrm>
              <a:prstGeom prst="triangl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Isosceles Triangle 31">
                <a:extLst>
                  <a:ext uri="{FF2B5EF4-FFF2-40B4-BE49-F238E27FC236}">
                    <a16:creationId xmlns:a16="http://schemas.microsoft.com/office/drawing/2014/main" id="{B4E6928A-5F81-D2D9-280C-676FD45686B3}"/>
                  </a:ext>
                </a:extLst>
              </p:cNvPr>
              <p:cNvSpPr>
                <a:spLocks noGrp="1" noRot="1" noMove="1" noResize="1" noEditPoints="1" noAdjustHandles="1" noChangeArrowheads="1" noChangeShapeType="1"/>
              </p:cNvSpPr>
              <p:nvPr/>
            </p:nvSpPr>
            <p:spPr>
              <a:xfrm rot="7141762">
                <a:off x="6984750" y="3744611"/>
                <a:ext cx="45719" cy="364527"/>
              </a:xfrm>
              <a:prstGeom prst="triangl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Isosceles Triangle 32">
                <a:extLst>
                  <a:ext uri="{FF2B5EF4-FFF2-40B4-BE49-F238E27FC236}">
                    <a16:creationId xmlns:a16="http://schemas.microsoft.com/office/drawing/2014/main" id="{BD6B713B-4DAF-C717-E64C-1254883B5E1E}"/>
                  </a:ext>
                </a:extLst>
              </p:cNvPr>
              <p:cNvSpPr>
                <a:spLocks noGrp="1" noRot="1" noMove="1" noResize="1" noEditPoints="1" noAdjustHandles="1" noChangeArrowheads="1" noChangeShapeType="1"/>
              </p:cNvSpPr>
              <p:nvPr/>
            </p:nvSpPr>
            <p:spPr>
              <a:xfrm rot="10800000">
                <a:off x="6095528" y="4267508"/>
                <a:ext cx="45719" cy="364527"/>
              </a:xfrm>
              <a:prstGeom prst="triangl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Isosceles Triangle 33">
                <a:extLst>
                  <a:ext uri="{FF2B5EF4-FFF2-40B4-BE49-F238E27FC236}">
                    <a16:creationId xmlns:a16="http://schemas.microsoft.com/office/drawing/2014/main" id="{F0E21A76-9EEA-DB8D-196E-5B5C98D94942}"/>
                  </a:ext>
                </a:extLst>
              </p:cNvPr>
              <p:cNvSpPr>
                <a:spLocks noGrp="1" noRot="1" noMove="1" noResize="1" noEditPoints="1" noAdjustHandles="1" noChangeArrowheads="1" noChangeShapeType="1"/>
              </p:cNvSpPr>
              <p:nvPr/>
            </p:nvSpPr>
            <p:spPr>
              <a:xfrm rot="14478075">
                <a:off x="5161921" y="3743754"/>
                <a:ext cx="45719" cy="364527"/>
              </a:xfrm>
              <a:prstGeom prst="triangl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Isosceles Triangle 34">
                <a:extLst>
                  <a:ext uri="{FF2B5EF4-FFF2-40B4-BE49-F238E27FC236}">
                    <a16:creationId xmlns:a16="http://schemas.microsoft.com/office/drawing/2014/main" id="{63FCB8D0-4F04-1AB1-F64A-D26C0963F6DD}"/>
                  </a:ext>
                </a:extLst>
              </p:cNvPr>
              <p:cNvSpPr>
                <a:spLocks noGrp="1" noRot="1" noMove="1" noResize="1" noEditPoints="1" noAdjustHandles="1" noChangeArrowheads="1" noChangeShapeType="1"/>
              </p:cNvSpPr>
              <p:nvPr/>
            </p:nvSpPr>
            <p:spPr>
              <a:xfrm rot="17924574">
                <a:off x="5170705" y="2748121"/>
                <a:ext cx="45719" cy="364527"/>
              </a:xfrm>
              <a:prstGeom prst="triangl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 name="Group 5">
              <a:extLst>
                <a:ext uri="{FF2B5EF4-FFF2-40B4-BE49-F238E27FC236}">
                  <a16:creationId xmlns:a16="http://schemas.microsoft.com/office/drawing/2014/main" id="{828F2204-E40A-C716-B80E-A8F83182945B}"/>
                </a:ext>
              </a:extLst>
            </p:cNvPr>
            <p:cNvGrpSpPr>
              <a:grpSpLocks noGrp="1" noUngrp="1" noRot="1" noMove="1" noResize="1"/>
            </p:cNvGrpSpPr>
            <p:nvPr/>
          </p:nvGrpSpPr>
          <p:grpSpPr>
            <a:xfrm>
              <a:off x="7070581" y="1465769"/>
              <a:ext cx="1725895" cy="1705153"/>
              <a:chOff x="7070581" y="1465769"/>
              <a:chExt cx="1725895" cy="1705153"/>
            </a:xfrm>
          </p:grpSpPr>
          <p:sp>
            <p:nvSpPr>
              <p:cNvPr id="25" name="Oval 24">
                <a:extLst>
                  <a:ext uri="{FF2B5EF4-FFF2-40B4-BE49-F238E27FC236}">
                    <a16:creationId xmlns:a16="http://schemas.microsoft.com/office/drawing/2014/main" id="{C9EBDBC0-81CF-E95F-8127-F8E4F834166B}"/>
                  </a:ext>
                </a:extLst>
              </p:cNvPr>
              <p:cNvSpPr>
                <a:spLocks noGrp="1" noRot="1" noChangeAspect="1" noMove="1" noResize="1" noEditPoints="1" noAdjustHandles="1" noChangeArrowheads="1" noChangeShapeType="1"/>
              </p:cNvSpPr>
              <p:nvPr/>
            </p:nvSpPr>
            <p:spPr>
              <a:xfrm>
                <a:off x="7194810" y="1726521"/>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49" name="TextBox 48">
                <a:extLst>
                  <a:ext uri="{FF2B5EF4-FFF2-40B4-BE49-F238E27FC236}">
                    <a16:creationId xmlns:a16="http://schemas.microsoft.com/office/drawing/2014/main" id="{E3F4DF2E-3B1F-0140-D7CB-28FA4B3AF6B6}"/>
                  </a:ext>
                </a:extLst>
              </p:cNvPr>
              <p:cNvSpPr txBox="1">
                <a:spLocks noGrp="1" noRot="1" noMove="1" noResize="1" noEditPoints="1" noAdjustHandles="1" noChangeArrowheads="1" noChangeShapeType="1"/>
              </p:cNvSpPr>
              <p:nvPr/>
            </p:nvSpPr>
            <p:spPr>
              <a:xfrm>
                <a:off x="7075450" y="1812682"/>
                <a:ext cx="1721026" cy="1200329"/>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b="1" dirty="0">
                    <a:solidFill>
                      <a:schemeClr val="bg1">
                        <a:lumMod val="95000"/>
                      </a:schemeClr>
                    </a:solidFill>
                    <a:latin typeface="Times New Roman" panose="02020603050405020304" pitchFamily="18" charset="0"/>
                    <a:cs typeface="Times New Roman" panose="02020603050405020304" pitchFamily="18" charset="0"/>
                  </a:rPr>
                  <a:t>Performance Analysis</a:t>
                </a:r>
              </a:p>
            </p:txBody>
          </p:sp>
          <p:sp>
            <p:nvSpPr>
              <p:cNvPr id="55" name="TextBox 54">
                <a:extLst>
                  <a:ext uri="{FF2B5EF4-FFF2-40B4-BE49-F238E27FC236}">
                    <a16:creationId xmlns:a16="http://schemas.microsoft.com/office/drawing/2014/main" id="{BBF7C4F4-2613-C619-C653-693ED25190AB}"/>
                  </a:ext>
                </a:extLst>
              </p:cNvPr>
              <p:cNvSpPr txBox="1">
                <a:spLocks noGrp="1" noRot="1" noMove="1" noResize="1" noEditPoints="1" noAdjustHandles="1" noChangeArrowheads="1" noChangeShapeType="1"/>
              </p:cNvSpPr>
              <p:nvPr/>
            </p:nvSpPr>
            <p:spPr>
              <a:xfrm>
                <a:off x="7070581" y="1465769"/>
                <a:ext cx="1721026" cy="923330"/>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3600" b="1" dirty="0">
                    <a:solidFill>
                      <a:schemeClr val="bg1"/>
                    </a:solidFill>
                    <a:latin typeface="Times New Roman" panose="02020603050405020304" pitchFamily="18" charset="0"/>
                    <a:cs typeface="Times New Roman" panose="02020603050405020304" pitchFamily="18" charset="0"/>
                  </a:rPr>
                  <a:t>1</a:t>
                </a:r>
              </a:p>
            </p:txBody>
          </p:sp>
        </p:grpSp>
        <p:grpSp>
          <p:nvGrpSpPr>
            <p:cNvPr id="12" name="Group 11">
              <a:extLst>
                <a:ext uri="{FF2B5EF4-FFF2-40B4-BE49-F238E27FC236}">
                  <a16:creationId xmlns:a16="http://schemas.microsoft.com/office/drawing/2014/main" id="{046E82E1-1F2B-6C85-5950-12F07EDE3282}"/>
                </a:ext>
              </a:extLst>
            </p:cNvPr>
            <p:cNvGrpSpPr>
              <a:grpSpLocks noGrp="1" noUngrp="1" noRot="1" noMove="1" noResize="1"/>
            </p:cNvGrpSpPr>
            <p:nvPr/>
          </p:nvGrpSpPr>
          <p:grpSpPr>
            <a:xfrm>
              <a:off x="5235014" y="293479"/>
              <a:ext cx="1721026" cy="1801752"/>
              <a:chOff x="5235014" y="293479"/>
              <a:chExt cx="1721026" cy="1801752"/>
            </a:xfrm>
          </p:grpSpPr>
          <p:sp>
            <p:nvSpPr>
              <p:cNvPr id="22" name="Oval 21">
                <a:extLst>
                  <a:ext uri="{FF2B5EF4-FFF2-40B4-BE49-F238E27FC236}">
                    <a16:creationId xmlns:a16="http://schemas.microsoft.com/office/drawing/2014/main" id="{63751304-9D3E-325D-A5F8-4EE961104984}"/>
                  </a:ext>
                </a:extLst>
              </p:cNvPr>
              <p:cNvSpPr>
                <a:spLocks noGrp="1" noRot="1" noChangeAspect="1" noMove="1" noResize="1" noEditPoints="1" noAdjustHandles="1" noChangeArrowheads="1" noChangeShapeType="1"/>
              </p:cNvSpPr>
              <p:nvPr/>
            </p:nvSpPr>
            <p:spPr>
              <a:xfrm>
                <a:off x="5354846" y="650830"/>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56" name="TextBox 55">
                <a:extLst>
                  <a:ext uri="{FF2B5EF4-FFF2-40B4-BE49-F238E27FC236}">
                    <a16:creationId xmlns:a16="http://schemas.microsoft.com/office/drawing/2014/main" id="{678B0D64-E9C6-D7E7-6E60-6F08E1C32F71}"/>
                  </a:ext>
                </a:extLst>
              </p:cNvPr>
              <p:cNvSpPr txBox="1">
                <a:spLocks noGrp="1" noRot="1" noMove="1" noResize="1" noEditPoints="1" noAdjustHandles="1" noChangeArrowheads="1" noChangeShapeType="1"/>
              </p:cNvSpPr>
              <p:nvPr/>
            </p:nvSpPr>
            <p:spPr>
              <a:xfrm>
                <a:off x="5235014" y="293479"/>
                <a:ext cx="1721026" cy="923330"/>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3600" b="1" dirty="0">
                    <a:solidFill>
                      <a:schemeClr val="bg1">
                        <a:lumMod val="95000"/>
                      </a:schemeClr>
                    </a:solidFill>
                    <a:latin typeface="Times New Roman" panose="02020603050405020304" pitchFamily="18" charset="0"/>
                    <a:cs typeface="Times New Roman" panose="02020603050405020304" pitchFamily="18" charset="0"/>
                  </a:rPr>
                  <a:t>6</a:t>
                </a:r>
              </a:p>
            </p:txBody>
          </p:sp>
        </p:grpSp>
        <p:grpSp>
          <p:nvGrpSpPr>
            <p:cNvPr id="3" name="Group 2">
              <a:extLst>
                <a:ext uri="{FF2B5EF4-FFF2-40B4-BE49-F238E27FC236}">
                  <a16:creationId xmlns:a16="http://schemas.microsoft.com/office/drawing/2014/main" id="{573D0A84-271D-A2D0-B8F0-31795827AA0E}"/>
                </a:ext>
              </a:extLst>
            </p:cNvPr>
            <p:cNvGrpSpPr>
              <a:grpSpLocks noGrp="1" noUngrp="1" noRot="1" noMove="1" noResize="1"/>
            </p:cNvGrpSpPr>
            <p:nvPr/>
          </p:nvGrpSpPr>
          <p:grpSpPr>
            <a:xfrm>
              <a:off x="3395525" y="1408653"/>
              <a:ext cx="1721026" cy="1762269"/>
              <a:chOff x="3395525" y="1408653"/>
              <a:chExt cx="1721026" cy="1762269"/>
            </a:xfrm>
          </p:grpSpPr>
          <p:sp>
            <p:nvSpPr>
              <p:cNvPr id="27" name="Oval 26">
                <a:extLst>
                  <a:ext uri="{FF2B5EF4-FFF2-40B4-BE49-F238E27FC236}">
                    <a16:creationId xmlns:a16="http://schemas.microsoft.com/office/drawing/2014/main" id="{12EE31C1-71DB-C3B9-1476-B00FE142438B}"/>
                  </a:ext>
                </a:extLst>
              </p:cNvPr>
              <p:cNvSpPr>
                <a:spLocks noGrp="1" noRot="1" noChangeAspect="1" noMove="1" noResize="1" noEditPoints="1" noAdjustHandles="1" noChangeArrowheads="1" noChangeShapeType="1"/>
              </p:cNvSpPr>
              <p:nvPr/>
            </p:nvSpPr>
            <p:spPr>
              <a:xfrm>
                <a:off x="3514882" y="1726521"/>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53" name="TextBox 52">
                <a:extLst>
                  <a:ext uri="{FF2B5EF4-FFF2-40B4-BE49-F238E27FC236}">
                    <a16:creationId xmlns:a16="http://schemas.microsoft.com/office/drawing/2014/main" id="{00254663-130A-CE2C-C33C-84848B582A98}"/>
                  </a:ext>
                </a:extLst>
              </p:cNvPr>
              <p:cNvSpPr txBox="1">
                <a:spLocks noGrp="1" noRot="1" noMove="1" noResize="1" noEditPoints="1" noAdjustHandles="1" noChangeArrowheads="1" noChangeShapeType="1"/>
              </p:cNvSpPr>
              <p:nvPr/>
            </p:nvSpPr>
            <p:spPr>
              <a:xfrm>
                <a:off x="3497433" y="2148635"/>
                <a:ext cx="1561862" cy="807913"/>
              </a:xfrm>
              <a:prstGeom prst="rect">
                <a:avLst/>
              </a:prstGeom>
              <a:noFill/>
            </p:spPr>
            <p:txBody>
              <a:bodyPr wrap="square" rtlCol="0">
                <a:spAutoFit/>
              </a:bodyPr>
              <a:lstStyle/>
              <a:p>
                <a:pPr algn="ctr"/>
                <a:r>
                  <a:rPr lang="en-IN" sz="1550" b="1" dirty="0">
                    <a:solidFill>
                      <a:schemeClr val="bg1">
                        <a:lumMod val="95000"/>
                      </a:schemeClr>
                    </a:solidFill>
                    <a:latin typeface="Times New Roman" panose="02020603050405020304" pitchFamily="18" charset="0"/>
                    <a:cs typeface="Times New Roman" panose="02020603050405020304" pitchFamily="18" charset="0"/>
                  </a:rPr>
                  <a:t>Player Attributes &amp; Demographics</a:t>
                </a:r>
              </a:p>
            </p:txBody>
          </p:sp>
          <p:sp>
            <p:nvSpPr>
              <p:cNvPr id="57" name="TextBox 56">
                <a:extLst>
                  <a:ext uri="{FF2B5EF4-FFF2-40B4-BE49-F238E27FC236}">
                    <a16:creationId xmlns:a16="http://schemas.microsoft.com/office/drawing/2014/main" id="{2A186503-5000-E7E2-4CEF-AE61B4016837}"/>
                  </a:ext>
                </a:extLst>
              </p:cNvPr>
              <p:cNvSpPr txBox="1">
                <a:spLocks noGrp="1" noRot="1" noMove="1" noResize="1" noEditPoints="1" noAdjustHandles="1" noChangeArrowheads="1" noChangeShapeType="1"/>
              </p:cNvSpPr>
              <p:nvPr/>
            </p:nvSpPr>
            <p:spPr>
              <a:xfrm>
                <a:off x="3395525" y="1408653"/>
                <a:ext cx="1721026" cy="923330"/>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3600" b="1" dirty="0">
                    <a:solidFill>
                      <a:schemeClr val="bg1"/>
                    </a:solidFill>
                    <a:latin typeface="Times New Roman" panose="02020603050405020304" pitchFamily="18" charset="0"/>
                    <a:cs typeface="Times New Roman" panose="02020603050405020304" pitchFamily="18" charset="0"/>
                  </a:rPr>
                  <a:t>5</a:t>
                </a:r>
              </a:p>
            </p:txBody>
          </p:sp>
        </p:grpSp>
        <p:grpSp>
          <p:nvGrpSpPr>
            <p:cNvPr id="2" name="Group 1">
              <a:extLst>
                <a:ext uri="{FF2B5EF4-FFF2-40B4-BE49-F238E27FC236}">
                  <a16:creationId xmlns:a16="http://schemas.microsoft.com/office/drawing/2014/main" id="{D8B13E12-BB12-2DB6-1EC8-B562F04905E9}"/>
                </a:ext>
              </a:extLst>
            </p:cNvPr>
            <p:cNvGrpSpPr>
              <a:grpSpLocks noGrp="1" noUngrp="1" noRot="1" noMove="1" noResize="1"/>
            </p:cNvGrpSpPr>
            <p:nvPr/>
          </p:nvGrpSpPr>
          <p:grpSpPr>
            <a:xfrm>
              <a:off x="3368080" y="3441024"/>
              <a:ext cx="1721026" cy="1704002"/>
              <a:chOff x="3368080" y="3441024"/>
              <a:chExt cx="1721026" cy="1704002"/>
            </a:xfrm>
          </p:grpSpPr>
          <p:sp>
            <p:nvSpPr>
              <p:cNvPr id="29" name="Oval 28">
                <a:extLst>
                  <a:ext uri="{FF2B5EF4-FFF2-40B4-BE49-F238E27FC236}">
                    <a16:creationId xmlns:a16="http://schemas.microsoft.com/office/drawing/2014/main" id="{46F08B44-13BA-803E-609B-C770D9A95149}"/>
                  </a:ext>
                </a:extLst>
              </p:cNvPr>
              <p:cNvSpPr>
                <a:spLocks noGrp="1" noRot="1" noChangeAspect="1" noMove="1" noResize="1" noEditPoints="1" noAdjustHandles="1" noChangeArrowheads="1" noChangeShapeType="1"/>
              </p:cNvSpPr>
              <p:nvPr/>
            </p:nvSpPr>
            <p:spPr>
              <a:xfrm>
                <a:off x="3514882" y="3700625"/>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52" name="TextBox 51">
                <a:extLst>
                  <a:ext uri="{FF2B5EF4-FFF2-40B4-BE49-F238E27FC236}">
                    <a16:creationId xmlns:a16="http://schemas.microsoft.com/office/drawing/2014/main" id="{AB8493B1-A5B3-4A72-A365-A1273AE255E1}"/>
                  </a:ext>
                </a:extLst>
              </p:cNvPr>
              <p:cNvSpPr txBox="1">
                <a:spLocks noGrp="1" noRot="1" noMove="1" noResize="1" noEditPoints="1" noAdjustHandles="1" noChangeArrowheads="1" noChangeShapeType="1"/>
              </p:cNvSpPr>
              <p:nvPr/>
            </p:nvSpPr>
            <p:spPr>
              <a:xfrm>
                <a:off x="3462474" y="3684161"/>
                <a:ext cx="1603426" cy="1200329"/>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b="1" dirty="0">
                    <a:solidFill>
                      <a:schemeClr val="bg1">
                        <a:lumMod val="95000"/>
                      </a:schemeClr>
                    </a:solidFill>
                    <a:latin typeface="Times New Roman" panose="02020603050405020304" pitchFamily="18" charset="0"/>
                    <a:cs typeface="Times New Roman" panose="02020603050405020304" pitchFamily="18" charset="0"/>
                  </a:rPr>
                  <a:t>Team Comparison</a:t>
                </a:r>
              </a:p>
            </p:txBody>
          </p:sp>
          <p:sp>
            <p:nvSpPr>
              <p:cNvPr id="58" name="TextBox 57">
                <a:extLst>
                  <a:ext uri="{FF2B5EF4-FFF2-40B4-BE49-F238E27FC236}">
                    <a16:creationId xmlns:a16="http://schemas.microsoft.com/office/drawing/2014/main" id="{09AE99B2-89A3-DCCD-48ED-1DC332150AFA}"/>
                  </a:ext>
                </a:extLst>
              </p:cNvPr>
              <p:cNvSpPr txBox="1">
                <a:spLocks noGrp="1" noRot="1" noMove="1" noResize="1" noEditPoints="1" noAdjustHandles="1" noChangeArrowheads="1" noChangeShapeType="1"/>
              </p:cNvSpPr>
              <p:nvPr/>
            </p:nvSpPr>
            <p:spPr>
              <a:xfrm>
                <a:off x="3368080" y="3441024"/>
                <a:ext cx="1721026" cy="923330"/>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3600" b="1" dirty="0">
                    <a:solidFill>
                      <a:schemeClr val="bg1"/>
                    </a:solidFill>
                    <a:latin typeface="Times New Roman" panose="02020603050405020304" pitchFamily="18" charset="0"/>
                    <a:cs typeface="Times New Roman" panose="02020603050405020304" pitchFamily="18" charset="0"/>
                  </a:rPr>
                  <a:t>4</a:t>
                </a:r>
              </a:p>
            </p:txBody>
          </p:sp>
        </p:grpSp>
        <p:grpSp>
          <p:nvGrpSpPr>
            <p:cNvPr id="5" name="Group 4">
              <a:extLst>
                <a:ext uri="{FF2B5EF4-FFF2-40B4-BE49-F238E27FC236}">
                  <a16:creationId xmlns:a16="http://schemas.microsoft.com/office/drawing/2014/main" id="{AF169B08-06DA-D973-F054-C0B4FF435885}"/>
                </a:ext>
              </a:extLst>
            </p:cNvPr>
            <p:cNvGrpSpPr>
              <a:grpSpLocks noGrp="1" noUngrp="1" noRot="1" noMove="1" noResize="1"/>
            </p:cNvGrpSpPr>
            <p:nvPr/>
          </p:nvGrpSpPr>
          <p:grpSpPr>
            <a:xfrm>
              <a:off x="7070581" y="3389652"/>
              <a:ext cx="1722731" cy="2043409"/>
              <a:chOff x="7070581" y="3389652"/>
              <a:chExt cx="1722731" cy="2043409"/>
            </a:xfrm>
          </p:grpSpPr>
          <p:sp>
            <p:nvSpPr>
              <p:cNvPr id="26" name="Oval 25">
                <a:extLst>
                  <a:ext uri="{FF2B5EF4-FFF2-40B4-BE49-F238E27FC236}">
                    <a16:creationId xmlns:a16="http://schemas.microsoft.com/office/drawing/2014/main" id="{D868EED4-79C1-4474-FC6D-58712414822E}"/>
                  </a:ext>
                </a:extLst>
              </p:cNvPr>
              <p:cNvSpPr>
                <a:spLocks noGrp="1" noRot="1" noChangeAspect="1" noMove="1" noResize="1" noEditPoints="1" noAdjustHandles="1" noChangeArrowheads="1" noChangeShapeType="1"/>
              </p:cNvSpPr>
              <p:nvPr/>
            </p:nvSpPr>
            <p:spPr>
              <a:xfrm>
                <a:off x="7194810" y="3700625"/>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50" name="TextBox 49">
                <a:extLst>
                  <a:ext uri="{FF2B5EF4-FFF2-40B4-BE49-F238E27FC236}">
                    <a16:creationId xmlns:a16="http://schemas.microsoft.com/office/drawing/2014/main" id="{FB6FD491-501C-D215-D900-268E14138D2C}"/>
                  </a:ext>
                </a:extLst>
              </p:cNvPr>
              <p:cNvSpPr txBox="1">
                <a:spLocks noGrp="1" noRot="1" noMove="1" noResize="1" noEditPoints="1" noAdjustHandles="1" noChangeArrowheads="1" noChangeShapeType="1"/>
              </p:cNvSpPr>
              <p:nvPr/>
            </p:nvSpPr>
            <p:spPr>
              <a:xfrm>
                <a:off x="7072286" y="3678735"/>
                <a:ext cx="1721026" cy="1754326"/>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b="1" dirty="0">
                    <a:solidFill>
                      <a:schemeClr val="bg1">
                        <a:lumMod val="95000"/>
                      </a:schemeClr>
                    </a:solidFill>
                    <a:latin typeface="Times New Roman" panose="02020603050405020304" pitchFamily="18" charset="0"/>
                    <a:cs typeface="Times New Roman" panose="02020603050405020304" pitchFamily="18" charset="0"/>
                  </a:rPr>
                  <a:t>Player Profile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b="1" dirty="0">
                    <a:solidFill>
                      <a:schemeClr val="bg1">
                        <a:lumMod val="95000"/>
                      </a:schemeClr>
                    </a:solidFill>
                    <a:latin typeface="Times New Roman" panose="02020603050405020304" pitchFamily="18" charset="0"/>
                    <a:cs typeface="Times New Roman" panose="02020603050405020304" pitchFamily="18" charset="0"/>
                  </a:rPr>
                  <a:t>&amp; Market</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b="1" dirty="0">
                    <a:solidFill>
                      <a:schemeClr val="bg1">
                        <a:lumMod val="95000"/>
                      </a:schemeClr>
                    </a:solidFill>
                    <a:latin typeface="Times New Roman" panose="02020603050405020304" pitchFamily="18" charset="0"/>
                    <a:cs typeface="Times New Roman" panose="02020603050405020304" pitchFamily="18" charset="0"/>
                  </a:rPr>
                  <a:t>Value</a:t>
                </a:r>
                <a:endParaRPr lang="en-IN" dirty="0"/>
              </a:p>
              <a:p>
                <a:pPr algn="ctr"/>
                <a:endParaRPr lang="en-IN" b="1" dirty="0">
                  <a:solidFill>
                    <a:schemeClr val="bg1">
                      <a:lumMod val="95000"/>
                    </a:schemeClr>
                  </a:solidFill>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4E0CEFDB-41F5-6595-AF7E-C80D3CC7E732}"/>
                  </a:ext>
                </a:extLst>
              </p:cNvPr>
              <p:cNvSpPr txBox="1">
                <a:spLocks noGrp="1" noRot="1" noMove="1" noResize="1" noEditPoints="1" noAdjustHandles="1" noChangeArrowheads="1" noChangeShapeType="1"/>
              </p:cNvSpPr>
              <p:nvPr/>
            </p:nvSpPr>
            <p:spPr>
              <a:xfrm>
                <a:off x="7070581" y="3389652"/>
                <a:ext cx="1721026" cy="923330"/>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3600" b="1" dirty="0">
                    <a:solidFill>
                      <a:schemeClr val="bg1"/>
                    </a:solidFill>
                    <a:latin typeface="Times New Roman" panose="02020603050405020304" pitchFamily="18" charset="0"/>
                    <a:cs typeface="Times New Roman" panose="02020603050405020304" pitchFamily="18" charset="0"/>
                  </a:rPr>
                  <a:t>2</a:t>
                </a:r>
              </a:p>
            </p:txBody>
          </p:sp>
        </p:grpSp>
        <p:grpSp>
          <p:nvGrpSpPr>
            <p:cNvPr id="4" name="Group 3">
              <a:extLst>
                <a:ext uri="{FF2B5EF4-FFF2-40B4-BE49-F238E27FC236}">
                  <a16:creationId xmlns:a16="http://schemas.microsoft.com/office/drawing/2014/main" id="{E88AD7ED-283A-2F83-FDFC-CE5E7C2D7D2B}"/>
                </a:ext>
              </a:extLst>
            </p:cNvPr>
            <p:cNvGrpSpPr>
              <a:grpSpLocks noGrp="1" noUngrp="1" noRot="1" noMove="1" noResize="1"/>
            </p:cNvGrpSpPr>
            <p:nvPr/>
          </p:nvGrpSpPr>
          <p:grpSpPr>
            <a:xfrm>
              <a:off x="5212625" y="4514221"/>
              <a:ext cx="1743415" cy="1692949"/>
              <a:chOff x="5212625" y="4514221"/>
              <a:chExt cx="1743415" cy="1692949"/>
            </a:xfrm>
          </p:grpSpPr>
          <p:sp>
            <p:nvSpPr>
              <p:cNvPr id="24" name="Oval 23">
                <a:extLst>
                  <a:ext uri="{FF2B5EF4-FFF2-40B4-BE49-F238E27FC236}">
                    <a16:creationId xmlns:a16="http://schemas.microsoft.com/office/drawing/2014/main" id="{A85BB150-A4DD-798E-91DC-4BA1306B660E}"/>
                  </a:ext>
                </a:extLst>
              </p:cNvPr>
              <p:cNvSpPr>
                <a:spLocks noGrp="1" noRot="1" noChangeAspect="1" noMove="1" noResize="1" noEditPoints="1" noAdjustHandles="1" noChangeArrowheads="1" noChangeShapeType="1"/>
              </p:cNvSpPr>
              <p:nvPr/>
            </p:nvSpPr>
            <p:spPr>
              <a:xfrm>
                <a:off x="5354845" y="4762769"/>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51" name="TextBox 50">
                <a:extLst>
                  <a:ext uri="{FF2B5EF4-FFF2-40B4-BE49-F238E27FC236}">
                    <a16:creationId xmlns:a16="http://schemas.microsoft.com/office/drawing/2014/main" id="{49DA1BE7-7C2C-1D3E-98C6-58ADBEE98FD5}"/>
                  </a:ext>
                </a:extLst>
              </p:cNvPr>
              <p:cNvSpPr txBox="1">
                <a:spLocks noGrp="1" noRot="1" noMove="1" noResize="1" noEditPoints="1" noAdjustHandles="1" noChangeArrowheads="1" noChangeShapeType="1"/>
              </p:cNvSpPr>
              <p:nvPr/>
            </p:nvSpPr>
            <p:spPr>
              <a:xfrm>
                <a:off x="5235014" y="4698887"/>
                <a:ext cx="1721026" cy="1477328"/>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b="1" dirty="0">
                    <a:solidFill>
                      <a:schemeClr val="bg1">
                        <a:lumMod val="95000"/>
                      </a:schemeClr>
                    </a:solidFill>
                    <a:latin typeface="Times New Roman" panose="02020603050405020304" pitchFamily="18" charset="0"/>
                    <a:cs typeface="Times New Roman" panose="02020603050405020304" pitchFamily="18" charset="0"/>
                  </a:rPr>
                  <a:t>Attendance</a:t>
                </a:r>
              </a:p>
              <a:p>
                <a:pPr algn="ctr"/>
                <a:r>
                  <a:rPr lang="en-IN" b="1" dirty="0">
                    <a:solidFill>
                      <a:schemeClr val="bg1">
                        <a:lumMod val="95000"/>
                      </a:schemeClr>
                    </a:solidFill>
                    <a:latin typeface="Times New Roman" panose="02020603050405020304" pitchFamily="18" charset="0"/>
                    <a:cs typeface="Times New Roman" panose="02020603050405020304" pitchFamily="18" charset="0"/>
                  </a:rPr>
                  <a:t>&amp; Stadium Analysis</a:t>
                </a:r>
              </a:p>
            </p:txBody>
          </p:sp>
          <p:sp>
            <p:nvSpPr>
              <p:cNvPr id="60" name="TextBox 59">
                <a:extLst>
                  <a:ext uri="{FF2B5EF4-FFF2-40B4-BE49-F238E27FC236}">
                    <a16:creationId xmlns:a16="http://schemas.microsoft.com/office/drawing/2014/main" id="{6E6CD519-DCAE-5C99-D6FB-F89168386BE9}"/>
                  </a:ext>
                </a:extLst>
              </p:cNvPr>
              <p:cNvSpPr txBox="1">
                <a:spLocks noGrp="1" noRot="1" noMove="1" noResize="1" noEditPoints="1" noAdjustHandles="1" noChangeArrowheads="1" noChangeShapeType="1"/>
              </p:cNvSpPr>
              <p:nvPr/>
            </p:nvSpPr>
            <p:spPr>
              <a:xfrm>
                <a:off x="5212625" y="4514221"/>
                <a:ext cx="1721026" cy="923330"/>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3600" b="1" dirty="0">
                    <a:solidFill>
                      <a:schemeClr val="bg1">
                        <a:lumMod val="95000"/>
                      </a:schemeClr>
                    </a:solidFill>
                    <a:latin typeface="Times New Roman" panose="02020603050405020304" pitchFamily="18" charset="0"/>
                    <a:cs typeface="Times New Roman" panose="02020603050405020304" pitchFamily="18" charset="0"/>
                  </a:rPr>
                  <a:t>3</a:t>
                </a:r>
              </a:p>
            </p:txBody>
          </p:sp>
        </p:grpSp>
      </p:grpSp>
      <p:sp>
        <p:nvSpPr>
          <p:cNvPr id="1079" name="TextBox 1078">
            <a:extLst>
              <a:ext uri="{FF2B5EF4-FFF2-40B4-BE49-F238E27FC236}">
                <a16:creationId xmlns:a16="http://schemas.microsoft.com/office/drawing/2014/main" id="{2714C925-0F43-4F67-928F-85E6820C389A}"/>
              </a:ext>
            </a:extLst>
          </p:cNvPr>
          <p:cNvSpPr txBox="1">
            <a:spLocks/>
          </p:cNvSpPr>
          <p:nvPr/>
        </p:nvSpPr>
        <p:spPr>
          <a:xfrm>
            <a:off x="5329334" y="790492"/>
            <a:ext cx="1575326" cy="1415772"/>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1200"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b="1" dirty="0">
                <a:solidFill>
                  <a:schemeClr val="bg1">
                    <a:lumMod val="95000"/>
                  </a:schemeClr>
                </a:solidFill>
                <a:latin typeface="Times New Roman" panose="02020603050405020304" pitchFamily="18" charset="0"/>
                <a:cs typeface="Times New Roman" panose="02020603050405020304" pitchFamily="18" charset="0"/>
              </a:rPr>
              <a:t>Competition &amp; Referee Analysis</a:t>
            </a:r>
          </a:p>
        </p:txBody>
      </p:sp>
    </p:spTree>
    <p:extLst>
      <p:ext uri="{BB962C8B-B14F-4D97-AF65-F5344CB8AC3E}">
        <p14:creationId xmlns:p14="http://schemas.microsoft.com/office/powerpoint/2010/main" val="3245245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A4FED41B-689D-69DA-AC8D-6BF2B84AB41D}"/>
            </a:ext>
          </a:extLst>
        </p:cNvPr>
        <p:cNvGrpSpPr/>
        <p:nvPr/>
      </p:nvGrpSpPr>
      <p:grpSpPr>
        <a:xfrm>
          <a:off x="0" y="0"/>
          <a:ext cx="0" cy="0"/>
          <a:chOff x="0" y="0"/>
          <a:chExt cx="0" cy="0"/>
        </a:xfrm>
      </p:grpSpPr>
      <p:pic>
        <p:nvPicPr>
          <p:cNvPr id="18" name="Picture 17" descr="A graph of a number of players&#10;&#10;AI-generated content may be incorrect.">
            <a:extLst>
              <a:ext uri="{FF2B5EF4-FFF2-40B4-BE49-F238E27FC236}">
                <a16:creationId xmlns:a16="http://schemas.microsoft.com/office/drawing/2014/main" id="{8FCD5AA1-1412-30F9-E2CD-07DE08E1C79E}"/>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222138" y="1313964"/>
            <a:ext cx="3597691" cy="3385488"/>
          </a:xfrm>
          <a:prstGeom prst="rect">
            <a:avLst/>
          </a:prstGeom>
          <a:effectLst>
            <a:glow>
              <a:srgbClr val="002060">
                <a:alpha val="29000"/>
              </a:srgbClr>
            </a:glow>
            <a:outerShdw blurRad="101600" dir="7080000" sy="-23000" kx="-800400" algn="bl" rotWithShape="0">
              <a:prstClr val="black">
                <a:alpha val="18000"/>
              </a:prstClr>
            </a:outerShdw>
            <a:reflection endPos="0" dir="5400000" sy="-100000" algn="bl" rotWithShape="0"/>
            <a:softEdge rad="0"/>
          </a:effectLst>
        </p:spPr>
      </p:pic>
      <p:cxnSp>
        <p:nvCxnSpPr>
          <p:cNvPr id="28" name="Straight Connector 27">
            <a:extLst>
              <a:ext uri="{FF2B5EF4-FFF2-40B4-BE49-F238E27FC236}">
                <a16:creationId xmlns:a16="http://schemas.microsoft.com/office/drawing/2014/main" id="{5F1D0491-3C14-0348-5420-C4DE710D4DB4}"/>
              </a:ext>
            </a:extLst>
          </p:cNvPr>
          <p:cNvCxnSpPr>
            <a:cxnSpLocks noGrp="1" noRot="1" noMove="1" noResize="1" noEditPoints="1" noAdjustHandles="1" noChangeArrowheads="1" noChangeShapeType="1"/>
            <a:stCxn id="3" idx="2"/>
          </p:cNvCxnSpPr>
          <p:nvPr/>
        </p:nvCxnSpPr>
        <p:spPr>
          <a:xfrm>
            <a:off x="6096000" y="831142"/>
            <a:ext cx="0" cy="6026858"/>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FC8BEF7C-C5AD-90B5-5E19-AFE2FD478968}"/>
              </a:ext>
            </a:extLst>
          </p:cNvPr>
          <p:cNvSpPr txBox="1">
            <a:spLocks noGrp="1" noRot="1" noMove="1" noResize="1" noEditPoints="1" noAdjustHandles="1" noChangeArrowheads="1" noChangeShapeType="1"/>
          </p:cNvSpPr>
          <p:nvPr/>
        </p:nvSpPr>
        <p:spPr>
          <a:xfrm>
            <a:off x="107670" y="809570"/>
            <a:ext cx="5988330" cy="392415"/>
          </a:xfrm>
          <a:prstGeom prst="rect">
            <a:avLst/>
          </a:prstGeom>
          <a:noFill/>
        </p:spPr>
        <p:txBody>
          <a:bodyPr wrap="square" rtlCol="0">
            <a:spAutoFit/>
          </a:bodyPr>
          <a:lstStyle/>
          <a:p>
            <a:r>
              <a:rPr lang="en-US" sz="1950" b="1" dirty="0">
                <a:solidFill>
                  <a:srgbClr val="002060"/>
                </a:solidFill>
                <a:latin typeface="Times New Roman" panose="02020603050405020304" pitchFamily="18" charset="0"/>
                <a:cs typeface="Times New Roman" panose="02020603050405020304" pitchFamily="18" charset="0"/>
              </a:rPr>
              <a:t>Top 10 Players by Goals Per 90 Minutes ( Per Match )</a:t>
            </a:r>
            <a:endParaRPr lang="en-IN" sz="1950" b="1" dirty="0">
              <a:solidFill>
                <a:srgbClr val="002060"/>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7BCE7F66-912B-5C47-6A18-231CFD280185}"/>
              </a:ext>
            </a:extLst>
          </p:cNvPr>
          <p:cNvSpPr txBox="1">
            <a:spLocks noGrp="1" noRot="1" noMove="1" noResize="1" noEditPoints="1" noAdjustHandles="1" noChangeArrowheads="1" noChangeShapeType="1"/>
          </p:cNvSpPr>
          <p:nvPr/>
        </p:nvSpPr>
        <p:spPr>
          <a:xfrm>
            <a:off x="6096000" y="809569"/>
            <a:ext cx="5988330" cy="392415"/>
          </a:xfrm>
          <a:prstGeom prst="rect">
            <a:avLst/>
          </a:prstGeom>
          <a:noFill/>
        </p:spPr>
        <p:txBody>
          <a:bodyPr wrap="square" rtlCol="0">
            <a:spAutoFit/>
          </a:bodyPr>
          <a:lstStyle/>
          <a:p>
            <a:pPr algn="ctr"/>
            <a:r>
              <a:rPr lang="en-IN" sz="1950" b="1" dirty="0">
                <a:solidFill>
                  <a:srgbClr val="002060"/>
                </a:solidFill>
                <a:latin typeface="Times New Roman" panose="02020603050405020304" pitchFamily="18" charset="0"/>
                <a:cs typeface="Times New Roman" panose="02020603050405020304" pitchFamily="18" charset="0"/>
              </a:rPr>
              <a:t>Player Distribution by Position</a:t>
            </a:r>
          </a:p>
        </p:txBody>
      </p:sp>
      <p:sp>
        <p:nvSpPr>
          <p:cNvPr id="32" name="TextBox 31">
            <a:extLst>
              <a:ext uri="{FF2B5EF4-FFF2-40B4-BE49-F238E27FC236}">
                <a16:creationId xmlns:a16="http://schemas.microsoft.com/office/drawing/2014/main" id="{4F4C455D-ED04-A162-610F-346290DA3900}"/>
              </a:ext>
            </a:extLst>
          </p:cNvPr>
          <p:cNvSpPr txBox="1">
            <a:spLocks noGrp="1" noRot="1" noMove="1" noResize="1" noEditPoints="1" noAdjustHandles="1" noChangeArrowheads="1" noChangeShapeType="1"/>
          </p:cNvSpPr>
          <p:nvPr/>
        </p:nvSpPr>
        <p:spPr>
          <a:xfrm>
            <a:off x="107670" y="4923410"/>
            <a:ext cx="5988330" cy="1846659"/>
          </a:xfrm>
          <a:prstGeom prst="rect">
            <a:avLst/>
          </a:prstGeom>
          <a:noFill/>
        </p:spPr>
        <p:txBody>
          <a:bodyPr wrap="square" rtlCol="0">
            <a:spAutoFit/>
          </a:bodyPr>
          <a:lstStyle/>
          <a:p>
            <a:r>
              <a:rPr lang="en-IN" sz="2400" b="1" dirty="0">
                <a:solidFill>
                  <a:srgbClr val="0033CC"/>
                </a:solidFill>
                <a:latin typeface="Times New Roman" panose="02020603050405020304" pitchFamily="18" charset="0"/>
                <a:cs typeface="Times New Roman" panose="02020603050405020304" pitchFamily="18" charset="0"/>
              </a:rPr>
              <a:t>Interpretation :</a:t>
            </a:r>
          </a:p>
          <a:p>
            <a:pPr algn="just"/>
            <a:r>
              <a:rPr lang="en-IN"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The chart highlights the most efficient goal scorers, showing that Aron Johannsson leads in goals per 90 minutes, with others like Jozy Altidore and Seyi Adekoya also performing strongly. Players at the top consistently score more goals relative to their time played.</a:t>
            </a:r>
            <a:endParaRPr lang="en-IN" b="1"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5D5BB205-9AA3-ED23-C776-7EB298B7C3B6}"/>
              </a:ext>
            </a:extLst>
          </p:cNvPr>
          <p:cNvSpPr txBox="1">
            <a:spLocks noGrp="1" noRot="1" noMove="1" noResize="1" noEditPoints="1" noAdjustHandles="1" noChangeArrowheads="1" noChangeShapeType="1"/>
          </p:cNvSpPr>
          <p:nvPr/>
        </p:nvSpPr>
        <p:spPr>
          <a:xfrm>
            <a:off x="6203670" y="4923410"/>
            <a:ext cx="5988330" cy="1846659"/>
          </a:xfrm>
          <a:prstGeom prst="rect">
            <a:avLst/>
          </a:prstGeom>
          <a:noFill/>
        </p:spPr>
        <p:txBody>
          <a:bodyPr wrap="square" rtlCol="0">
            <a:spAutoFit/>
          </a:bodyPr>
          <a:lstStyle/>
          <a:p>
            <a:r>
              <a:rPr lang="en-IN" sz="2400" b="1" dirty="0">
                <a:solidFill>
                  <a:srgbClr val="0033CC"/>
                </a:solidFill>
                <a:latin typeface="Times New Roman" panose="02020603050405020304" pitchFamily="18" charset="0"/>
                <a:cs typeface="Times New Roman" panose="02020603050405020304" pitchFamily="18" charset="0"/>
              </a:rPr>
              <a:t>Interpretation :</a:t>
            </a:r>
          </a:p>
          <a:p>
            <a:pPr algn="just"/>
            <a:r>
              <a:rPr lang="en-IN" b="1" dirty="0">
                <a:solidFill>
                  <a:srgbClr val="0033CC"/>
                </a:solidFill>
                <a:latin typeface="Times New Roman" panose="02020603050405020304" pitchFamily="18" charset="0"/>
                <a:cs typeface="Times New Roman" panose="02020603050405020304" pitchFamily="18" charset="0"/>
              </a:rPr>
              <a:t>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This pie chart displays the count of unique players in each playing position. The largest segment is for midfielders (33), followed by attackers (25), defenders (23), and goalkeepers (11), indicating midfielders are the most common position in the dataset and goalkeepers the least.</a:t>
            </a: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37" name="Picture 36" descr="A pie chart with numbers and text&#10;&#10;AI-generated content may be incorrect.">
            <a:extLst>
              <a:ext uri="{FF2B5EF4-FFF2-40B4-BE49-F238E27FC236}">
                <a16:creationId xmlns:a16="http://schemas.microsoft.com/office/drawing/2014/main" id="{0AF3F37C-2199-3564-8649-C14B7AED25ED}"/>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rcRect t="10589" b="13295"/>
          <a:stretch>
            <a:fillRect/>
          </a:stretch>
        </p:blipFill>
        <p:spPr>
          <a:xfrm>
            <a:off x="7094651" y="1571153"/>
            <a:ext cx="4206367" cy="3128299"/>
          </a:xfrm>
          <a:prstGeom prst="rect">
            <a:avLst/>
          </a:prstGeom>
          <a:effectLst>
            <a:outerShdw blurRad="76200" dist="12700" dir="2700000" sy="-23000" kx="-800400" algn="bl" rotWithShape="0">
              <a:prstClr val="black">
                <a:alpha val="20000"/>
              </a:prstClr>
            </a:outerShdw>
          </a:effectLst>
        </p:spPr>
      </p:pic>
      <p:sp>
        <p:nvSpPr>
          <p:cNvPr id="3" name="TextBox 2">
            <a:extLst>
              <a:ext uri="{FF2B5EF4-FFF2-40B4-BE49-F238E27FC236}">
                <a16:creationId xmlns:a16="http://schemas.microsoft.com/office/drawing/2014/main" id="{CA1D63C6-175D-CD62-1015-981ED2C99849}"/>
              </a:ext>
            </a:extLst>
          </p:cNvPr>
          <p:cNvSpPr txBox="1">
            <a:spLocks noGrp="1" noRot="1" noMove="1" noResize="1" noEditPoints="1" noAdjustHandles="1" noChangeArrowheads="1" noChangeShapeType="1"/>
          </p:cNvSpPr>
          <p:nvPr/>
        </p:nvSpPr>
        <p:spPr>
          <a:xfrm>
            <a:off x="2327304" y="123256"/>
            <a:ext cx="7537391" cy="707886"/>
          </a:xfrm>
          <a:prstGeom prst="rect">
            <a:avLst/>
          </a:prstGeom>
          <a:noFill/>
          <a:ln>
            <a:solidFill>
              <a:srgbClr val="002060"/>
            </a:solidFill>
          </a:ln>
        </p:spPr>
        <p:txBody>
          <a:bodyPr wrap="square" rtlCol="0">
            <a:spAutoFit/>
          </a:bodyPr>
          <a:lstStyle/>
          <a:p>
            <a:pPr algn="ctr"/>
            <a:r>
              <a:rPr lang="en-IN" sz="4000" b="1" dirty="0">
                <a:solidFill>
                  <a:srgbClr val="002060"/>
                </a:solidFill>
                <a:latin typeface="Times New Roman" panose="02020603050405020304" pitchFamily="18" charset="0"/>
                <a:cs typeface="Times New Roman" panose="02020603050405020304" pitchFamily="18" charset="0"/>
              </a:rPr>
              <a:t>Descriptive Analysis</a:t>
            </a:r>
          </a:p>
        </p:txBody>
      </p:sp>
      <p:grpSp>
        <p:nvGrpSpPr>
          <p:cNvPr id="6" name="Group 5">
            <a:extLst>
              <a:ext uri="{FF2B5EF4-FFF2-40B4-BE49-F238E27FC236}">
                <a16:creationId xmlns:a16="http://schemas.microsoft.com/office/drawing/2014/main" id="{BDA5662F-927D-F6DF-753E-FE49286458BD}"/>
              </a:ext>
            </a:extLst>
          </p:cNvPr>
          <p:cNvGrpSpPr>
            <a:grpSpLocks noGrp="1" noUngrp="1" noRot="1" noMove="1" noResize="1"/>
          </p:cNvGrpSpPr>
          <p:nvPr/>
        </p:nvGrpSpPr>
        <p:grpSpPr>
          <a:xfrm>
            <a:off x="10644874" y="-179303"/>
            <a:ext cx="1628242" cy="1593174"/>
            <a:chOff x="7070581" y="1465769"/>
            <a:chExt cx="1721026" cy="1705153"/>
          </a:xfrm>
        </p:grpSpPr>
        <p:sp>
          <p:nvSpPr>
            <p:cNvPr id="7" name="Oval 6">
              <a:extLst>
                <a:ext uri="{FF2B5EF4-FFF2-40B4-BE49-F238E27FC236}">
                  <a16:creationId xmlns:a16="http://schemas.microsoft.com/office/drawing/2014/main" id="{4BA2F16D-93D1-2DAD-3451-867E4124C034}"/>
                </a:ext>
              </a:extLst>
            </p:cNvPr>
            <p:cNvSpPr>
              <a:spLocks noGrp="1" noRot="1" noChangeAspect="1" noMove="1" noResize="1" noEditPoints="1" noAdjustHandles="1" noChangeArrowheads="1" noChangeShapeType="1"/>
            </p:cNvSpPr>
            <p:nvPr/>
          </p:nvSpPr>
          <p:spPr>
            <a:xfrm>
              <a:off x="7194810" y="1726521"/>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8" name="TextBox 7">
              <a:extLst>
                <a:ext uri="{FF2B5EF4-FFF2-40B4-BE49-F238E27FC236}">
                  <a16:creationId xmlns:a16="http://schemas.microsoft.com/office/drawing/2014/main" id="{C19EF96E-E20A-F591-77CD-2570A5DB6E96}"/>
                </a:ext>
              </a:extLst>
            </p:cNvPr>
            <p:cNvSpPr txBox="1">
              <a:spLocks noGrp="1" noRot="1" noMove="1" noResize="1" noEditPoints="1" noAdjustHandles="1" noChangeArrowheads="1" noChangeShapeType="1"/>
            </p:cNvSpPr>
            <p:nvPr/>
          </p:nvSpPr>
          <p:spPr>
            <a:xfrm>
              <a:off x="7130260" y="1725912"/>
              <a:ext cx="1601667" cy="1284696"/>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b="1" dirty="0">
                  <a:solidFill>
                    <a:schemeClr val="bg1">
                      <a:lumMod val="95000"/>
                    </a:schemeClr>
                  </a:solidFill>
                  <a:latin typeface="Times New Roman" panose="02020603050405020304" pitchFamily="18" charset="0"/>
                  <a:cs typeface="Times New Roman" panose="02020603050405020304" pitchFamily="18" charset="0"/>
                </a:rPr>
                <a:t>Performance Analysis</a:t>
              </a:r>
            </a:p>
          </p:txBody>
        </p:sp>
        <p:sp>
          <p:nvSpPr>
            <p:cNvPr id="9" name="TextBox 8">
              <a:extLst>
                <a:ext uri="{FF2B5EF4-FFF2-40B4-BE49-F238E27FC236}">
                  <a16:creationId xmlns:a16="http://schemas.microsoft.com/office/drawing/2014/main" id="{7DB8A519-501A-538F-E317-B99683C84840}"/>
                </a:ext>
              </a:extLst>
            </p:cNvPr>
            <p:cNvSpPr txBox="1">
              <a:spLocks noGrp="1" noRot="1" noMove="1" noResize="1" noEditPoints="1" noAdjustHandles="1" noChangeArrowheads="1" noChangeShapeType="1"/>
            </p:cNvSpPr>
            <p:nvPr/>
          </p:nvSpPr>
          <p:spPr>
            <a:xfrm>
              <a:off x="7070581" y="1465769"/>
              <a:ext cx="1721026" cy="923330"/>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3600" b="1" dirty="0">
                  <a:solidFill>
                    <a:schemeClr val="bg1"/>
                  </a:solidFill>
                  <a:latin typeface="Times New Roman" panose="02020603050405020304" pitchFamily="18" charset="0"/>
                  <a:cs typeface="Times New Roman" panose="02020603050405020304" pitchFamily="18" charset="0"/>
                </a:rPr>
                <a:t>1</a:t>
              </a:r>
            </a:p>
          </p:txBody>
        </p:sp>
      </p:grpSp>
    </p:spTree>
    <p:extLst>
      <p:ext uri="{BB962C8B-B14F-4D97-AF65-F5344CB8AC3E}">
        <p14:creationId xmlns:p14="http://schemas.microsoft.com/office/powerpoint/2010/main" val="3887087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BF9802BA-C414-1AC4-0936-3783439886B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954ECB-6918-1A46-F99F-D17B35B9944B}"/>
              </a:ext>
            </a:extLst>
          </p:cNvPr>
          <p:cNvSpPr>
            <a:spLocks noGrp="1" noRot="1" noMove="1" noResize="1" noEditPoints="1" noAdjustHandles="1" noChangeArrowheads="1" noChangeShapeType="1"/>
          </p:cNvSpPr>
          <p:nvPr>
            <p:ph type="body" idx="1"/>
          </p:nvPr>
        </p:nvSpPr>
        <p:spPr>
          <a:xfrm>
            <a:off x="415882" y="289712"/>
            <a:ext cx="11304052" cy="4072738"/>
          </a:xfrm>
        </p:spPr>
        <p:txBody>
          <a:bodyPr>
            <a:normAutofit/>
          </a:bodyPr>
          <a:lstStyle/>
          <a:p>
            <a:pPr algn="ctr"/>
            <a:r>
              <a:rPr lang="en-US" sz="4000" b="1" dirty="0">
                <a:solidFill>
                  <a:srgbClr val="002060"/>
                </a:solidFill>
                <a:latin typeface="Times New Roman" panose="02020603050405020304" pitchFamily="18" charset="0"/>
                <a:cs typeface="Times New Roman" panose="02020603050405020304" pitchFamily="18" charset="0"/>
              </a:rPr>
              <a:t>Probability Analysis of Goals and Assists </a:t>
            </a:r>
            <a:r>
              <a:rPr lang="en-IN" sz="4000" b="1" dirty="0">
                <a:solidFill>
                  <a:srgbClr val="002060"/>
                </a:solidFill>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r>
              <a:rPr lang="en-US" sz="2000" b="1" dirty="0">
                <a:solidFill>
                  <a:srgbClr val="0033CC"/>
                </a:solidFill>
              </a:rPr>
              <a:t>Probability of Assisting: </a:t>
            </a:r>
            <a:r>
              <a:rPr lang="en-US" sz="2000" b="1" dirty="0">
                <a:solidFill>
                  <a:schemeClr val="tx1"/>
                </a:solidFill>
              </a:rPr>
              <a:t>About </a:t>
            </a:r>
            <a:r>
              <a:rPr lang="en-US" sz="2000" b="1" dirty="0">
                <a:solidFill>
                  <a:srgbClr val="FF0000"/>
                </a:solidFill>
              </a:rPr>
              <a:t>7.36%</a:t>
            </a:r>
            <a:r>
              <a:rPr lang="en-US" sz="2000" b="1" dirty="0">
                <a:solidFill>
                  <a:schemeClr val="tx1"/>
                </a:solidFill>
              </a:rPr>
              <a:t> of match entries show a player making at least one assist.</a:t>
            </a:r>
          </a:p>
          <a:p>
            <a:pPr marL="342900" indent="-342900">
              <a:buFont typeface="Wingdings" panose="05000000000000000000" pitchFamily="2" charset="2"/>
              <a:buChar char="Ø"/>
            </a:pPr>
            <a:r>
              <a:rPr lang="en-US" sz="2000" b="1" dirty="0">
                <a:solidFill>
                  <a:srgbClr val="0033CC"/>
                </a:solidFill>
              </a:rPr>
              <a:t>Probability of No Goals and No Assists:</a:t>
            </a:r>
            <a:r>
              <a:rPr lang="en-US" sz="2000" b="1" dirty="0">
                <a:solidFill>
                  <a:schemeClr val="tx1"/>
                </a:solidFill>
              </a:rPr>
              <a:t> In </a:t>
            </a:r>
            <a:r>
              <a:rPr lang="en-US" sz="2000" b="1" dirty="0">
                <a:solidFill>
                  <a:srgbClr val="FF0000"/>
                </a:solidFill>
              </a:rPr>
              <a:t>82.56%</a:t>
            </a:r>
            <a:r>
              <a:rPr lang="en-US" sz="2000" b="1" dirty="0">
                <a:solidFill>
                  <a:schemeClr val="tx1"/>
                </a:solidFill>
              </a:rPr>
              <a:t> of matches, players neither scored nor assisted.</a:t>
            </a:r>
          </a:p>
          <a:p>
            <a:pPr marL="342900" indent="-342900">
              <a:buFont typeface="Wingdings" panose="05000000000000000000" pitchFamily="2" charset="2"/>
              <a:buChar char="Ø"/>
            </a:pPr>
            <a:r>
              <a:rPr lang="en-US" sz="2000" b="1" dirty="0">
                <a:solidFill>
                  <a:srgbClr val="0033CC"/>
                </a:solidFill>
              </a:rPr>
              <a:t>Probability of Goals or Assists: </a:t>
            </a:r>
            <a:r>
              <a:rPr lang="en-US" sz="2000" b="1" dirty="0">
                <a:solidFill>
                  <a:schemeClr val="tx1"/>
                </a:solidFill>
              </a:rPr>
              <a:t>Players contributed to scoring (either goal or assist) in </a:t>
            </a:r>
            <a:r>
              <a:rPr lang="en-US" sz="2000" b="1" dirty="0">
                <a:solidFill>
                  <a:srgbClr val="FF0000"/>
                </a:solidFill>
              </a:rPr>
              <a:t>17.44%</a:t>
            </a:r>
            <a:r>
              <a:rPr lang="en-US" sz="2000" b="1" dirty="0">
                <a:solidFill>
                  <a:schemeClr val="tx1"/>
                </a:solidFill>
              </a:rPr>
              <a:t> of matches.</a:t>
            </a:r>
          </a:p>
          <a:p>
            <a:pPr marL="342900" indent="-342900">
              <a:buFont typeface="Wingdings" panose="05000000000000000000" pitchFamily="2" charset="2"/>
              <a:buChar char="Ø"/>
            </a:pPr>
            <a:r>
              <a:rPr lang="en-US" sz="2000" b="1" dirty="0">
                <a:solidFill>
                  <a:srgbClr val="0033CC"/>
                </a:solidFill>
              </a:rPr>
              <a:t>Conditional Probability of Assist Given Goals: </a:t>
            </a:r>
            <a:r>
              <a:rPr lang="en-US" sz="2000" b="1" dirty="0">
                <a:solidFill>
                  <a:schemeClr val="tx1"/>
                </a:solidFill>
              </a:rPr>
              <a:t>When a player scores, there is about a </a:t>
            </a:r>
            <a:r>
              <a:rPr lang="en-US" sz="2000" b="1" dirty="0">
                <a:solidFill>
                  <a:srgbClr val="FF0000"/>
                </a:solidFill>
              </a:rPr>
              <a:t>13.4%</a:t>
            </a:r>
            <a:r>
              <a:rPr lang="en-US" sz="2000" b="1" dirty="0">
                <a:solidFill>
                  <a:schemeClr val="tx1"/>
                </a:solidFill>
              </a:rPr>
              <a:t> chance </a:t>
            </a:r>
            <a:r>
              <a:rPr lang="en-US" sz="2000" b="1" dirty="0">
                <a:solidFill>
                  <a:schemeClr val="tx1"/>
                </a:solidFill>
                <a:highlight>
                  <a:srgbClr val="FFFF00"/>
                </a:highlight>
              </a:rPr>
              <a:t>they also provide an assist </a:t>
            </a:r>
            <a:r>
              <a:rPr lang="en-US" sz="2000" b="1" dirty="0">
                <a:solidFill>
                  <a:schemeClr val="tx1"/>
                </a:solidFill>
              </a:rPr>
              <a:t>in that match.</a:t>
            </a:r>
          </a:p>
          <a:p>
            <a:pPr marL="342900" indent="-342900">
              <a:buFont typeface="Wingdings" panose="05000000000000000000" pitchFamily="2" charset="2"/>
              <a:buChar char="Ø"/>
            </a:pPr>
            <a:r>
              <a:rPr lang="en-US" sz="2000" b="1" dirty="0">
                <a:solidFill>
                  <a:srgbClr val="0033CC"/>
                </a:solidFill>
              </a:rPr>
              <a:t>Conditional Probability of Goals Given Assist: </a:t>
            </a:r>
            <a:r>
              <a:rPr lang="en-US" sz="2000" b="1" dirty="0">
                <a:solidFill>
                  <a:schemeClr val="tx1"/>
                </a:solidFill>
              </a:rPr>
              <a:t>When a player assists, there is about a </a:t>
            </a:r>
            <a:r>
              <a:rPr lang="en-US" sz="2000" b="1" dirty="0">
                <a:solidFill>
                  <a:srgbClr val="FF0000"/>
                </a:solidFill>
              </a:rPr>
              <a:t>21.17% </a:t>
            </a:r>
            <a:r>
              <a:rPr lang="en-US" sz="2000" b="1" dirty="0">
                <a:solidFill>
                  <a:schemeClr val="tx1"/>
                </a:solidFill>
              </a:rPr>
              <a:t>chance </a:t>
            </a:r>
            <a:r>
              <a:rPr lang="en-US" sz="2000" b="1" dirty="0">
                <a:solidFill>
                  <a:schemeClr val="tx1"/>
                </a:solidFill>
                <a:highlight>
                  <a:srgbClr val="FFFF00"/>
                </a:highlight>
              </a:rPr>
              <a:t>they also score a goal </a:t>
            </a:r>
            <a:r>
              <a:rPr lang="en-US" sz="2000" b="1" dirty="0">
                <a:solidFill>
                  <a:schemeClr val="tx1"/>
                </a:solidFill>
              </a:rPr>
              <a:t>in the same match.</a:t>
            </a:r>
            <a:endParaRPr lang="en-IN" sz="2000" b="1" dirty="0">
              <a:solidFill>
                <a:schemeClr val="tx1"/>
              </a:solidFill>
            </a:endParaRPr>
          </a:p>
        </p:txBody>
      </p:sp>
      <p:sp>
        <p:nvSpPr>
          <p:cNvPr id="5" name="Text Placeholder 2">
            <a:extLst>
              <a:ext uri="{FF2B5EF4-FFF2-40B4-BE49-F238E27FC236}">
                <a16:creationId xmlns:a16="http://schemas.microsoft.com/office/drawing/2014/main" id="{E49E39A9-B486-51E0-C5A1-00CB1D28E2CE}"/>
              </a:ext>
            </a:extLst>
          </p:cNvPr>
          <p:cNvSpPr txBox="1">
            <a:spLocks noGrp="1" noRot="1" noMove="1" noResize="1" noEditPoints="1" noAdjustHandles="1" noChangeArrowheads="1" noChangeShapeType="1"/>
          </p:cNvSpPr>
          <p:nvPr/>
        </p:nvSpPr>
        <p:spPr>
          <a:xfrm>
            <a:off x="415882" y="4562476"/>
            <a:ext cx="11304052" cy="222885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sz="3200" b="1" dirty="0">
                <a:solidFill>
                  <a:srgbClr val="002060"/>
                </a:solidFill>
              </a:rPr>
              <a:t>Interpretation</a:t>
            </a:r>
            <a:r>
              <a:rPr lang="en-IN" sz="3200" b="1" dirty="0">
                <a:solidFill>
                  <a:srgbClr val="002060"/>
                </a:solidFill>
              </a:rPr>
              <a:t>:</a:t>
            </a:r>
          </a:p>
          <a:p>
            <a:pPr marL="342900" indent="-342900">
              <a:buFont typeface="Wingdings" panose="05000000000000000000" pitchFamily="2" charset="2"/>
              <a:buChar char="v"/>
            </a:pPr>
            <a:r>
              <a:rPr lang="en-US" sz="2000" b="1" dirty="0">
                <a:solidFill>
                  <a:schemeClr val="tx1"/>
                </a:solidFill>
              </a:rPr>
              <a:t>Most players </a:t>
            </a:r>
            <a:r>
              <a:rPr lang="en-US" sz="2000" b="1" dirty="0">
                <a:solidFill>
                  <a:srgbClr val="0033CC"/>
                </a:solidFill>
                <a:highlight>
                  <a:srgbClr val="FFFF00"/>
                </a:highlight>
              </a:rPr>
              <a:t>do not</a:t>
            </a:r>
            <a:r>
              <a:rPr lang="en-US" sz="2000" b="1" dirty="0">
                <a:solidFill>
                  <a:srgbClr val="0033CC"/>
                </a:solidFill>
              </a:rPr>
              <a:t> directly contribute</a:t>
            </a:r>
            <a:r>
              <a:rPr lang="en-US" sz="2000" b="1" dirty="0">
                <a:solidFill>
                  <a:schemeClr val="tx1"/>
                </a:solidFill>
              </a:rPr>
              <a:t> to goals in many matches.</a:t>
            </a:r>
          </a:p>
          <a:p>
            <a:pPr marL="342900" indent="-342900">
              <a:buFont typeface="Wingdings" panose="05000000000000000000" pitchFamily="2" charset="2"/>
              <a:buChar char="v"/>
            </a:pPr>
            <a:r>
              <a:rPr lang="en-US" sz="2000" b="1" dirty="0">
                <a:solidFill>
                  <a:schemeClr val="tx1"/>
                </a:solidFill>
              </a:rPr>
              <a:t>Some players </a:t>
            </a:r>
            <a:r>
              <a:rPr lang="en-US" sz="2000" b="1" dirty="0">
                <a:solidFill>
                  <a:srgbClr val="0033CC"/>
                </a:solidFill>
              </a:rPr>
              <a:t>both score and assist</a:t>
            </a:r>
            <a:r>
              <a:rPr lang="en-US" sz="2000" b="1" dirty="0">
                <a:solidFill>
                  <a:schemeClr val="tx1"/>
                </a:solidFill>
              </a:rPr>
              <a:t>, but </a:t>
            </a:r>
            <a:r>
              <a:rPr lang="en-US" sz="2000" b="1" dirty="0">
                <a:solidFill>
                  <a:srgbClr val="0033CC"/>
                </a:solidFill>
                <a:highlight>
                  <a:srgbClr val="FFFF00"/>
                </a:highlight>
              </a:rPr>
              <a:t>it’s less common</a:t>
            </a:r>
            <a:r>
              <a:rPr lang="en-US" sz="2000" b="1" dirty="0">
                <a:solidFill>
                  <a:srgbClr val="0033CC"/>
                </a:solidFill>
              </a:rPr>
              <a:t>.</a:t>
            </a:r>
          </a:p>
          <a:p>
            <a:pPr marL="342900" indent="-342900">
              <a:buFont typeface="Wingdings" panose="05000000000000000000" pitchFamily="2" charset="2"/>
              <a:buChar char="v"/>
            </a:pPr>
            <a:r>
              <a:rPr lang="en-US" sz="2000" b="1" dirty="0">
                <a:solidFill>
                  <a:schemeClr val="tx1"/>
                </a:solidFill>
              </a:rPr>
              <a:t>Knowing these probabilities helps understand player performance patterns and their likelihood of contributing in different ways.</a:t>
            </a:r>
          </a:p>
        </p:txBody>
      </p:sp>
      <p:sp>
        <p:nvSpPr>
          <p:cNvPr id="2" name="Rectangle 1">
            <a:extLst>
              <a:ext uri="{FF2B5EF4-FFF2-40B4-BE49-F238E27FC236}">
                <a16:creationId xmlns:a16="http://schemas.microsoft.com/office/drawing/2014/main" id="{24F1536C-D4A9-6F33-8EAB-1E9A65DBEA99}"/>
              </a:ext>
            </a:extLst>
          </p:cNvPr>
          <p:cNvSpPr/>
          <p:nvPr/>
        </p:nvSpPr>
        <p:spPr>
          <a:xfrm>
            <a:off x="333375" y="289712"/>
            <a:ext cx="11386559" cy="624688"/>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89262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96D32DB7-0F57-B515-1D47-9F0783012F31}"/>
            </a:ext>
          </a:extLst>
        </p:cNvPr>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4E63180A-771C-AAB1-FDF4-060DE30A842A}"/>
              </a:ext>
            </a:extLst>
          </p:cNvPr>
          <p:cNvCxnSpPr>
            <a:cxnSpLocks noGrp="1" noRot="1" noMove="1" noResize="1" noEditPoints="1" noAdjustHandles="1" noChangeArrowheads="1" noChangeShapeType="1"/>
            <a:stCxn id="31" idx="2"/>
          </p:cNvCxnSpPr>
          <p:nvPr/>
        </p:nvCxnSpPr>
        <p:spPr>
          <a:xfrm>
            <a:off x="6100553" y="816528"/>
            <a:ext cx="5319" cy="6041472"/>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36A005C-2E4A-D927-9E29-97A0285D9A91}"/>
              </a:ext>
            </a:extLst>
          </p:cNvPr>
          <p:cNvSpPr txBox="1">
            <a:spLocks noGrp="1" noRot="1" noMove="1" noResize="1" noEditPoints="1" noAdjustHandles="1" noChangeArrowheads="1" noChangeShapeType="1"/>
          </p:cNvSpPr>
          <p:nvPr/>
        </p:nvSpPr>
        <p:spPr>
          <a:xfrm>
            <a:off x="228180" y="108642"/>
            <a:ext cx="11744745" cy="707886"/>
          </a:xfrm>
          <a:prstGeom prst="rect">
            <a:avLst/>
          </a:prstGeom>
          <a:noFill/>
          <a:ln>
            <a:solidFill>
              <a:srgbClr val="002060"/>
            </a:solidFill>
          </a:ln>
        </p:spPr>
        <p:txBody>
          <a:bodyPr wrap="square" rtlCol="0">
            <a:spAutoFit/>
          </a:bodyPr>
          <a:lstStyle/>
          <a:p>
            <a:pPr algn="ctr"/>
            <a:r>
              <a:rPr lang="en-IN" sz="4000" b="1" dirty="0">
                <a:solidFill>
                  <a:srgbClr val="002060"/>
                </a:solidFill>
                <a:latin typeface="Times New Roman" panose="02020603050405020304" pitchFamily="18" charset="0"/>
                <a:cs typeface="Times New Roman" panose="02020603050405020304" pitchFamily="18" charset="0"/>
              </a:rPr>
              <a:t>Central Limit Theorem </a:t>
            </a:r>
          </a:p>
        </p:txBody>
      </p:sp>
      <p:sp>
        <p:nvSpPr>
          <p:cNvPr id="32" name="TextBox 31">
            <a:extLst>
              <a:ext uri="{FF2B5EF4-FFF2-40B4-BE49-F238E27FC236}">
                <a16:creationId xmlns:a16="http://schemas.microsoft.com/office/drawing/2014/main" id="{B07CE8ED-839E-696E-6402-9FA75F509AE7}"/>
              </a:ext>
            </a:extLst>
          </p:cNvPr>
          <p:cNvSpPr txBox="1">
            <a:spLocks noGrp="1" noRot="1" noMove="1" noResize="1" noEditPoints="1" noAdjustHandles="1" noChangeArrowheads="1" noChangeShapeType="1"/>
          </p:cNvSpPr>
          <p:nvPr/>
        </p:nvSpPr>
        <p:spPr>
          <a:xfrm>
            <a:off x="97800" y="4610099"/>
            <a:ext cx="5988330" cy="1938992"/>
          </a:xfrm>
          <a:prstGeom prst="rect">
            <a:avLst/>
          </a:prstGeom>
          <a:noFill/>
        </p:spPr>
        <p:txBody>
          <a:bodyPr wrap="square" rtlCol="0">
            <a:spAutoFit/>
          </a:bodyPr>
          <a:lstStyle/>
          <a:p>
            <a:pPr algn="just"/>
            <a:r>
              <a:rPr lang="en-IN" sz="2400" b="1" dirty="0">
                <a:solidFill>
                  <a:srgbClr val="0033CC"/>
                </a:solidFill>
                <a:latin typeface="Times New Roman" panose="02020603050405020304" pitchFamily="18" charset="0"/>
                <a:cs typeface="Times New Roman" panose="02020603050405020304" pitchFamily="18" charset="0"/>
              </a:rPr>
              <a:t>Interpretation of </a:t>
            </a:r>
            <a:r>
              <a:rPr lang="en-US" sz="2400" b="1" dirty="0">
                <a:solidFill>
                  <a:srgbClr val="0033CC"/>
                </a:solidFill>
                <a:latin typeface="Times New Roman" panose="02020603050405020304" pitchFamily="18" charset="0"/>
                <a:cs typeface="Times New Roman" panose="02020603050405020304" pitchFamily="18" charset="0"/>
              </a:rPr>
              <a:t>Original Goals KDE:</a:t>
            </a:r>
            <a:endParaRPr lang="en-IN" sz="2400" b="1" dirty="0">
              <a:solidFill>
                <a:srgbClr val="0033CC"/>
              </a:solidFill>
              <a:latin typeface="Times New Roman" panose="02020603050405020304" pitchFamily="18" charset="0"/>
              <a:cs typeface="Times New Roman" panose="02020603050405020304" pitchFamily="18" charset="0"/>
            </a:endParaRPr>
          </a:p>
          <a:p>
            <a:pPr algn="just"/>
            <a:r>
              <a:rPr lang="en-IN" sz="2400" b="1" dirty="0">
                <a:solidFill>
                  <a:srgbClr val="0033CC"/>
                </a:solidFill>
                <a:latin typeface="Times New Roman" panose="02020603050405020304" pitchFamily="18" charset="0"/>
                <a:cs typeface="Times New Roman" panose="02020603050405020304" pitchFamily="18" charset="0"/>
              </a:rPr>
              <a:t>	</a:t>
            </a:r>
            <a:r>
              <a:rPr lang="en-US" b="1" dirty="0"/>
              <a:t>This curve shows </a:t>
            </a:r>
            <a:r>
              <a:rPr lang="en-US" b="1" dirty="0">
                <a:solidFill>
                  <a:srgbClr val="0033CC"/>
                </a:solidFill>
                <a:highlight>
                  <a:srgbClr val="FFFF00"/>
                </a:highlight>
              </a:rPr>
              <a:t>the distribution of the actual goals scored</a:t>
            </a:r>
            <a:r>
              <a:rPr lang="en-US" b="1" dirty="0"/>
              <a:t> by each player in the dataset. The shape is </a:t>
            </a:r>
            <a:r>
              <a:rPr lang="en-US" b="1" dirty="0">
                <a:solidFill>
                  <a:srgbClr val="0033CC"/>
                </a:solidFill>
                <a:highlight>
                  <a:srgbClr val="00FF00"/>
                </a:highlight>
              </a:rPr>
              <a:t>not bell-shaped</a:t>
            </a:r>
            <a:r>
              <a:rPr lang="en-US" b="1" dirty="0"/>
              <a:t>; it is sharp and right-skewed, with most values at zero or close to zero. Which shows most players score 0 or 1 goal.</a:t>
            </a:r>
          </a:p>
        </p:txBody>
      </p:sp>
      <p:sp>
        <p:nvSpPr>
          <p:cNvPr id="33" name="TextBox 32">
            <a:extLst>
              <a:ext uri="{FF2B5EF4-FFF2-40B4-BE49-F238E27FC236}">
                <a16:creationId xmlns:a16="http://schemas.microsoft.com/office/drawing/2014/main" id="{3AB5AAA9-B60C-ED68-33D9-65748744E7DB}"/>
              </a:ext>
            </a:extLst>
          </p:cNvPr>
          <p:cNvSpPr txBox="1">
            <a:spLocks noGrp="1" noRot="1" noMove="1" noResize="1" noEditPoints="1" noAdjustHandles="1" noChangeArrowheads="1" noChangeShapeType="1"/>
          </p:cNvSpPr>
          <p:nvPr/>
        </p:nvSpPr>
        <p:spPr>
          <a:xfrm>
            <a:off x="6203670" y="4610099"/>
            <a:ext cx="5988330" cy="2123658"/>
          </a:xfrm>
          <a:prstGeom prst="rect">
            <a:avLst/>
          </a:prstGeom>
          <a:noFill/>
        </p:spPr>
        <p:txBody>
          <a:bodyPr wrap="square" rtlCol="0">
            <a:spAutoFit/>
          </a:bodyPr>
          <a:lstStyle/>
          <a:p>
            <a:r>
              <a:rPr lang="en-IN" sz="2400" b="1" dirty="0">
                <a:solidFill>
                  <a:srgbClr val="0033CC"/>
                </a:solidFill>
                <a:latin typeface="Times New Roman" panose="02020603050405020304" pitchFamily="18" charset="0"/>
                <a:cs typeface="Times New Roman" panose="02020603050405020304" pitchFamily="18" charset="0"/>
              </a:rPr>
              <a:t>Interpretation of KDE of Sample Means :</a:t>
            </a:r>
          </a:p>
          <a:p>
            <a:pPr algn="just"/>
            <a:r>
              <a:rPr lang="en-IN" b="1" dirty="0">
                <a:solidFill>
                  <a:srgbClr val="0033CC"/>
                </a:solidFill>
                <a:latin typeface="Times New Roman" panose="02020603050405020304" pitchFamily="18" charset="0"/>
                <a:cs typeface="Times New Roman" panose="02020603050405020304" pitchFamily="18" charset="0"/>
              </a:rPr>
              <a:t>	</a:t>
            </a:r>
            <a:r>
              <a:rPr lang="en-US" b="1" dirty="0"/>
              <a:t> This curve shows the </a:t>
            </a:r>
            <a:r>
              <a:rPr lang="en-US" b="1" dirty="0">
                <a:solidFill>
                  <a:srgbClr val="0043C8"/>
                </a:solidFill>
                <a:highlight>
                  <a:srgbClr val="FFFF00"/>
                </a:highlight>
              </a:rPr>
              <a:t>distribution of the mean goals from many random samples</a:t>
            </a:r>
            <a:r>
              <a:rPr lang="en-US" b="1" dirty="0"/>
              <a:t> (of size 30). The shape is bell-shaped (nearly normal), even though the original was </a:t>
            </a:r>
            <a:r>
              <a:rPr lang="en-US" b="1" dirty="0">
                <a:solidFill>
                  <a:srgbClr val="0043C8"/>
                </a:solidFill>
                <a:highlight>
                  <a:srgbClr val="00FF00"/>
                </a:highlight>
              </a:rPr>
              <a:t>highly skewed</a:t>
            </a:r>
            <a:r>
              <a:rPr lang="en-US" b="1" dirty="0"/>
              <a:t>. This shows the Central Limit Theorem in action: the distribution of sample means will be normal if the sample size is large enough.</a:t>
            </a:r>
            <a:endParaRPr lang="en-IN"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A0108C9-8245-346C-BB67-25D59B8E6E40}"/>
              </a:ext>
            </a:extLst>
          </p:cNvPr>
          <p:cNvPicPr>
            <a:picLocks noGrp="1" noRot="1" noChangeAspect="1" noMove="1" noResize="1" noEditPoints="1" noAdjustHandles="1" noChangeArrowheads="1" noChangeShapeType="1" noCrop="1"/>
          </p:cNvPicPr>
          <p:nvPr/>
        </p:nvPicPr>
        <p:blipFill>
          <a:blip r:embed="rId4"/>
          <a:stretch>
            <a:fillRect/>
          </a:stretch>
        </p:blipFill>
        <p:spPr>
          <a:xfrm>
            <a:off x="48899" y="929682"/>
            <a:ext cx="5818501" cy="3680417"/>
          </a:xfrm>
          <a:prstGeom prst="rect">
            <a:avLst/>
          </a:prstGeom>
        </p:spPr>
      </p:pic>
      <p:pic>
        <p:nvPicPr>
          <p:cNvPr id="3" name="Picture 2">
            <a:extLst>
              <a:ext uri="{FF2B5EF4-FFF2-40B4-BE49-F238E27FC236}">
                <a16:creationId xmlns:a16="http://schemas.microsoft.com/office/drawing/2014/main" id="{C5A6F031-BA80-8ABA-A74F-94BEC9461210}"/>
              </a:ext>
            </a:extLst>
          </p:cNvPr>
          <p:cNvPicPr>
            <a:picLocks noChangeAspect="1"/>
          </p:cNvPicPr>
          <p:nvPr/>
        </p:nvPicPr>
        <p:blipFill>
          <a:blip r:embed="rId5"/>
          <a:stretch>
            <a:fillRect/>
          </a:stretch>
        </p:blipFill>
        <p:spPr>
          <a:xfrm>
            <a:off x="6203123" y="929682"/>
            <a:ext cx="5891077" cy="3680417"/>
          </a:xfrm>
          <a:prstGeom prst="rect">
            <a:avLst/>
          </a:prstGeom>
        </p:spPr>
      </p:pic>
    </p:spTree>
    <p:extLst>
      <p:ext uri="{BB962C8B-B14F-4D97-AF65-F5344CB8AC3E}">
        <p14:creationId xmlns:p14="http://schemas.microsoft.com/office/powerpoint/2010/main" val="3638487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B1521269-D105-432B-DCEF-4624EF32B3C1}"/>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21178306-5339-D61F-F049-BA322BEDA775}"/>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762625" y="1227884"/>
            <a:ext cx="6181725" cy="5121641"/>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6CF2DFEE-C99A-BDC6-2BA2-C251910FB66A}"/>
              </a:ext>
            </a:extLst>
          </p:cNvPr>
          <p:cNvSpPr>
            <a:spLocks noGrp="1" noRot="1" noMove="1" noResize="1" noEditPoints="1" noAdjustHandles="1" noChangeArrowheads="1" noChangeShapeType="1"/>
          </p:cNvSpPr>
          <p:nvPr>
            <p:ph type="body" idx="1"/>
          </p:nvPr>
        </p:nvSpPr>
        <p:spPr>
          <a:xfrm>
            <a:off x="0" y="885353"/>
            <a:ext cx="5695672" cy="5464172"/>
          </a:xfrm>
        </p:spPr>
        <p:txBody>
          <a:bodyPr>
            <a:normAutofit/>
          </a:bodyPr>
          <a:lstStyle/>
          <a:p>
            <a:pPr rtl="0">
              <a:buSzPts val="2400"/>
            </a:pPr>
            <a:r>
              <a:rPr lang="en-US" sz="2000" b="1" dirty="0">
                <a:solidFill>
                  <a:schemeClr val="tx1"/>
                </a:solidFill>
              </a:rPr>
              <a:t>Based on correlation analysis and model testing, the top features for predicting player goals are:</a:t>
            </a:r>
          </a:p>
          <a:p>
            <a:pPr marL="1257300" lvl="2" indent="-342900">
              <a:buFont typeface="Wingdings" panose="05000000000000000000" pitchFamily="2" charset="2"/>
              <a:buChar char="§"/>
            </a:pPr>
            <a:r>
              <a:rPr lang="en-US" b="1" dirty="0">
                <a:solidFill>
                  <a:srgbClr val="0033CC"/>
                </a:solidFill>
              </a:rPr>
              <a:t>Assists</a:t>
            </a:r>
          </a:p>
          <a:p>
            <a:pPr marL="1257300" lvl="2" indent="-342900">
              <a:buFont typeface="Wingdings" panose="05000000000000000000" pitchFamily="2" charset="2"/>
              <a:buChar char="§"/>
            </a:pPr>
            <a:r>
              <a:rPr lang="en-US" b="1" dirty="0">
                <a:solidFill>
                  <a:srgbClr val="0033CC"/>
                </a:solidFill>
              </a:rPr>
              <a:t>Minutes Played</a:t>
            </a:r>
          </a:p>
          <a:p>
            <a:pPr marL="1257300" lvl="2" indent="-342900">
              <a:buFont typeface="Wingdings" panose="05000000000000000000" pitchFamily="2" charset="2"/>
              <a:buChar char="§"/>
            </a:pPr>
            <a:r>
              <a:rPr lang="en-US" b="1" dirty="0">
                <a:solidFill>
                  <a:srgbClr val="0033CC"/>
                </a:solidFill>
              </a:rPr>
              <a:t>Home Club Goals</a:t>
            </a:r>
          </a:p>
          <a:p>
            <a:pPr marL="1257300" lvl="2" indent="-342900">
              <a:buFont typeface="Wingdings" panose="05000000000000000000" pitchFamily="2" charset="2"/>
              <a:buChar char="§"/>
            </a:pPr>
            <a:r>
              <a:rPr lang="en-US" b="1" dirty="0">
                <a:solidFill>
                  <a:srgbClr val="0033CC"/>
                </a:solidFill>
              </a:rPr>
              <a:t>Away Club Goals</a:t>
            </a:r>
          </a:p>
          <a:p>
            <a:pPr marL="1257300" lvl="2" indent="-342900">
              <a:buFont typeface="Wingdings" panose="05000000000000000000" pitchFamily="2" charset="2"/>
              <a:buChar char="§"/>
            </a:pPr>
            <a:r>
              <a:rPr lang="en-US" b="1" dirty="0">
                <a:solidFill>
                  <a:srgbClr val="0033CC"/>
                </a:solidFill>
              </a:rPr>
              <a:t>Goals per 90 minutes</a:t>
            </a:r>
          </a:p>
          <a:p>
            <a:pPr marL="342900" indent="-342900">
              <a:buFont typeface="Wingdings" panose="05000000000000000000" pitchFamily="2" charset="2"/>
              <a:buChar char="v"/>
            </a:pPr>
            <a:r>
              <a:rPr lang="en-US" sz="2000" b="1" dirty="0">
                <a:solidFill>
                  <a:schemeClr val="tx1"/>
                </a:solidFill>
              </a:rPr>
              <a:t>Building and Testing the Predictive Model :</a:t>
            </a:r>
            <a:endParaRPr lang="en-IN" sz="2000" b="1" dirty="0">
              <a:solidFill>
                <a:schemeClr val="tx1"/>
              </a:solidFill>
            </a:endParaRPr>
          </a:p>
          <a:p>
            <a:pPr marL="800100" lvl="1" indent="-342900">
              <a:buFont typeface="Wingdings" panose="05000000000000000000" pitchFamily="2" charset="2"/>
              <a:buChar char="Ø"/>
            </a:pPr>
            <a:r>
              <a:rPr lang="en-US" sz="1700" b="1" dirty="0">
                <a:solidFill>
                  <a:schemeClr val="tx1">
                    <a:lumMod val="95000"/>
                    <a:lumOff val="5000"/>
                  </a:schemeClr>
                </a:solidFill>
              </a:rPr>
              <a:t>Model Performance:</a:t>
            </a:r>
          </a:p>
          <a:p>
            <a:pPr marL="1257300" lvl="2" indent="-342900">
              <a:buFont typeface="Wingdings" panose="05000000000000000000" pitchFamily="2" charset="2"/>
              <a:buChar char="Ø"/>
            </a:pPr>
            <a:r>
              <a:rPr lang="en-US" sz="1700" b="1" dirty="0">
                <a:solidFill>
                  <a:schemeClr val="tx1"/>
                </a:solidFill>
              </a:rPr>
              <a:t>Mean Absolute Error (MAE): </a:t>
            </a:r>
            <a:r>
              <a:rPr lang="en-US" sz="1700" b="1" dirty="0">
                <a:solidFill>
                  <a:srgbClr val="FF0000"/>
                </a:solidFill>
              </a:rPr>
              <a:t>0.13</a:t>
            </a:r>
            <a:endParaRPr lang="en-US" sz="1700" b="1" dirty="0">
              <a:solidFill>
                <a:schemeClr val="tx1">
                  <a:lumMod val="95000"/>
                  <a:lumOff val="5000"/>
                </a:schemeClr>
              </a:solidFill>
            </a:endParaRPr>
          </a:p>
          <a:p>
            <a:pPr marL="1257300" lvl="2" indent="-342900">
              <a:buFont typeface="Wingdings" panose="05000000000000000000" pitchFamily="2" charset="2"/>
              <a:buChar char="Ø"/>
            </a:pPr>
            <a:r>
              <a:rPr lang="en-US" sz="1700" b="1" dirty="0">
                <a:solidFill>
                  <a:schemeClr val="tx1"/>
                </a:solidFill>
              </a:rPr>
              <a:t>Mean Squared Error (MSE): </a:t>
            </a:r>
            <a:r>
              <a:rPr lang="en-US" sz="1700" b="1" dirty="0">
                <a:solidFill>
                  <a:srgbClr val="FF0000"/>
                </a:solidFill>
              </a:rPr>
              <a:t>0.05</a:t>
            </a:r>
            <a:r>
              <a:rPr lang="en-US" sz="1700" b="1" dirty="0">
                <a:solidFill>
                  <a:schemeClr val="tx1"/>
                </a:solidFill>
              </a:rPr>
              <a:t> </a:t>
            </a:r>
            <a:endParaRPr lang="en-US" sz="1700" b="1" dirty="0">
              <a:solidFill>
                <a:schemeClr val="tx1">
                  <a:lumMod val="95000"/>
                  <a:lumOff val="5000"/>
                </a:schemeClr>
              </a:solidFill>
            </a:endParaRPr>
          </a:p>
          <a:p>
            <a:pPr marL="1257300" lvl="2" indent="-342900">
              <a:buFont typeface="Wingdings" panose="05000000000000000000" pitchFamily="2" charset="2"/>
              <a:buChar char="Ø"/>
            </a:pPr>
            <a:r>
              <a:rPr lang="en-US" sz="1700" b="1" dirty="0">
                <a:solidFill>
                  <a:schemeClr val="tx1"/>
                </a:solidFill>
              </a:rPr>
              <a:t>R2 Score: </a:t>
            </a:r>
            <a:r>
              <a:rPr lang="en-US" sz="1700" b="1" dirty="0">
                <a:solidFill>
                  <a:srgbClr val="FF0000"/>
                </a:solidFill>
              </a:rPr>
              <a:t>0.71</a:t>
            </a:r>
            <a:endParaRPr lang="en-US" sz="1700" b="1" dirty="0">
              <a:solidFill>
                <a:schemeClr val="tx1"/>
              </a:solidFill>
            </a:endParaRPr>
          </a:p>
          <a:p>
            <a:pPr marL="1257300" lvl="2" indent="-342900">
              <a:buFont typeface="Wingdings" panose="05000000000000000000" pitchFamily="2" charset="2"/>
              <a:buChar char="Ø"/>
            </a:pPr>
            <a:r>
              <a:rPr lang="en-US" sz="1700" b="1" dirty="0">
                <a:solidFill>
                  <a:schemeClr val="tx1"/>
                </a:solidFill>
              </a:rPr>
              <a:t>RMSE: </a:t>
            </a:r>
            <a:r>
              <a:rPr lang="en-US" sz="1700" b="1" dirty="0">
                <a:solidFill>
                  <a:srgbClr val="FF0000"/>
                </a:solidFill>
              </a:rPr>
              <a:t>0.23 </a:t>
            </a:r>
            <a:endParaRPr lang="en-US" sz="1700" b="1" dirty="0">
              <a:solidFill>
                <a:schemeClr val="tx1">
                  <a:lumMod val="95000"/>
                  <a:lumOff val="5000"/>
                </a:schemeClr>
              </a:solidFill>
            </a:endParaRPr>
          </a:p>
          <a:p>
            <a:pPr marL="800100" lvl="1" indent="-342900">
              <a:buFont typeface="Wingdings" panose="05000000000000000000" pitchFamily="2" charset="2"/>
              <a:buChar char="Ø"/>
            </a:pPr>
            <a:r>
              <a:rPr lang="en-US" sz="1700" b="1" dirty="0">
                <a:solidFill>
                  <a:schemeClr val="tx1">
                    <a:lumMod val="95000"/>
                    <a:lumOff val="5000"/>
                  </a:schemeClr>
                </a:solidFill>
              </a:rPr>
              <a:t>These scores show the model predicts well and can be trusted for analysis.</a:t>
            </a:r>
            <a:endParaRPr lang="en-US" b="1" dirty="0">
              <a:solidFill>
                <a:srgbClr val="0033CC"/>
              </a:solidFill>
            </a:endParaRPr>
          </a:p>
        </p:txBody>
      </p:sp>
      <p:sp>
        <p:nvSpPr>
          <p:cNvPr id="6" name="Rectangle 5">
            <a:extLst>
              <a:ext uri="{FF2B5EF4-FFF2-40B4-BE49-F238E27FC236}">
                <a16:creationId xmlns:a16="http://schemas.microsoft.com/office/drawing/2014/main" id="{5E683719-FF78-65DB-BE82-AECD086B7B24}"/>
              </a:ext>
            </a:extLst>
          </p:cNvPr>
          <p:cNvSpPr>
            <a:spLocks noGrp="1" noRot="1" noMove="1" noResize="1" noEditPoints="1" noAdjustHandles="1" noChangeArrowheads="1" noChangeShapeType="1"/>
          </p:cNvSpPr>
          <p:nvPr/>
        </p:nvSpPr>
        <p:spPr>
          <a:xfrm>
            <a:off x="6972300" y="1793794"/>
            <a:ext cx="4221177" cy="20955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C8B3C63F-6424-FAFB-6993-42964832FD0E}"/>
              </a:ext>
            </a:extLst>
          </p:cNvPr>
          <p:cNvSpPr>
            <a:spLocks noGrp="1" noRot="1" noMove="1" noResize="1" noEditPoints="1" noAdjustHandles="1" noChangeArrowheads="1" noChangeShapeType="1"/>
          </p:cNvSpPr>
          <p:nvPr/>
        </p:nvSpPr>
        <p:spPr>
          <a:xfrm rot="5400000">
            <a:off x="9168225" y="3307856"/>
            <a:ext cx="3271009" cy="242887"/>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6E6862A-9497-B554-E1AE-1C724C138B19}"/>
              </a:ext>
            </a:extLst>
          </p:cNvPr>
          <p:cNvSpPr>
            <a:spLocks noGrp="1" noRot="1" noMove="1" noResize="1" noEditPoints="1" noAdjustHandles="1" noChangeArrowheads="1" noChangeShapeType="1"/>
          </p:cNvSpPr>
          <p:nvPr/>
        </p:nvSpPr>
        <p:spPr>
          <a:xfrm rot="5400000">
            <a:off x="8105394" y="3295949"/>
            <a:ext cx="3271009" cy="26670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13E7835-A8D9-E83E-F5B8-97611A09CE1A}"/>
              </a:ext>
            </a:extLst>
          </p:cNvPr>
          <p:cNvSpPr>
            <a:spLocks noGrp="1" noRot="1" noMove="1" noResize="1" noEditPoints="1" noAdjustHandles="1" noChangeArrowheads="1" noChangeShapeType="1"/>
          </p:cNvSpPr>
          <p:nvPr/>
        </p:nvSpPr>
        <p:spPr>
          <a:xfrm rot="5400000">
            <a:off x="8376062" y="3295949"/>
            <a:ext cx="3271009" cy="26670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EA734DE5-8081-2CA7-6707-0954C7C2A294}"/>
              </a:ext>
            </a:extLst>
          </p:cNvPr>
          <p:cNvSpPr>
            <a:spLocks noGrp="1" noRot="1" noMove="1" noResize="1" noEditPoints="1" noAdjustHandles="1" noChangeArrowheads="1" noChangeShapeType="1"/>
          </p:cNvSpPr>
          <p:nvPr/>
        </p:nvSpPr>
        <p:spPr>
          <a:xfrm rot="5400000">
            <a:off x="6273816" y="3295947"/>
            <a:ext cx="3271009" cy="26670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472125CB-2086-9A0D-520F-59E0B6986E46}"/>
              </a:ext>
            </a:extLst>
          </p:cNvPr>
          <p:cNvSpPr>
            <a:spLocks noGrp="1" noRot="1" noMove="1" noResize="1" noEditPoints="1" noAdjustHandles="1" noChangeArrowheads="1" noChangeShapeType="1"/>
          </p:cNvSpPr>
          <p:nvPr/>
        </p:nvSpPr>
        <p:spPr>
          <a:xfrm rot="5400000">
            <a:off x="6542501" y="3295947"/>
            <a:ext cx="3271009" cy="26670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Oval 12">
            <a:extLst>
              <a:ext uri="{FF2B5EF4-FFF2-40B4-BE49-F238E27FC236}">
                <a16:creationId xmlns:a16="http://schemas.microsoft.com/office/drawing/2014/main" id="{47C83A16-2B82-C9FA-3834-C12FAA708365}"/>
              </a:ext>
            </a:extLst>
          </p:cNvPr>
          <p:cNvSpPr>
            <a:spLocks noGrp="1" noRot="1" noMove="1" noResize="1" noEditPoints="1" noAdjustHandles="1" noChangeArrowheads="1" noChangeShapeType="1"/>
          </p:cNvSpPr>
          <p:nvPr/>
        </p:nvSpPr>
        <p:spPr>
          <a:xfrm>
            <a:off x="7715339" y="1717060"/>
            <a:ext cx="666572" cy="376015"/>
          </a:xfrm>
          <a:prstGeom prst="ellipse">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2AC50E6D-2417-C716-E187-12AAE69B89BD}"/>
              </a:ext>
            </a:extLst>
          </p:cNvPr>
          <p:cNvSpPr>
            <a:spLocks noGrp="1" noRot="1" noMove="1" noResize="1" noEditPoints="1" noAdjustHandles="1" noChangeArrowheads="1" noChangeShapeType="1"/>
          </p:cNvSpPr>
          <p:nvPr/>
        </p:nvSpPr>
        <p:spPr>
          <a:xfrm>
            <a:off x="9537465" y="1717059"/>
            <a:ext cx="666572" cy="376015"/>
          </a:xfrm>
          <a:prstGeom prst="ellipse">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DBB283ED-4473-DD06-8A6E-CEFB154932F8}"/>
              </a:ext>
            </a:extLst>
          </p:cNvPr>
          <p:cNvSpPr>
            <a:spLocks noGrp="1" noRot="1" noMove="1" noResize="1" noEditPoints="1" noAdjustHandles="1" noChangeArrowheads="1" noChangeShapeType="1"/>
          </p:cNvSpPr>
          <p:nvPr/>
        </p:nvSpPr>
        <p:spPr>
          <a:xfrm>
            <a:off x="10621624" y="1717059"/>
            <a:ext cx="364209" cy="376015"/>
          </a:xfrm>
          <a:prstGeom prst="ellipse">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 Placeholder 2">
            <a:extLst>
              <a:ext uri="{FF2B5EF4-FFF2-40B4-BE49-F238E27FC236}">
                <a16:creationId xmlns:a16="http://schemas.microsoft.com/office/drawing/2014/main" id="{EBD976A1-862E-A7EF-5D44-A255B629EBCF}"/>
              </a:ext>
            </a:extLst>
          </p:cNvPr>
          <p:cNvSpPr txBox="1">
            <a:spLocks noGrp="1" noRot="1" noMove="1" noResize="1" noEditPoints="1" noAdjustHandles="1" noChangeArrowheads="1" noChangeShapeType="1"/>
          </p:cNvSpPr>
          <p:nvPr/>
        </p:nvSpPr>
        <p:spPr>
          <a:xfrm>
            <a:off x="247650" y="145140"/>
            <a:ext cx="11696700" cy="650482"/>
          </a:xfrm>
          <a:prstGeom prst="rect">
            <a:avLst/>
          </a:prstGeom>
          <a:ln>
            <a:solidFill>
              <a:srgbClr val="002060"/>
            </a:solidFill>
          </a:ln>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sz="4000" b="1" dirty="0">
                <a:solidFill>
                  <a:srgbClr val="002060"/>
                </a:solidFill>
                <a:latin typeface="Times New Roman" panose="02020603050405020304" pitchFamily="18" charset="0"/>
                <a:cs typeface="Times New Roman" panose="02020603050405020304" pitchFamily="18" charset="0"/>
              </a:rPr>
              <a:t>Linear Regression Model For Predicting Goals :</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2397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CBC84036-B03E-6D2B-A9A3-F34101AB50B0}"/>
            </a:ext>
          </a:extLst>
        </p:cNvPr>
        <p:cNvGrpSpPr/>
        <p:nvPr/>
      </p:nvGrpSpPr>
      <p:grpSpPr>
        <a:xfrm>
          <a:off x="0" y="0"/>
          <a:ext cx="0" cy="0"/>
          <a:chOff x="0" y="0"/>
          <a:chExt cx="0" cy="0"/>
        </a:xfrm>
      </p:grpSpPr>
      <p:sp>
        <p:nvSpPr>
          <p:cNvPr id="5" name="Text Placeholder 2">
            <a:extLst>
              <a:ext uri="{FF2B5EF4-FFF2-40B4-BE49-F238E27FC236}">
                <a16:creationId xmlns:a16="http://schemas.microsoft.com/office/drawing/2014/main" id="{A42C36F9-7634-D138-4669-00413D80162A}"/>
              </a:ext>
            </a:extLst>
          </p:cNvPr>
          <p:cNvSpPr txBox="1">
            <a:spLocks noGrp="1" noRot="1" noMove="1" noResize="1" noEditPoints="1" noAdjustHandles="1" noChangeArrowheads="1" noChangeShapeType="1"/>
          </p:cNvSpPr>
          <p:nvPr/>
        </p:nvSpPr>
        <p:spPr>
          <a:xfrm>
            <a:off x="247650" y="123605"/>
            <a:ext cx="11696700" cy="650482"/>
          </a:xfrm>
          <a:prstGeom prst="rect">
            <a:avLst/>
          </a:prstGeom>
          <a:ln>
            <a:solidFill>
              <a:srgbClr val="002060"/>
            </a:solid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sz="4000" b="1" dirty="0">
                <a:solidFill>
                  <a:srgbClr val="002060"/>
                </a:solidFill>
                <a:latin typeface="Times New Roman" panose="02020603050405020304" pitchFamily="18" charset="0"/>
                <a:cs typeface="Times New Roman" panose="02020603050405020304" pitchFamily="18" charset="0"/>
              </a:rPr>
              <a:t>Residual plot &amp; Actual vs Predicted Goals :</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22" name="Straight Connector 21">
            <a:extLst>
              <a:ext uri="{FF2B5EF4-FFF2-40B4-BE49-F238E27FC236}">
                <a16:creationId xmlns:a16="http://schemas.microsoft.com/office/drawing/2014/main" id="{474BFEFE-BA09-E0E3-780D-8C96699B4D17}"/>
              </a:ext>
            </a:extLst>
          </p:cNvPr>
          <p:cNvCxnSpPr>
            <a:cxnSpLocks noGrp="1" noRot="1" noMove="1" noResize="1" noEditPoints="1" noAdjustHandles="1" noChangeArrowheads="1" noChangeShapeType="1"/>
            <a:stCxn id="5" idx="2"/>
            <a:endCxn id="27" idx="0"/>
          </p:cNvCxnSpPr>
          <p:nvPr/>
        </p:nvCxnSpPr>
        <p:spPr>
          <a:xfrm flipH="1">
            <a:off x="6095999" y="774087"/>
            <a:ext cx="1" cy="5425745"/>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24" name="Text Placeholder 2">
            <a:extLst>
              <a:ext uri="{FF2B5EF4-FFF2-40B4-BE49-F238E27FC236}">
                <a16:creationId xmlns:a16="http://schemas.microsoft.com/office/drawing/2014/main" id="{5715398B-4366-6915-C4D5-C1C0A5B2902E}"/>
              </a:ext>
            </a:extLst>
          </p:cNvPr>
          <p:cNvSpPr txBox="1">
            <a:spLocks noGrp="1" noRot="1" noMove="1" noResize="1" noEditPoints="1" noAdjustHandles="1" noChangeArrowheads="1" noChangeShapeType="1"/>
          </p:cNvSpPr>
          <p:nvPr/>
        </p:nvSpPr>
        <p:spPr>
          <a:xfrm>
            <a:off x="6096002" y="4257675"/>
            <a:ext cx="6095998" cy="164270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IN" b="1" i="0" u="none" strike="noStrike" kern="1200" baseline="0" dirty="0">
                <a:solidFill>
                  <a:srgbClr val="002060"/>
                </a:solidFill>
                <a:latin typeface="Aptos" panose="020B0004020202020204" pitchFamily="34" charset="0"/>
              </a:rPr>
              <a:t>Actual vs Predicted Goals </a:t>
            </a:r>
            <a:r>
              <a:rPr lang="en-IN" b="1" dirty="0">
                <a:solidFill>
                  <a:srgbClr val="002060"/>
                </a:solidFill>
              </a:rPr>
              <a:t>:</a:t>
            </a:r>
          </a:p>
          <a:p>
            <a:pPr marL="285750" indent="-285750">
              <a:buFont typeface="Wingdings" panose="05000000000000000000" pitchFamily="2" charset="2"/>
              <a:buChar char="v"/>
            </a:pPr>
            <a:r>
              <a:rPr lang="en-US" sz="1700" dirty="0">
                <a:solidFill>
                  <a:schemeClr val="tx1"/>
                </a:solidFill>
                <a:latin typeface="Times New Roman" panose="02020603050405020304" pitchFamily="18" charset="0"/>
                <a:cs typeface="Times New Roman" panose="02020603050405020304" pitchFamily="18" charset="0"/>
              </a:rPr>
              <a:t> The actual vs predicted chart shows our model predicts football goals mostly well, with points close to the diagonal line.</a:t>
            </a:r>
          </a:p>
          <a:p>
            <a:pPr marL="285750" indent="-285750">
              <a:buFont typeface="Wingdings" panose="05000000000000000000" pitchFamily="2" charset="2"/>
              <a:buChar char="v"/>
            </a:pPr>
            <a:r>
              <a:rPr lang="en-US" sz="1700" dirty="0">
                <a:solidFill>
                  <a:schemeClr val="tx1"/>
                </a:solidFill>
                <a:latin typeface="Times New Roman" panose="02020603050405020304" pitchFamily="18" charset="0"/>
                <a:cs typeface="Times New Roman" panose="02020603050405020304" pitchFamily="18" charset="0"/>
              </a:rPr>
              <a:t>When the actual goals get higher, the predictions sometimes miss and spread out more.</a:t>
            </a:r>
          </a:p>
          <a:p>
            <a:pPr lvl="1" algn="just"/>
            <a:endParaRPr lang="en-US" b="1" dirty="0">
              <a:latin typeface="Times New Roman" panose="02020603050405020304" pitchFamily="18" charset="0"/>
              <a:cs typeface="Times New Roman" panose="02020603050405020304" pitchFamily="18" charset="0"/>
            </a:endParaRPr>
          </a:p>
        </p:txBody>
      </p:sp>
      <p:sp>
        <p:nvSpPr>
          <p:cNvPr id="25" name="Text Placeholder 2">
            <a:extLst>
              <a:ext uri="{FF2B5EF4-FFF2-40B4-BE49-F238E27FC236}">
                <a16:creationId xmlns:a16="http://schemas.microsoft.com/office/drawing/2014/main" id="{AC6F7087-D32B-290E-6F86-F10787605029}"/>
              </a:ext>
            </a:extLst>
          </p:cNvPr>
          <p:cNvSpPr txBox="1">
            <a:spLocks noGrp="1" noRot="1" noMove="1" noResize="1" noEditPoints="1" noAdjustHandles="1" noChangeArrowheads="1" noChangeShapeType="1"/>
          </p:cNvSpPr>
          <p:nvPr/>
        </p:nvSpPr>
        <p:spPr>
          <a:xfrm>
            <a:off x="78549" y="4257675"/>
            <a:ext cx="6095998" cy="169288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IN" b="1" dirty="0">
                <a:solidFill>
                  <a:srgbClr val="002060"/>
                </a:solidFill>
              </a:rPr>
              <a:t>Residual Plot :</a:t>
            </a:r>
          </a:p>
          <a:p>
            <a:pPr marL="285750" indent="-285750">
              <a:buFont typeface="Wingdings" panose="05000000000000000000" pitchFamily="2" charset="2"/>
              <a:buChar char="v"/>
            </a:pPr>
            <a:r>
              <a:rPr lang="en-US" sz="1700" dirty="0">
                <a:solidFill>
                  <a:schemeClr val="tx1"/>
                </a:solidFill>
                <a:latin typeface="Times New Roman" panose="02020603050405020304" pitchFamily="18" charset="0"/>
                <a:cs typeface="Times New Roman" panose="02020603050405020304" pitchFamily="18" charset="0"/>
              </a:rPr>
              <a:t> The residual plot displays errors; most dots are close to zero, meaning our predictions are usually on target.</a:t>
            </a:r>
          </a:p>
          <a:p>
            <a:pPr marL="285750" indent="-285750">
              <a:buFont typeface="Wingdings" panose="05000000000000000000" pitchFamily="2" charset="2"/>
              <a:buChar char="v"/>
            </a:pPr>
            <a:r>
              <a:rPr lang="en-US" sz="1700" dirty="0">
                <a:solidFill>
                  <a:schemeClr val="tx1"/>
                </a:solidFill>
                <a:latin typeface="Times New Roman" panose="02020603050405020304" pitchFamily="18" charset="0"/>
                <a:cs typeface="Times New Roman" panose="02020603050405020304" pitchFamily="18" charset="0"/>
              </a:rPr>
              <a:t>Each dot shows one prediction error; points close to the Purple line mean our model predicts well.</a:t>
            </a:r>
            <a:endParaRPr lang="en-US" sz="1700" b="1" dirty="0">
              <a:latin typeface="Times New Roman" panose="02020603050405020304" pitchFamily="18" charset="0"/>
              <a:cs typeface="Times New Roman" panose="02020603050405020304" pitchFamily="18" charset="0"/>
            </a:endParaRPr>
          </a:p>
        </p:txBody>
      </p:sp>
      <p:sp>
        <p:nvSpPr>
          <p:cNvPr id="27" name="Text Placeholder 2">
            <a:extLst>
              <a:ext uri="{FF2B5EF4-FFF2-40B4-BE49-F238E27FC236}">
                <a16:creationId xmlns:a16="http://schemas.microsoft.com/office/drawing/2014/main" id="{08AAA676-395A-8B1A-A9AE-37C326836427}"/>
              </a:ext>
            </a:extLst>
          </p:cNvPr>
          <p:cNvSpPr txBox="1">
            <a:spLocks noGrp="1" noRot="1" noMove="1" noResize="1" noEditPoints="1" noAdjustHandles="1" noChangeArrowheads="1" noChangeShapeType="1"/>
          </p:cNvSpPr>
          <p:nvPr/>
        </p:nvSpPr>
        <p:spPr>
          <a:xfrm>
            <a:off x="304798" y="6199832"/>
            <a:ext cx="11582401" cy="534563"/>
          </a:xfrm>
          <a:prstGeom prst="rect">
            <a:avLst/>
          </a:prstGeom>
          <a:ln>
            <a:solidFill>
              <a:srgbClr val="002060"/>
            </a:solidFill>
          </a:ln>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lnSpc>
                <a:spcPct val="150000"/>
              </a:lnSpc>
            </a:pPr>
            <a:r>
              <a:rPr lang="en-US" sz="2000" dirty="0">
                <a:solidFill>
                  <a:schemeClr val="tx1"/>
                </a:solidFill>
                <a:latin typeface="Times New Roman" panose="02020603050405020304" pitchFamily="18" charset="0"/>
                <a:cs typeface="Times New Roman" panose="02020603050405020304" pitchFamily="18" charset="0"/>
              </a:rPr>
              <a:t>Overall, both charts show our model predicts goals well and the errors are random, which means our model is good.</a:t>
            </a:r>
          </a:p>
        </p:txBody>
      </p:sp>
      <p:pic>
        <p:nvPicPr>
          <p:cNvPr id="3" name="Picture 2">
            <a:extLst>
              <a:ext uri="{FF2B5EF4-FFF2-40B4-BE49-F238E27FC236}">
                <a16:creationId xmlns:a16="http://schemas.microsoft.com/office/drawing/2014/main" id="{00B4868B-A113-E3C1-3E73-5BEE8A727353}"/>
              </a:ext>
            </a:extLst>
          </p:cNvPr>
          <p:cNvPicPr>
            <a:picLocks noGrp="1" noRot="1" noChangeAspect="1" noMove="1" noResize="1" noEditPoints="1" noAdjustHandles="1" noChangeArrowheads="1" noChangeShapeType="1" noCrop="1"/>
          </p:cNvPicPr>
          <p:nvPr/>
        </p:nvPicPr>
        <p:blipFill>
          <a:blip r:embed="rId4"/>
          <a:stretch>
            <a:fillRect/>
          </a:stretch>
        </p:blipFill>
        <p:spPr>
          <a:xfrm>
            <a:off x="533236" y="922783"/>
            <a:ext cx="4911694" cy="3210258"/>
          </a:xfrm>
          <a:prstGeom prst="rect">
            <a:avLst/>
          </a:prstGeom>
        </p:spPr>
      </p:pic>
      <p:pic>
        <p:nvPicPr>
          <p:cNvPr id="6" name="Picture 5">
            <a:extLst>
              <a:ext uri="{FF2B5EF4-FFF2-40B4-BE49-F238E27FC236}">
                <a16:creationId xmlns:a16="http://schemas.microsoft.com/office/drawing/2014/main" id="{B062E3B7-19C6-92D6-715B-AE50A841925D}"/>
              </a:ext>
            </a:extLst>
          </p:cNvPr>
          <p:cNvPicPr>
            <a:picLocks noGrp="1" noRot="1" noChangeAspect="1" noMove="1" noResize="1" noEditPoints="1" noAdjustHandles="1" noChangeArrowheads="1" noChangeShapeType="1" noCrop="1"/>
          </p:cNvPicPr>
          <p:nvPr/>
        </p:nvPicPr>
        <p:blipFill>
          <a:blip r:embed="rId5"/>
          <a:stretch>
            <a:fillRect/>
          </a:stretch>
        </p:blipFill>
        <p:spPr>
          <a:xfrm>
            <a:off x="6766847" y="922783"/>
            <a:ext cx="4754307" cy="3210258"/>
          </a:xfrm>
          <a:prstGeom prst="rect">
            <a:avLst/>
          </a:prstGeom>
        </p:spPr>
      </p:pic>
    </p:spTree>
    <p:extLst>
      <p:ext uri="{BB962C8B-B14F-4D97-AF65-F5344CB8AC3E}">
        <p14:creationId xmlns:p14="http://schemas.microsoft.com/office/powerpoint/2010/main" val="2156516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C7F2F596-A7A2-89FF-66B9-C80FC165C55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1372D7E-2633-EDD8-46B0-29BB33417F5A}"/>
              </a:ext>
            </a:extLst>
          </p:cNvPr>
          <p:cNvPicPr>
            <a:picLocks noChangeAspect="1"/>
          </p:cNvPicPr>
          <p:nvPr/>
        </p:nvPicPr>
        <p:blipFill>
          <a:blip r:embed="rId4"/>
          <a:stretch>
            <a:fillRect/>
          </a:stretch>
        </p:blipFill>
        <p:spPr>
          <a:xfrm>
            <a:off x="0" y="-62515"/>
            <a:ext cx="12192000" cy="5873555"/>
          </a:xfrm>
          <a:prstGeom prst="rect">
            <a:avLst/>
          </a:prstGeom>
        </p:spPr>
      </p:pic>
      <p:sp>
        <p:nvSpPr>
          <p:cNvPr id="6" name="Rectangle: Rounded Corners 5">
            <a:extLst>
              <a:ext uri="{FF2B5EF4-FFF2-40B4-BE49-F238E27FC236}">
                <a16:creationId xmlns:a16="http://schemas.microsoft.com/office/drawing/2014/main" id="{3C28D3EE-C947-11DF-2FB3-6CAB6A109ABB}"/>
              </a:ext>
            </a:extLst>
          </p:cNvPr>
          <p:cNvSpPr>
            <a:spLocks/>
          </p:cNvSpPr>
          <p:nvPr/>
        </p:nvSpPr>
        <p:spPr>
          <a:xfrm>
            <a:off x="5370676" y="5811040"/>
            <a:ext cx="1090612" cy="919960"/>
          </a:xfrm>
          <a:prstGeom prst="roundRect">
            <a:avLst/>
          </a:prstGeom>
          <a:solidFill>
            <a:srgbClr val="243E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F1F7ED"/>
                </a:solidFill>
                <a:latin typeface="Times New Roman" panose="02020603050405020304" pitchFamily="18" charset="0"/>
                <a:cs typeface="Times New Roman" panose="02020603050405020304" pitchFamily="18" charset="0"/>
                <a:hlinkClick r:id="rId5" tooltip="Link to the Player Performance &amp; Career Dashboard">
                  <a:extLst>
                    <a:ext uri="{A12FA001-AC4F-418D-AE19-62706E023703}">
                      <ahyp:hlinkClr xmlns:ahyp="http://schemas.microsoft.com/office/drawing/2018/hyperlinkcolor" val="tx"/>
                    </a:ext>
                  </a:extLst>
                </a:hlinkClick>
              </a:rPr>
              <a:t>Click Here</a:t>
            </a:r>
            <a:endParaRPr lang="en-IN" sz="2400" dirty="0">
              <a:solidFill>
                <a:srgbClr val="F1F7E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7491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8212E84E-29AD-0C09-3B4B-F3847A303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8DFCD-0B8C-D0FA-F1B7-E3E2266B4C66}"/>
              </a:ext>
            </a:extLst>
          </p:cNvPr>
          <p:cNvSpPr>
            <a:spLocks noGrp="1" noRot="1" noMove="1" noResize="1" noEditPoints="1" noAdjustHandles="1" noChangeArrowheads="1" noChangeShapeType="1"/>
          </p:cNvSpPr>
          <p:nvPr>
            <p:ph type="title"/>
          </p:nvPr>
        </p:nvSpPr>
        <p:spPr>
          <a:xfrm>
            <a:off x="209558" y="104775"/>
            <a:ext cx="11772900" cy="695325"/>
          </a:xfrm>
          <a:ln>
            <a:solidFill>
              <a:srgbClr val="002060"/>
            </a:solidFill>
          </a:ln>
        </p:spPr>
        <p:txBody>
          <a:bodyPr>
            <a:noAutofit/>
          </a:bodyPr>
          <a:lstStyle/>
          <a:p>
            <a:pPr algn="ctr"/>
            <a:r>
              <a:rPr lang="en-IN" sz="4000" b="1" dirty="0">
                <a:solidFill>
                  <a:srgbClr val="002060"/>
                </a:solidFill>
                <a:latin typeface="Times New Roman" panose="02020603050405020304" pitchFamily="18" charset="0"/>
                <a:cs typeface="Times New Roman" panose="02020603050405020304" pitchFamily="18" charset="0"/>
              </a:rPr>
              <a:t>Hypothesis Testing</a:t>
            </a:r>
          </a:p>
        </p:txBody>
      </p:sp>
      <p:sp>
        <p:nvSpPr>
          <p:cNvPr id="3" name="Text Placeholder 2">
            <a:extLst>
              <a:ext uri="{FF2B5EF4-FFF2-40B4-BE49-F238E27FC236}">
                <a16:creationId xmlns:a16="http://schemas.microsoft.com/office/drawing/2014/main" id="{A24F0C3A-4186-4F71-478F-0E849FB96DB9}"/>
              </a:ext>
            </a:extLst>
          </p:cNvPr>
          <p:cNvSpPr>
            <a:spLocks noGrp="1" noRot="1" noMove="1" noResize="1" noEditPoints="1" noAdjustHandles="1" noChangeArrowheads="1" noChangeShapeType="1"/>
          </p:cNvSpPr>
          <p:nvPr>
            <p:ph sz="half" idx="1"/>
          </p:nvPr>
        </p:nvSpPr>
        <p:spPr>
          <a:xfrm>
            <a:off x="209558" y="1084264"/>
            <a:ext cx="5810250" cy="4849812"/>
          </a:xfrm>
        </p:spPr>
        <p:txBody>
          <a:bodyPr>
            <a:normAutofit fontScale="92500" lnSpcReduction="10000"/>
          </a:bodyPr>
          <a:lstStyle/>
          <a:p>
            <a:pPr>
              <a:buFont typeface="Wingdings" panose="05000000000000000000" pitchFamily="2" charset="2"/>
              <a:buChar char="Ø"/>
            </a:pPr>
            <a:r>
              <a:rPr lang="en-US" b="1" dirty="0">
                <a:solidFill>
                  <a:srgbClr val="002060"/>
                </a:solidFill>
                <a:latin typeface="Times New Roman" panose="02020603050405020304" pitchFamily="18" charset="0"/>
                <a:cs typeface="Times New Roman" panose="02020603050405020304" pitchFamily="18" charset="0"/>
              </a:rPr>
              <a:t>Null Hypothesis (H0): </a:t>
            </a:r>
          </a:p>
          <a:p>
            <a:pPr lvl="1"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There is no significant difference between the sample mean and population mean of Market value.</a:t>
            </a:r>
          </a:p>
          <a:p>
            <a:endParaRPr lang="en-IN" b="1" dirty="0">
              <a:solidFill>
                <a:srgbClr val="002060"/>
              </a:solidFill>
              <a:latin typeface="Times New Roman" panose="02020603050405020304" pitchFamily="18" charset="0"/>
              <a:cs typeface="Times New Roman" panose="02020603050405020304" pitchFamily="18" charset="0"/>
            </a:endParaRPr>
          </a:p>
          <a:p>
            <a:r>
              <a:rPr lang="en-IN" sz="3200" b="1" dirty="0">
                <a:solidFill>
                  <a:srgbClr val="002060"/>
                </a:solidFill>
                <a:latin typeface="Times New Roman" panose="02020603050405020304" pitchFamily="18" charset="0"/>
                <a:cs typeface="Times New Roman" panose="02020603050405020304" pitchFamily="18" charset="0"/>
              </a:rPr>
              <a:t>Z-Test for Market Value:</a:t>
            </a:r>
          </a:p>
          <a:p>
            <a:pPr lvl="1"/>
            <a:r>
              <a:rPr lang="fr-FR" sz="2800" b="1" dirty="0">
                <a:latin typeface="Times New Roman" panose="02020603050405020304" pitchFamily="18" charset="0"/>
                <a:cs typeface="Times New Roman" panose="02020603050405020304" pitchFamily="18" charset="0"/>
              </a:rPr>
              <a:t>Z-statistic = 0.26,</a:t>
            </a:r>
          </a:p>
          <a:p>
            <a:pPr lvl="1"/>
            <a:r>
              <a:rPr lang="fr-FR" sz="2800" b="1" dirty="0">
                <a:latin typeface="Times New Roman" panose="02020603050405020304" pitchFamily="18" charset="0"/>
                <a:cs typeface="Times New Roman" panose="02020603050405020304" pitchFamily="18" charset="0"/>
              </a:rPr>
              <a:t>P-value = 0.85 (&gt; 0.05)</a:t>
            </a:r>
          </a:p>
          <a:p>
            <a:pPr marL="457200" lvl="1" indent="0">
              <a:buNone/>
            </a:pPr>
            <a:endParaRPr lang="en-IN" sz="3200" b="1" dirty="0">
              <a:solidFill>
                <a:srgbClr val="002060"/>
              </a:solidFill>
              <a:latin typeface="Times New Roman" panose="02020603050405020304" pitchFamily="18" charset="0"/>
              <a:cs typeface="Times New Roman" panose="02020603050405020304" pitchFamily="18" charset="0"/>
            </a:endParaRPr>
          </a:p>
          <a:p>
            <a:r>
              <a:rPr lang="en-IN" sz="3200" b="1" dirty="0">
                <a:solidFill>
                  <a:srgbClr val="002060"/>
                </a:solidFill>
                <a:latin typeface="Times New Roman" panose="02020603050405020304" pitchFamily="18" charset="0"/>
                <a:cs typeface="Times New Roman" panose="02020603050405020304" pitchFamily="18" charset="0"/>
              </a:rPr>
              <a:t>Interpretation:</a:t>
            </a:r>
          </a:p>
          <a:p>
            <a:pPr lvl="1"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 Accepted H0. The sample market value is consistent with the population mean.</a:t>
            </a:r>
          </a:p>
        </p:txBody>
      </p:sp>
      <p:sp>
        <p:nvSpPr>
          <p:cNvPr id="4" name="Content Placeholder 3">
            <a:extLst>
              <a:ext uri="{FF2B5EF4-FFF2-40B4-BE49-F238E27FC236}">
                <a16:creationId xmlns:a16="http://schemas.microsoft.com/office/drawing/2014/main" id="{9713AFEB-43FE-D6F6-DE05-0B91568C58FE}"/>
              </a:ext>
            </a:extLst>
          </p:cNvPr>
          <p:cNvSpPr>
            <a:spLocks noGrp="1" noRot="1" noMove="1" noResize="1" noEditPoints="1" noAdjustHandles="1" noChangeArrowheads="1" noChangeShapeType="1"/>
          </p:cNvSpPr>
          <p:nvPr>
            <p:ph sz="half" idx="2"/>
          </p:nvPr>
        </p:nvSpPr>
        <p:spPr>
          <a:xfrm>
            <a:off x="6134108" y="1084261"/>
            <a:ext cx="5810250" cy="4849813"/>
          </a:xfrm>
        </p:spPr>
        <p:txBody>
          <a:bodyPr>
            <a:normAutofit fontScale="92500" lnSpcReduction="10000"/>
          </a:bodyPr>
          <a:lstStyle/>
          <a:p>
            <a:pPr>
              <a:buFont typeface="Wingdings" panose="05000000000000000000" pitchFamily="2" charset="2"/>
              <a:buChar char="Ø"/>
            </a:pPr>
            <a:r>
              <a:rPr lang="en-US" b="1" dirty="0">
                <a:solidFill>
                  <a:srgbClr val="002060"/>
                </a:solidFill>
                <a:latin typeface="Times New Roman" panose="02020603050405020304" pitchFamily="18" charset="0"/>
                <a:cs typeface="Times New Roman" panose="02020603050405020304" pitchFamily="18" charset="0"/>
              </a:rPr>
              <a:t>Null Hypothesis (H0):</a:t>
            </a:r>
            <a:r>
              <a:rPr lang="en-US" sz="3200" b="1" dirty="0">
                <a:solidFill>
                  <a:srgbClr val="002060"/>
                </a:solidFill>
                <a:latin typeface="Times New Roman" panose="02020603050405020304" pitchFamily="18" charset="0"/>
                <a:cs typeface="Times New Roman" panose="02020603050405020304" pitchFamily="18" charset="0"/>
              </a:rPr>
              <a:t> </a:t>
            </a:r>
          </a:p>
          <a:p>
            <a:pPr lvl="1"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There is no significant difference between the sample mean and population mean of Assists.</a:t>
            </a:r>
          </a:p>
          <a:p>
            <a:pPr marL="457200" lvl="1" indent="0">
              <a:buNone/>
            </a:pPr>
            <a:endParaRPr lang="en-IN" b="1" dirty="0">
              <a:latin typeface="Times New Roman" panose="02020603050405020304" pitchFamily="18" charset="0"/>
              <a:cs typeface="Times New Roman" panose="02020603050405020304" pitchFamily="18" charset="0"/>
            </a:endParaRPr>
          </a:p>
          <a:p>
            <a:r>
              <a:rPr lang="en-IN" sz="3200" b="1" dirty="0">
                <a:solidFill>
                  <a:srgbClr val="002060"/>
                </a:solidFill>
                <a:latin typeface="Times New Roman" panose="02020603050405020304" pitchFamily="18" charset="0"/>
                <a:cs typeface="Times New Roman" panose="02020603050405020304" pitchFamily="18" charset="0"/>
              </a:rPr>
              <a:t>T-Test for Assists:</a:t>
            </a:r>
          </a:p>
          <a:p>
            <a:pPr lvl="1"/>
            <a:r>
              <a:rPr lang="pl-PL" sz="2800" b="1" dirty="0">
                <a:latin typeface="Times New Roman" panose="02020603050405020304" pitchFamily="18" charset="0"/>
                <a:cs typeface="Times New Roman" panose="02020603050405020304" pitchFamily="18" charset="0"/>
              </a:rPr>
              <a:t>T-statistic = -2.81</a:t>
            </a:r>
          </a:p>
          <a:p>
            <a:pPr lvl="1"/>
            <a:r>
              <a:rPr lang="pl-PL" sz="2800" b="1" dirty="0">
                <a:latin typeface="Times New Roman" panose="02020603050405020304" pitchFamily="18" charset="0"/>
                <a:cs typeface="Times New Roman" panose="02020603050405020304" pitchFamily="18" charset="0"/>
              </a:rPr>
              <a:t>P-value = 0.</a:t>
            </a:r>
            <a:r>
              <a:rPr lang="en-IN" sz="2800" b="1" dirty="0">
                <a:latin typeface="Times New Roman" panose="02020603050405020304" pitchFamily="18" charset="0"/>
                <a:cs typeface="Times New Roman" panose="02020603050405020304" pitchFamily="18" charset="0"/>
              </a:rPr>
              <a:t>27</a:t>
            </a:r>
            <a:r>
              <a:rPr lang="pl-PL" sz="28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&gt;</a:t>
            </a:r>
            <a:r>
              <a:rPr lang="pl-PL" sz="2800" b="1" dirty="0">
                <a:latin typeface="Times New Roman" panose="02020603050405020304" pitchFamily="18" charset="0"/>
                <a:cs typeface="Times New Roman" panose="02020603050405020304" pitchFamily="18" charset="0"/>
              </a:rPr>
              <a:t>0.05)</a:t>
            </a:r>
          </a:p>
          <a:p>
            <a:endParaRPr lang="en-IN" b="1" dirty="0">
              <a:solidFill>
                <a:srgbClr val="002060"/>
              </a:solidFill>
              <a:latin typeface="Times New Roman" panose="02020603050405020304" pitchFamily="18" charset="0"/>
              <a:cs typeface="Times New Roman" panose="02020603050405020304" pitchFamily="18" charset="0"/>
            </a:endParaRPr>
          </a:p>
          <a:p>
            <a:r>
              <a:rPr lang="en-IN" sz="3200" b="1" dirty="0">
                <a:solidFill>
                  <a:srgbClr val="002060"/>
                </a:solidFill>
                <a:latin typeface="Times New Roman" panose="02020603050405020304" pitchFamily="18" charset="0"/>
                <a:cs typeface="Times New Roman" panose="02020603050405020304" pitchFamily="18" charset="0"/>
              </a:rPr>
              <a:t>Interpretation :</a:t>
            </a:r>
          </a:p>
          <a:p>
            <a:pPr lvl="1"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Accepted H0. The sample mean for assists is significantly same from the population mean.</a:t>
            </a:r>
          </a:p>
        </p:txBody>
      </p:sp>
      <p:cxnSp>
        <p:nvCxnSpPr>
          <p:cNvPr id="6" name="Straight Connector 5">
            <a:extLst>
              <a:ext uri="{FF2B5EF4-FFF2-40B4-BE49-F238E27FC236}">
                <a16:creationId xmlns:a16="http://schemas.microsoft.com/office/drawing/2014/main" id="{F906BBAA-F0E3-CC6B-542F-282E801B9E5A}"/>
              </a:ext>
            </a:extLst>
          </p:cNvPr>
          <p:cNvCxnSpPr>
            <a:cxnSpLocks noGrp="1" noRot="1" noMove="1" noResize="1" noEditPoints="1" noAdjustHandles="1" noChangeArrowheads="1" noChangeShapeType="1"/>
            <a:stCxn id="2" idx="2"/>
            <a:endCxn id="29" idx="0"/>
          </p:cNvCxnSpPr>
          <p:nvPr/>
        </p:nvCxnSpPr>
        <p:spPr>
          <a:xfrm flipH="1">
            <a:off x="6096007" y="800100"/>
            <a:ext cx="1" cy="4865762"/>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29" name="Title 1">
            <a:extLst>
              <a:ext uri="{FF2B5EF4-FFF2-40B4-BE49-F238E27FC236}">
                <a16:creationId xmlns:a16="http://schemas.microsoft.com/office/drawing/2014/main" id="{046ED7F1-10D3-8E49-C5EE-1DD020240B7D}"/>
              </a:ext>
            </a:extLst>
          </p:cNvPr>
          <p:cNvSpPr txBox="1">
            <a:spLocks noGrp="1" noRot="1" noMove="1" noResize="1" noEditPoints="1" noAdjustHandles="1" noChangeArrowheads="1" noChangeShapeType="1"/>
          </p:cNvSpPr>
          <p:nvPr/>
        </p:nvSpPr>
        <p:spPr>
          <a:xfrm>
            <a:off x="209557" y="5665862"/>
            <a:ext cx="11772900" cy="1087363"/>
          </a:xfrm>
          <a:prstGeom prst="rect">
            <a:avLst/>
          </a:prstGeom>
          <a:ln>
            <a:solidFill>
              <a:srgbClr val="002060"/>
            </a:solidFill>
          </a:ln>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002060"/>
                </a:solidFill>
                <a:latin typeface="Times New Roman" panose="02020603050405020304" pitchFamily="18" charset="0"/>
                <a:cs typeface="Times New Roman" panose="02020603050405020304" pitchFamily="18" charset="0"/>
              </a:rPr>
              <a:t>Conclusion: </a:t>
            </a:r>
            <a:r>
              <a:rPr lang="en-US" sz="2800" b="1" dirty="0">
                <a:latin typeface="Times New Roman" panose="02020603050405020304" pitchFamily="18" charset="0"/>
                <a:cs typeface="Times New Roman" panose="02020603050405020304" pitchFamily="18" charset="0"/>
              </a:rPr>
              <a:t>Market value predictions </a:t>
            </a:r>
            <a:r>
              <a:rPr lang="en-US" sz="2800" dirty="0">
                <a:latin typeface="Times New Roman" panose="02020603050405020304" pitchFamily="18" charset="0"/>
                <a:cs typeface="Times New Roman" panose="02020603050405020304" pitchFamily="18" charset="0"/>
              </a:rPr>
              <a:t>are consistent with the overall population</a:t>
            </a:r>
            <a:r>
              <a:rPr lang="en-US" sz="2800" b="1" dirty="0">
                <a:latin typeface="Times New Roman" panose="02020603050405020304" pitchFamily="18" charset="0"/>
                <a:cs typeface="Times New Roman" panose="02020603050405020304" pitchFamily="18" charset="0"/>
              </a:rPr>
              <a:t>, and assists data </a:t>
            </a:r>
            <a:r>
              <a:rPr lang="en-US" sz="2800" dirty="0">
                <a:latin typeface="Times New Roman" panose="02020603050405020304" pitchFamily="18" charset="0"/>
                <a:cs typeface="Times New Roman" panose="02020603050405020304" pitchFamily="18" charset="0"/>
              </a:rPr>
              <a:t>also show no significant difference from the population mean,</a:t>
            </a:r>
            <a:r>
              <a:rPr lang="en-US" sz="2800" b="1" dirty="0">
                <a:latin typeface="Times New Roman" panose="02020603050405020304" pitchFamily="18" charset="0"/>
                <a:cs typeface="Times New Roman" panose="02020603050405020304" pitchFamily="18" charset="0"/>
              </a:rPr>
              <a:t> supporting the reliability </a:t>
            </a:r>
            <a:r>
              <a:rPr lang="en-US" sz="2800" dirty="0">
                <a:latin typeface="Times New Roman" panose="02020603050405020304" pitchFamily="18" charset="0"/>
                <a:cs typeface="Times New Roman" panose="02020603050405020304" pitchFamily="18" charset="0"/>
              </a:rPr>
              <a:t>of further analysis.</a:t>
            </a:r>
            <a:endParaRPr lang="en-IN" sz="2800" dirty="0">
              <a:latin typeface="Times New Roman" panose="02020603050405020304" pitchFamily="18" charset="0"/>
              <a:cs typeface="Times New Roman" panose="02020603050405020304" pitchFamily="18" charset="0"/>
            </a:endParaRPr>
          </a:p>
        </p:txBody>
      </p:sp>
      <p:grpSp>
        <p:nvGrpSpPr>
          <p:cNvPr id="30" name="Group 29">
            <a:extLst>
              <a:ext uri="{FF2B5EF4-FFF2-40B4-BE49-F238E27FC236}">
                <a16:creationId xmlns:a16="http://schemas.microsoft.com/office/drawing/2014/main" id="{6A6F4127-7FC1-5074-165A-0530750020C9}"/>
              </a:ext>
            </a:extLst>
          </p:cNvPr>
          <p:cNvGrpSpPr>
            <a:grpSpLocks noGrp="1" noUngrp="1" noRot="1" noMove="1" noResize="1"/>
          </p:cNvGrpSpPr>
          <p:nvPr/>
        </p:nvGrpSpPr>
        <p:grpSpPr>
          <a:xfrm>
            <a:off x="10687052" y="-79522"/>
            <a:ext cx="1504948" cy="1851172"/>
            <a:chOff x="7070581" y="3389652"/>
            <a:chExt cx="1722731" cy="2043409"/>
          </a:xfrm>
        </p:grpSpPr>
        <p:sp>
          <p:nvSpPr>
            <p:cNvPr id="31" name="Oval 30">
              <a:extLst>
                <a:ext uri="{FF2B5EF4-FFF2-40B4-BE49-F238E27FC236}">
                  <a16:creationId xmlns:a16="http://schemas.microsoft.com/office/drawing/2014/main" id="{22389811-398A-396C-A166-3B11F74D89DB}"/>
                </a:ext>
              </a:extLst>
            </p:cNvPr>
            <p:cNvSpPr>
              <a:spLocks noGrp="1" noRot="1" noChangeAspect="1" noMove="1" noResize="1" noEditPoints="1" noAdjustHandles="1" noChangeArrowheads="1" noChangeShapeType="1"/>
            </p:cNvSpPr>
            <p:nvPr/>
          </p:nvSpPr>
          <p:spPr>
            <a:xfrm>
              <a:off x="7194810" y="3700625"/>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32" name="TextBox 31">
              <a:extLst>
                <a:ext uri="{FF2B5EF4-FFF2-40B4-BE49-F238E27FC236}">
                  <a16:creationId xmlns:a16="http://schemas.microsoft.com/office/drawing/2014/main" id="{7350E819-5D33-C8FE-AA66-6716448A16B9}"/>
                </a:ext>
              </a:extLst>
            </p:cNvPr>
            <p:cNvSpPr txBox="1">
              <a:spLocks noGrp="1" noRot="1" noMove="1" noResize="1" noEditPoints="1" noAdjustHandles="1" noChangeArrowheads="1" noChangeShapeType="1"/>
            </p:cNvSpPr>
            <p:nvPr/>
          </p:nvSpPr>
          <p:spPr>
            <a:xfrm>
              <a:off x="7072286" y="3678735"/>
              <a:ext cx="1721026" cy="1754326"/>
            </a:xfrm>
            <a:prstGeom prst="rect">
              <a:avLst/>
            </a:prstGeom>
            <a:noFill/>
          </p:spPr>
          <p:txBody>
            <a:bodyPr wrap="square" rtlCol="0">
              <a:spAutoFit/>
            </a:bodyPr>
            <a:lstStyle/>
            <a:p>
              <a:pPr algn="ctr"/>
              <a:r>
                <a:rPr lang="en-IN" sz="1600" b="1" dirty="0">
                  <a:solidFill>
                    <a:schemeClr val="bg1">
                      <a:lumMod val="95000"/>
                    </a:schemeClr>
                  </a:solidFill>
                  <a:latin typeface="Times New Roman" panose="02020603050405020304" pitchFamily="18" charset="0"/>
                  <a:cs typeface="Times New Roman" panose="02020603050405020304" pitchFamily="18" charset="0"/>
                </a:rPr>
                <a:t> </a:t>
              </a:r>
              <a:br>
                <a:rPr lang="en-IN" sz="1600" b="1" dirty="0">
                  <a:solidFill>
                    <a:schemeClr val="bg1">
                      <a:lumMod val="95000"/>
                    </a:schemeClr>
                  </a:solidFill>
                  <a:latin typeface="Times New Roman" panose="02020603050405020304" pitchFamily="18" charset="0"/>
                  <a:cs typeface="Times New Roman" panose="02020603050405020304" pitchFamily="18" charset="0"/>
                </a:rPr>
              </a:br>
              <a:r>
                <a:rPr lang="en-IN" sz="1600" b="1" dirty="0">
                  <a:solidFill>
                    <a:schemeClr val="bg1">
                      <a:lumMod val="95000"/>
                    </a:schemeClr>
                  </a:solidFill>
                  <a:latin typeface="Times New Roman" panose="02020603050405020304" pitchFamily="18" charset="0"/>
                  <a:cs typeface="Times New Roman" panose="02020603050405020304" pitchFamily="18" charset="0"/>
                </a:rPr>
                <a:t> </a:t>
              </a:r>
              <a:br>
                <a:rPr lang="en-IN" sz="1600" b="1" dirty="0">
                  <a:solidFill>
                    <a:schemeClr val="bg1">
                      <a:lumMod val="95000"/>
                    </a:schemeClr>
                  </a:solidFill>
                  <a:latin typeface="Times New Roman" panose="02020603050405020304" pitchFamily="18" charset="0"/>
                  <a:cs typeface="Times New Roman" panose="02020603050405020304" pitchFamily="18" charset="0"/>
                </a:rPr>
              </a:br>
              <a:r>
                <a:rPr lang="en-IN" sz="1600" b="1" dirty="0">
                  <a:solidFill>
                    <a:schemeClr val="bg1">
                      <a:lumMod val="95000"/>
                    </a:schemeClr>
                  </a:solidFill>
                  <a:latin typeface="Times New Roman" panose="02020603050405020304" pitchFamily="18" charset="0"/>
                  <a:cs typeface="Times New Roman" panose="02020603050405020304" pitchFamily="18" charset="0"/>
                </a:rPr>
                <a:t>Player Profile </a:t>
              </a:r>
              <a:br>
                <a:rPr lang="en-IN" sz="1600" b="1" dirty="0">
                  <a:solidFill>
                    <a:schemeClr val="bg1">
                      <a:lumMod val="95000"/>
                    </a:schemeClr>
                  </a:solidFill>
                  <a:latin typeface="Times New Roman" panose="02020603050405020304" pitchFamily="18" charset="0"/>
                  <a:cs typeface="Times New Roman" panose="02020603050405020304" pitchFamily="18" charset="0"/>
                </a:rPr>
              </a:br>
              <a:r>
                <a:rPr lang="en-IN" sz="1600" b="1" dirty="0">
                  <a:solidFill>
                    <a:schemeClr val="bg1">
                      <a:lumMod val="95000"/>
                    </a:schemeClr>
                  </a:solidFill>
                  <a:latin typeface="Times New Roman" panose="02020603050405020304" pitchFamily="18" charset="0"/>
                  <a:cs typeface="Times New Roman" panose="02020603050405020304" pitchFamily="18" charset="0"/>
                </a:rPr>
                <a:t>&amp; Market</a:t>
              </a:r>
              <a:br>
                <a:rPr lang="en-IN" sz="1600" b="1" dirty="0">
                  <a:solidFill>
                    <a:schemeClr val="bg1">
                      <a:lumMod val="95000"/>
                    </a:schemeClr>
                  </a:solidFill>
                  <a:latin typeface="Times New Roman" panose="02020603050405020304" pitchFamily="18" charset="0"/>
                  <a:cs typeface="Times New Roman" panose="02020603050405020304" pitchFamily="18" charset="0"/>
                </a:rPr>
              </a:br>
              <a:r>
                <a:rPr lang="en-IN" sz="1600" b="1" dirty="0">
                  <a:solidFill>
                    <a:schemeClr val="bg1">
                      <a:lumMod val="95000"/>
                    </a:schemeClr>
                  </a:solidFill>
                  <a:latin typeface="Times New Roman" panose="02020603050405020304" pitchFamily="18" charset="0"/>
                  <a:cs typeface="Times New Roman" panose="02020603050405020304" pitchFamily="18" charset="0"/>
                </a:rPr>
                <a:t>Value</a:t>
              </a:r>
              <a:endParaRPr lang="en-IN" sz="1600" dirty="0"/>
            </a:p>
            <a:p>
              <a:pPr algn="ctr"/>
              <a:endParaRPr lang="en-IN" sz="1600" b="1" dirty="0">
                <a:solidFill>
                  <a:schemeClr val="bg1">
                    <a:lumMod val="95000"/>
                  </a:schemeClr>
                </a:solidFill>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D631C390-A32A-1536-C275-CFDAFF87109E}"/>
                </a:ext>
              </a:extLst>
            </p:cNvPr>
            <p:cNvSpPr txBox="1">
              <a:spLocks noGrp="1" noRot="1" noMove="1" noResize="1" noEditPoints="1" noAdjustHandles="1" noChangeArrowheads="1" noChangeShapeType="1"/>
            </p:cNvSpPr>
            <p:nvPr/>
          </p:nvSpPr>
          <p:spPr>
            <a:xfrm>
              <a:off x="7070581" y="3389652"/>
              <a:ext cx="1721026" cy="923330"/>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3600" b="1" dirty="0">
                  <a:solidFill>
                    <a:schemeClr val="bg1"/>
                  </a:solidFill>
                  <a:latin typeface="Times New Roman" panose="02020603050405020304" pitchFamily="18" charset="0"/>
                  <a:cs typeface="Times New Roman" panose="02020603050405020304" pitchFamily="18" charset="0"/>
                </a:rPr>
                <a:t>2</a:t>
              </a:r>
            </a:p>
          </p:txBody>
        </p:sp>
      </p:grpSp>
    </p:spTree>
    <p:extLst>
      <p:ext uri="{BB962C8B-B14F-4D97-AF65-F5344CB8AC3E}">
        <p14:creationId xmlns:p14="http://schemas.microsoft.com/office/powerpoint/2010/main" val="298763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6A4DAAE7-3634-8229-0444-BBCE407C6E31}"/>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81DB55C-469D-ADC8-E5AB-EEB9C945878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897955" y="1724025"/>
            <a:ext cx="6196612" cy="5133975"/>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2FF3AB1D-49A9-C0C6-A72F-0C863325894F}"/>
              </a:ext>
            </a:extLst>
          </p:cNvPr>
          <p:cNvSpPr>
            <a:spLocks noGrp="1" noRot="1" noMove="1" noResize="1" noEditPoints="1" noAdjustHandles="1" noChangeArrowheads="1" noChangeShapeType="1"/>
          </p:cNvSpPr>
          <p:nvPr>
            <p:ph type="body" idx="1"/>
          </p:nvPr>
        </p:nvSpPr>
        <p:spPr>
          <a:xfrm>
            <a:off x="70245" y="1421199"/>
            <a:ext cx="5695672" cy="5464172"/>
          </a:xfrm>
        </p:spPr>
        <p:txBody>
          <a:bodyPr>
            <a:normAutofit/>
          </a:bodyPr>
          <a:lstStyle/>
          <a:p>
            <a:pPr rtl="0">
              <a:buSzPts val="2400"/>
            </a:pPr>
            <a:r>
              <a:rPr lang="en-US" sz="2000" b="1" dirty="0">
                <a:solidFill>
                  <a:schemeClr val="tx1"/>
                </a:solidFill>
              </a:rPr>
              <a:t>Based on correlation analysis and model testing, the top features for predicting player market values are:</a:t>
            </a:r>
          </a:p>
          <a:p>
            <a:pPr marL="1257300" lvl="2" indent="-342900">
              <a:buFont typeface="Wingdings" panose="05000000000000000000" pitchFamily="2" charset="2"/>
              <a:buChar char="§"/>
            </a:pPr>
            <a:r>
              <a:rPr lang="en-US" sz="2000" b="1" dirty="0">
                <a:solidFill>
                  <a:srgbClr val="0033CC"/>
                </a:solidFill>
              </a:rPr>
              <a:t>Attendance</a:t>
            </a:r>
          </a:p>
          <a:p>
            <a:pPr marL="1257300" lvl="2" indent="-342900">
              <a:buFont typeface="Wingdings" panose="05000000000000000000" pitchFamily="2" charset="2"/>
              <a:buChar char="§"/>
            </a:pPr>
            <a:r>
              <a:rPr lang="en-US" sz="2000" b="1" dirty="0">
                <a:solidFill>
                  <a:srgbClr val="0033CC"/>
                </a:solidFill>
              </a:rPr>
              <a:t>Season</a:t>
            </a:r>
          </a:p>
          <a:p>
            <a:pPr marL="1257300" lvl="2" indent="-342900">
              <a:buFont typeface="Wingdings" panose="05000000000000000000" pitchFamily="2" charset="2"/>
              <a:buChar char="§"/>
            </a:pPr>
            <a:r>
              <a:rPr lang="en-US" sz="2000" b="1" dirty="0">
                <a:solidFill>
                  <a:srgbClr val="0033CC"/>
                </a:solidFill>
              </a:rPr>
              <a:t>Last Season</a:t>
            </a:r>
          </a:p>
          <a:p>
            <a:pPr marL="1257300" lvl="2" indent="-342900">
              <a:buFont typeface="Wingdings" panose="05000000000000000000" pitchFamily="2" charset="2"/>
              <a:buChar char="§"/>
            </a:pPr>
            <a:r>
              <a:rPr lang="en-US" sz="2000" b="1" dirty="0">
                <a:solidFill>
                  <a:srgbClr val="0033CC"/>
                </a:solidFill>
              </a:rPr>
              <a:t>Highest market value in euro</a:t>
            </a:r>
          </a:p>
          <a:p>
            <a:pPr lvl="2"/>
            <a:endParaRPr lang="en-US" sz="2000" b="1" dirty="0">
              <a:solidFill>
                <a:srgbClr val="0033CC"/>
              </a:solidFill>
            </a:endParaRPr>
          </a:p>
          <a:p>
            <a:pPr marL="342900" indent="-342900">
              <a:buFont typeface="Wingdings" panose="05000000000000000000" pitchFamily="2" charset="2"/>
              <a:buChar char="v"/>
            </a:pPr>
            <a:r>
              <a:rPr lang="en-US" sz="2000" b="1" dirty="0">
                <a:solidFill>
                  <a:schemeClr val="tx1"/>
                </a:solidFill>
              </a:rPr>
              <a:t>Building and Testing the Predictive Model :</a:t>
            </a:r>
            <a:endParaRPr lang="en-IN" sz="2000" b="1" dirty="0">
              <a:solidFill>
                <a:schemeClr val="tx1"/>
              </a:solidFill>
            </a:endParaRPr>
          </a:p>
          <a:p>
            <a:pPr marL="800100" lvl="1" indent="-342900">
              <a:buFont typeface="Wingdings" panose="05000000000000000000" pitchFamily="2" charset="2"/>
              <a:buChar char="Ø"/>
            </a:pPr>
            <a:r>
              <a:rPr lang="en-US" b="1" dirty="0">
                <a:solidFill>
                  <a:schemeClr val="tx1">
                    <a:lumMod val="95000"/>
                    <a:lumOff val="5000"/>
                  </a:schemeClr>
                </a:solidFill>
              </a:rPr>
              <a:t>Model Performance:</a:t>
            </a:r>
          </a:p>
          <a:p>
            <a:pPr marL="1257300" lvl="2" indent="-342900">
              <a:buFont typeface="Wingdings" panose="05000000000000000000" pitchFamily="2" charset="2"/>
              <a:buChar char="Ø"/>
            </a:pPr>
            <a:r>
              <a:rPr lang="en-US" sz="2000" b="1" dirty="0">
                <a:solidFill>
                  <a:schemeClr val="tx1"/>
                </a:solidFill>
              </a:rPr>
              <a:t>Mean Absolute Error (MAE): </a:t>
            </a:r>
            <a:r>
              <a:rPr lang="en-US" sz="2000" b="1" dirty="0">
                <a:solidFill>
                  <a:srgbClr val="FF0000"/>
                </a:solidFill>
              </a:rPr>
              <a:t>0.45</a:t>
            </a:r>
            <a:endParaRPr lang="en-US" sz="2000" b="1" dirty="0">
              <a:solidFill>
                <a:schemeClr val="tx1">
                  <a:lumMod val="95000"/>
                  <a:lumOff val="5000"/>
                </a:schemeClr>
              </a:solidFill>
            </a:endParaRPr>
          </a:p>
          <a:p>
            <a:pPr marL="1257300" lvl="2" indent="-342900">
              <a:buFont typeface="Wingdings" panose="05000000000000000000" pitchFamily="2" charset="2"/>
              <a:buChar char="Ø"/>
            </a:pPr>
            <a:r>
              <a:rPr lang="en-US" sz="2000" b="1" dirty="0">
                <a:solidFill>
                  <a:schemeClr val="tx1"/>
                </a:solidFill>
              </a:rPr>
              <a:t>Mean Squared Error (MSE): </a:t>
            </a:r>
            <a:r>
              <a:rPr lang="en-US" sz="2000" b="1" dirty="0">
                <a:solidFill>
                  <a:srgbClr val="FF0000"/>
                </a:solidFill>
              </a:rPr>
              <a:t>0.30</a:t>
            </a:r>
            <a:r>
              <a:rPr lang="en-US" sz="2000" b="1" dirty="0">
                <a:solidFill>
                  <a:schemeClr val="tx1"/>
                </a:solidFill>
              </a:rPr>
              <a:t> </a:t>
            </a:r>
            <a:endParaRPr lang="en-US" sz="2000" b="1" dirty="0">
              <a:solidFill>
                <a:schemeClr val="tx1">
                  <a:lumMod val="95000"/>
                  <a:lumOff val="5000"/>
                </a:schemeClr>
              </a:solidFill>
            </a:endParaRPr>
          </a:p>
          <a:p>
            <a:pPr marL="1257300" lvl="2" indent="-342900">
              <a:buFont typeface="Wingdings" panose="05000000000000000000" pitchFamily="2" charset="2"/>
              <a:buChar char="Ø"/>
            </a:pPr>
            <a:r>
              <a:rPr lang="en-US" sz="2000" b="1" dirty="0">
                <a:solidFill>
                  <a:schemeClr val="tx1"/>
                </a:solidFill>
              </a:rPr>
              <a:t>R2 Score: </a:t>
            </a:r>
            <a:r>
              <a:rPr lang="en-US" sz="2000" b="1" dirty="0">
                <a:solidFill>
                  <a:srgbClr val="FF0000"/>
                </a:solidFill>
              </a:rPr>
              <a:t>0.71</a:t>
            </a:r>
            <a:endParaRPr lang="en-US" sz="2000" b="1" dirty="0">
              <a:solidFill>
                <a:schemeClr val="tx1"/>
              </a:solidFill>
            </a:endParaRPr>
          </a:p>
          <a:p>
            <a:pPr marL="1257300" lvl="2" indent="-342900">
              <a:buFont typeface="Wingdings" panose="05000000000000000000" pitchFamily="2" charset="2"/>
              <a:buChar char="Ø"/>
            </a:pPr>
            <a:r>
              <a:rPr lang="en-US" sz="2000" b="1" dirty="0">
                <a:solidFill>
                  <a:schemeClr val="tx1"/>
                </a:solidFill>
              </a:rPr>
              <a:t>RMSE: </a:t>
            </a:r>
            <a:r>
              <a:rPr lang="en-US" sz="2000" b="1" dirty="0">
                <a:solidFill>
                  <a:srgbClr val="FF0000"/>
                </a:solidFill>
              </a:rPr>
              <a:t>0.54 </a:t>
            </a:r>
            <a:endParaRPr lang="en-US" sz="2000" b="1" dirty="0">
              <a:solidFill>
                <a:schemeClr val="tx1">
                  <a:lumMod val="95000"/>
                  <a:lumOff val="5000"/>
                </a:schemeClr>
              </a:solidFill>
            </a:endParaRPr>
          </a:p>
        </p:txBody>
      </p:sp>
      <p:sp>
        <p:nvSpPr>
          <p:cNvPr id="6" name="Rectangle 5">
            <a:extLst>
              <a:ext uri="{FF2B5EF4-FFF2-40B4-BE49-F238E27FC236}">
                <a16:creationId xmlns:a16="http://schemas.microsoft.com/office/drawing/2014/main" id="{3479EEA8-50AE-65F7-9CE1-20BCEFE7B4B7}"/>
              </a:ext>
            </a:extLst>
          </p:cNvPr>
          <p:cNvSpPr>
            <a:spLocks noGrp="1" noRot="1" noMove="1" noResize="1" noEditPoints="1" noAdjustHandles="1" noChangeArrowheads="1" noChangeShapeType="1"/>
          </p:cNvSpPr>
          <p:nvPr/>
        </p:nvSpPr>
        <p:spPr>
          <a:xfrm>
            <a:off x="7125917" y="3446154"/>
            <a:ext cx="4221177" cy="24954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7BA4DDF5-8952-428B-CC45-74C5F8E0A0C3}"/>
              </a:ext>
            </a:extLst>
          </p:cNvPr>
          <p:cNvSpPr>
            <a:spLocks noGrp="1" noRot="1" noMove="1" noResize="1" noEditPoints="1" noAdjustHandles="1" noChangeArrowheads="1" noChangeShapeType="1"/>
          </p:cNvSpPr>
          <p:nvPr/>
        </p:nvSpPr>
        <p:spPr>
          <a:xfrm rot="5400000">
            <a:off x="9367880" y="4376363"/>
            <a:ext cx="2127124" cy="266703"/>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D201AE4D-BAD0-7640-C03B-7987E91AE9AE}"/>
              </a:ext>
            </a:extLst>
          </p:cNvPr>
          <p:cNvSpPr>
            <a:spLocks noGrp="1" noRot="1" noMove="1" noResize="1" noEditPoints="1" noAdjustHandles="1" noChangeArrowheads="1" noChangeShapeType="1"/>
          </p:cNvSpPr>
          <p:nvPr/>
        </p:nvSpPr>
        <p:spPr>
          <a:xfrm rot="5400000">
            <a:off x="8559815" y="4376365"/>
            <a:ext cx="2127123" cy="26670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F44B894F-B98B-CB1A-CB3B-99F523D766E6}"/>
              </a:ext>
            </a:extLst>
          </p:cNvPr>
          <p:cNvSpPr>
            <a:spLocks noGrp="1" noRot="1" noMove="1" noResize="1" noEditPoints="1" noAdjustHandles="1" noChangeArrowheads="1" noChangeShapeType="1"/>
          </p:cNvSpPr>
          <p:nvPr/>
        </p:nvSpPr>
        <p:spPr>
          <a:xfrm rot="5400000">
            <a:off x="8297576" y="4380828"/>
            <a:ext cx="2127123" cy="257776"/>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40FE510D-26DA-64C7-4067-EF8DB02FA138}"/>
              </a:ext>
            </a:extLst>
          </p:cNvPr>
          <p:cNvSpPr>
            <a:spLocks noGrp="1" noRot="1" noMove="1" noResize="1" noEditPoints="1" noAdjustHandles="1" noChangeArrowheads="1" noChangeShapeType="1"/>
          </p:cNvSpPr>
          <p:nvPr/>
        </p:nvSpPr>
        <p:spPr>
          <a:xfrm rot="5400000">
            <a:off x="7498896" y="4376365"/>
            <a:ext cx="2127122" cy="26670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Oval 12">
            <a:extLst>
              <a:ext uri="{FF2B5EF4-FFF2-40B4-BE49-F238E27FC236}">
                <a16:creationId xmlns:a16="http://schemas.microsoft.com/office/drawing/2014/main" id="{081F71CA-2490-1334-5F45-4E53986E596A}"/>
              </a:ext>
            </a:extLst>
          </p:cNvPr>
          <p:cNvSpPr>
            <a:spLocks noGrp="1" noRot="1" noMove="1" noResize="1" noEditPoints="1" noAdjustHandles="1" noChangeArrowheads="1" noChangeShapeType="1"/>
          </p:cNvSpPr>
          <p:nvPr/>
        </p:nvSpPr>
        <p:spPr>
          <a:xfrm>
            <a:off x="8380352" y="3382916"/>
            <a:ext cx="364209" cy="376015"/>
          </a:xfrm>
          <a:prstGeom prst="ellipse">
            <a:avLst/>
          </a:prstGeom>
          <a:noFill/>
          <a:ln w="38100">
            <a:solidFill>
              <a:srgbClr val="5A1E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CA70732A-3235-97DC-9BF1-B772AD31FB1F}"/>
              </a:ext>
            </a:extLst>
          </p:cNvPr>
          <p:cNvSpPr>
            <a:spLocks noGrp="1" noRot="1" noMove="1" noResize="1" noEditPoints="1" noAdjustHandles="1" noChangeArrowheads="1" noChangeShapeType="1"/>
          </p:cNvSpPr>
          <p:nvPr/>
        </p:nvSpPr>
        <p:spPr>
          <a:xfrm>
            <a:off x="9176017" y="3382917"/>
            <a:ext cx="666572" cy="376015"/>
          </a:xfrm>
          <a:prstGeom prst="ellipse">
            <a:avLst/>
          </a:prstGeom>
          <a:noFill/>
          <a:ln w="38100">
            <a:solidFill>
              <a:srgbClr val="5A1E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4B73A77E-EBF2-20B3-05D1-81F2FB0B239B}"/>
              </a:ext>
            </a:extLst>
          </p:cNvPr>
          <p:cNvSpPr>
            <a:spLocks noGrp="1" noRot="1" noMove="1" noResize="1" noEditPoints="1" noAdjustHandles="1" noChangeArrowheads="1" noChangeShapeType="1"/>
          </p:cNvSpPr>
          <p:nvPr/>
        </p:nvSpPr>
        <p:spPr>
          <a:xfrm>
            <a:off x="10249337" y="3382918"/>
            <a:ext cx="364209" cy="376015"/>
          </a:xfrm>
          <a:prstGeom prst="ellipse">
            <a:avLst/>
          </a:prstGeom>
          <a:noFill/>
          <a:ln w="38100">
            <a:solidFill>
              <a:srgbClr val="5A1E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 Placeholder 2">
            <a:extLst>
              <a:ext uri="{FF2B5EF4-FFF2-40B4-BE49-F238E27FC236}">
                <a16:creationId xmlns:a16="http://schemas.microsoft.com/office/drawing/2014/main" id="{1568EED2-7550-000C-E064-EA9BD8E41CAC}"/>
              </a:ext>
            </a:extLst>
          </p:cNvPr>
          <p:cNvSpPr txBox="1">
            <a:spLocks noGrp="1" noRot="1" noMove="1" noResize="1" noEditPoints="1" noAdjustHandles="1" noChangeArrowheads="1" noChangeShapeType="1"/>
          </p:cNvSpPr>
          <p:nvPr/>
        </p:nvSpPr>
        <p:spPr>
          <a:xfrm>
            <a:off x="70244" y="40868"/>
            <a:ext cx="12024321" cy="1243855"/>
          </a:xfrm>
          <a:prstGeom prst="rect">
            <a:avLst/>
          </a:prstGeom>
          <a:ln>
            <a:solidFill>
              <a:srgbClr val="002060"/>
            </a:solidFill>
          </a:ln>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sz="4000" b="1" dirty="0">
                <a:solidFill>
                  <a:srgbClr val="002060"/>
                </a:solidFill>
                <a:latin typeface="Times New Roman" panose="02020603050405020304" pitchFamily="18" charset="0"/>
                <a:cs typeface="Times New Roman" panose="02020603050405020304" pitchFamily="18" charset="0"/>
              </a:rPr>
              <a:t>Linear Regression Model for Predicting Player Market Value</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D9C4B8C5-6545-B74A-99DD-892D8F151604}"/>
              </a:ext>
            </a:extLst>
          </p:cNvPr>
          <p:cNvCxnSpPr>
            <a:cxnSpLocks noGrp="1" noRot="1" noMove="1" noResize="1" noEditPoints="1" noAdjustHandles="1" noChangeArrowheads="1" noChangeShapeType="1"/>
          </p:cNvCxnSpPr>
          <p:nvPr/>
        </p:nvCxnSpPr>
        <p:spPr>
          <a:xfrm flipH="1">
            <a:off x="5830232" y="1284723"/>
            <a:ext cx="14899" cy="5573277"/>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7537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43FDC623-74CD-EDA3-0894-109B061A718D}"/>
            </a:ext>
          </a:extLst>
        </p:cNvPr>
        <p:cNvGrpSpPr/>
        <p:nvPr/>
      </p:nvGrpSpPr>
      <p:grpSpPr>
        <a:xfrm>
          <a:off x="0" y="0"/>
          <a:ext cx="0" cy="0"/>
          <a:chOff x="0" y="0"/>
          <a:chExt cx="0" cy="0"/>
        </a:xfrm>
      </p:grpSpPr>
      <p:sp>
        <p:nvSpPr>
          <p:cNvPr id="5" name="Text Placeholder 2">
            <a:extLst>
              <a:ext uri="{FF2B5EF4-FFF2-40B4-BE49-F238E27FC236}">
                <a16:creationId xmlns:a16="http://schemas.microsoft.com/office/drawing/2014/main" id="{91BD3408-7951-226C-88CE-FE4C8C75C338}"/>
              </a:ext>
            </a:extLst>
          </p:cNvPr>
          <p:cNvSpPr txBox="1">
            <a:spLocks noGrp="1" noRot="1" noMove="1" noResize="1" noEditPoints="1" noAdjustHandles="1" noChangeArrowheads="1" noChangeShapeType="1"/>
          </p:cNvSpPr>
          <p:nvPr/>
        </p:nvSpPr>
        <p:spPr>
          <a:xfrm>
            <a:off x="247650" y="123605"/>
            <a:ext cx="11696700" cy="650482"/>
          </a:xfrm>
          <a:prstGeom prst="rect">
            <a:avLst/>
          </a:prstGeom>
          <a:ln>
            <a:solidFill>
              <a:srgbClr val="002060"/>
            </a:solid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sz="4000" b="1" dirty="0">
                <a:solidFill>
                  <a:srgbClr val="002060"/>
                </a:solidFill>
                <a:latin typeface="Times New Roman" panose="02020603050405020304" pitchFamily="18" charset="0"/>
                <a:cs typeface="Times New Roman" panose="02020603050405020304" pitchFamily="18" charset="0"/>
              </a:rPr>
              <a:t>Residual plot &amp; Actual vs Predicted Market value :</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22" name="Straight Connector 21">
            <a:extLst>
              <a:ext uri="{FF2B5EF4-FFF2-40B4-BE49-F238E27FC236}">
                <a16:creationId xmlns:a16="http://schemas.microsoft.com/office/drawing/2014/main" id="{6B0E0838-40C5-1432-011A-85F969DFCFE9}"/>
              </a:ext>
            </a:extLst>
          </p:cNvPr>
          <p:cNvCxnSpPr>
            <a:cxnSpLocks noGrp="1" noRot="1" noMove="1" noResize="1" noEditPoints="1" noAdjustHandles="1" noChangeArrowheads="1" noChangeShapeType="1"/>
            <a:stCxn id="5" idx="2"/>
            <a:endCxn id="27" idx="0"/>
          </p:cNvCxnSpPr>
          <p:nvPr/>
        </p:nvCxnSpPr>
        <p:spPr>
          <a:xfrm flipH="1">
            <a:off x="6095999" y="774087"/>
            <a:ext cx="1" cy="5425745"/>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24" name="Text Placeholder 2">
            <a:extLst>
              <a:ext uri="{FF2B5EF4-FFF2-40B4-BE49-F238E27FC236}">
                <a16:creationId xmlns:a16="http://schemas.microsoft.com/office/drawing/2014/main" id="{4474CF4D-2CB3-1E42-B94F-2083196057A6}"/>
              </a:ext>
            </a:extLst>
          </p:cNvPr>
          <p:cNvSpPr txBox="1">
            <a:spLocks noGrp="1" noRot="1" noMove="1" noResize="1" noEditPoints="1" noAdjustHandles="1" noChangeArrowheads="1" noChangeShapeType="1"/>
          </p:cNvSpPr>
          <p:nvPr/>
        </p:nvSpPr>
        <p:spPr>
          <a:xfrm>
            <a:off x="1" y="4307862"/>
            <a:ext cx="6095998" cy="164270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IN" b="1" dirty="0">
                <a:solidFill>
                  <a:srgbClr val="002060"/>
                </a:solidFill>
              </a:rPr>
              <a:t>Residual Plot :</a:t>
            </a:r>
          </a:p>
          <a:p>
            <a:pPr marL="285750" indent="-285750">
              <a:buFont typeface="Wingdings" panose="05000000000000000000" pitchFamily="2" charset="2"/>
              <a:buChar char="v"/>
            </a:pPr>
            <a:r>
              <a:rPr lang="en-US" sz="1700" dirty="0">
                <a:solidFill>
                  <a:schemeClr val="tx1"/>
                </a:solidFill>
                <a:latin typeface="Times New Roman" panose="02020603050405020304" pitchFamily="18" charset="0"/>
                <a:cs typeface="Times New Roman" panose="02020603050405020304" pitchFamily="18" charset="0"/>
              </a:rPr>
              <a:t> The dots are spread randomly above and below zero. This means the model does not make mistakes in any predictable way.</a:t>
            </a:r>
          </a:p>
          <a:p>
            <a:pPr marL="285750" indent="-285750">
              <a:buFont typeface="Wingdings" panose="05000000000000000000" pitchFamily="2" charset="2"/>
              <a:buChar char="v"/>
            </a:pPr>
            <a:r>
              <a:rPr lang="en-US" sz="1700" dirty="0">
                <a:solidFill>
                  <a:schemeClr val="tx1"/>
                </a:solidFill>
                <a:latin typeface="Times New Roman" panose="02020603050405020304" pitchFamily="18" charset="0"/>
                <a:cs typeface="Times New Roman" panose="02020603050405020304" pitchFamily="18" charset="0"/>
              </a:rPr>
              <a:t>In simple words, the model’s errors are random, so the predictions it gives are trustworthy.</a:t>
            </a:r>
          </a:p>
        </p:txBody>
      </p:sp>
      <p:sp>
        <p:nvSpPr>
          <p:cNvPr id="25" name="Text Placeholder 2">
            <a:extLst>
              <a:ext uri="{FF2B5EF4-FFF2-40B4-BE49-F238E27FC236}">
                <a16:creationId xmlns:a16="http://schemas.microsoft.com/office/drawing/2014/main" id="{9EC54C03-4E9A-F18B-A0EC-0ACF12E3B3E8}"/>
              </a:ext>
            </a:extLst>
          </p:cNvPr>
          <p:cNvSpPr txBox="1">
            <a:spLocks noGrp="1" noRot="1" noMove="1" noResize="1" noEditPoints="1" noAdjustHandles="1" noChangeArrowheads="1" noChangeShapeType="1"/>
          </p:cNvSpPr>
          <p:nvPr/>
        </p:nvSpPr>
        <p:spPr>
          <a:xfrm>
            <a:off x="6095999" y="4257675"/>
            <a:ext cx="6095998" cy="169288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IN" b="1" dirty="0">
                <a:solidFill>
                  <a:srgbClr val="002060"/>
                </a:solidFill>
              </a:rPr>
              <a:t>Actual vs Predicted </a:t>
            </a:r>
            <a:r>
              <a:rPr lang="en-US" sz="2400" b="1" i="0" u="none" strike="noStrike" kern="1200" baseline="0" dirty="0">
                <a:solidFill>
                  <a:srgbClr val="002060"/>
                </a:solidFill>
                <a:latin typeface="Aptos" panose="020B0004020202020204" pitchFamily="34" charset="0"/>
              </a:rPr>
              <a:t>Market value</a:t>
            </a:r>
            <a:r>
              <a:rPr lang="en-IN" b="1" dirty="0">
                <a:solidFill>
                  <a:srgbClr val="002060"/>
                </a:solidFill>
              </a:rPr>
              <a:t> :</a:t>
            </a:r>
          </a:p>
          <a:p>
            <a:pPr marL="285750" indent="-285750">
              <a:buFont typeface="Wingdings" panose="05000000000000000000" pitchFamily="2" charset="2"/>
              <a:buChar char="v"/>
            </a:pPr>
            <a:r>
              <a:rPr lang="en-US" sz="1700" dirty="0">
                <a:solidFill>
                  <a:schemeClr val="tx1"/>
                </a:solidFill>
                <a:latin typeface="Times New Roman" panose="02020603050405020304" pitchFamily="18" charset="0"/>
                <a:cs typeface="Times New Roman" panose="02020603050405020304" pitchFamily="18" charset="0"/>
              </a:rPr>
              <a:t>Most dots are close to the diagonal line. This line shows perfect predictions. </a:t>
            </a:r>
          </a:p>
          <a:p>
            <a:pPr marL="285750" indent="-285750">
              <a:buFont typeface="Wingdings" panose="05000000000000000000" pitchFamily="2" charset="2"/>
              <a:buChar char="v"/>
            </a:pPr>
            <a:r>
              <a:rPr lang="en-US" sz="1700" dirty="0">
                <a:solidFill>
                  <a:schemeClr val="tx1"/>
                </a:solidFill>
                <a:latin typeface="Times New Roman" panose="02020603050405020304" pitchFamily="18" charset="0"/>
                <a:cs typeface="Times New Roman" panose="02020603050405020304" pitchFamily="18" charset="0"/>
              </a:rPr>
              <a:t>The closer the dots are to the line, the better the model.</a:t>
            </a:r>
            <a:endParaRPr lang="en-US" sz="1700" b="1" dirty="0">
              <a:latin typeface="Times New Roman" panose="02020603050405020304" pitchFamily="18" charset="0"/>
              <a:cs typeface="Times New Roman" panose="02020603050405020304" pitchFamily="18" charset="0"/>
            </a:endParaRPr>
          </a:p>
        </p:txBody>
      </p:sp>
      <p:sp>
        <p:nvSpPr>
          <p:cNvPr id="27" name="Text Placeholder 2">
            <a:extLst>
              <a:ext uri="{FF2B5EF4-FFF2-40B4-BE49-F238E27FC236}">
                <a16:creationId xmlns:a16="http://schemas.microsoft.com/office/drawing/2014/main" id="{68A71C82-182D-847D-9B2C-534735DD3A3C}"/>
              </a:ext>
            </a:extLst>
          </p:cNvPr>
          <p:cNvSpPr txBox="1">
            <a:spLocks noGrp="1" noRot="1" noMove="1" noResize="1" noEditPoints="1" noAdjustHandles="1" noChangeArrowheads="1" noChangeShapeType="1"/>
          </p:cNvSpPr>
          <p:nvPr/>
        </p:nvSpPr>
        <p:spPr>
          <a:xfrm>
            <a:off x="304798" y="6199832"/>
            <a:ext cx="11582401" cy="534563"/>
          </a:xfrm>
          <a:prstGeom prst="rect">
            <a:avLst/>
          </a:prstGeom>
          <a:ln>
            <a:solidFill>
              <a:srgbClr val="002060"/>
            </a:solid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lnSpc>
                <a:spcPct val="150000"/>
              </a:lnSpc>
            </a:pPr>
            <a:r>
              <a:rPr lang="en-US" sz="2000" dirty="0">
                <a:solidFill>
                  <a:schemeClr val="tx1"/>
                </a:solidFill>
                <a:latin typeface="Times New Roman" panose="02020603050405020304" pitchFamily="18" charset="0"/>
                <a:cs typeface="Times New Roman" panose="02020603050405020304" pitchFamily="18" charset="0"/>
              </a:rPr>
              <a:t>Overall, Both plots show the model fits the data well and gives fair, unbiased predictions for market value.</a:t>
            </a:r>
          </a:p>
        </p:txBody>
      </p:sp>
      <p:pic>
        <p:nvPicPr>
          <p:cNvPr id="4098" name="Picture 2">
            <a:extLst>
              <a:ext uri="{FF2B5EF4-FFF2-40B4-BE49-F238E27FC236}">
                <a16:creationId xmlns:a16="http://schemas.microsoft.com/office/drawing/2014/main" id="{2B151CBF-930F-F233-D7AB-81542303DA38}"/>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69616" y="907437"/>
            <a:ext cx="4956768" cy="335023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17BCDCAB-F614-FCD6-57BE-27F7D8899A55}"/>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665616" y="957623"/>
            <a:ext cx="4956766" cy="3350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491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D2B21CF7-4E3E-18AE-9392-45B23A59FD91}"/>
            </a:ext>
          </a:extLst>
        </p:cNvPr>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1080379C-ED74-15E9-579E-A6E6E1EA77F4}"/>
              </a:ext>
            </a:extLst>
          </p:cNvPr>
          <p:cNvCxnSpPr>
            <a:cxnSpLocks noGrp="1" noRot="1" noMove="1" noResize="1" noEditPoints="1" noAdjustHandles="1" noChangeArrowheads="1" noChangeShapeType="1"/>
            <a:stCxn id="3" idx="2"/>
          </p:cNvCxnSpPr>
          <p:nvPr/>
        </p:nvCxnSpPr>
        <p:spPr>
          <a:xfrm>
            <a:off x="6095999" y="809568"/>
            <a:ext cx="0" cy="6048432"/>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DD9315C-E9E0-7125-45A0-95FB1D228C54}"/>
              </a:ext>
            </a:extLst>
          </p:cNvPr>
          <p:cNvSpPr txBox="1">
            <a:spLocks noGrp="1" noRot="1" noMove="1" noResize="1" noEditPoints="1" noAdjustHandles="1" noChangeArrowheads="1" noChangeShapeType="1"/>
          </p:cNvSpPr>
          <p:nvPr/>
        </p:nvSpPr>
        <p:spPr>
          <a:xfrm>
            <a:off x="819156" y="809570"/>
            <a:ext cx="5276844" cy="392415"/>
          </a:xfrm>
          <a:prstGeom prst="rect">
            <a:avLst/>
          </a:prstGeom>
          <a:noFill/>
        </p:spPr>
        <p:txBody>
          <a:bodyPr wrap="square" rtlCol="0">
            <a:spAutoFit/>
          </a:bodyPr>
          <a:lstStyle/>
          <a:p>
            <a:pPr algn="ctr"/>
            <a:r>
              <a:rPr lang="en-US" sz="1950" b="1" dirty="0">
                <a:solidFill>
                  <a:srgbClr val="002060"/>
                </a:solidFill>
                <a:latin typeface="Times New Roman" panose="02020603050405020304" pitchFamily="18" charset="0"/>
                <a:cs typeface="Times New Roman" panose="02020603050405020304" pitchFamily="18" charset="0"/>
              </a:rPr>
              <a:t>Average Attendance by Stadium</a:t>
            </a:r>
            <a:endParaRPr lang="en-IN" sz="1950" b="1" dirty="0">
              <a:solidFill>
                <a:srgbClr val="002060"/>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8EA8CB92-C550-93E1-F4BB-755245AD68B9}"/>
              </a:ext>
            </a:extLst>
          </p:cNvPr>
          <p:cNvSpPr txBox="1">
            <a:spLocks noGrp="1" noRot="1" noMove="1" noResize="1" noEditPoints="1" noAdjustHandles="1" noChangeArrowheads="1" noChangeShapeType="1"/>
          </p:cNvSpPr>
          <p:nvPr/>
        </p:nvSpPr>
        <p:spPr>
          <a:xfrm>
            <a:off x="6096000" y="809569"/>
            <a:ext cx="5988330" cy="392415"/>
          </a:xfrm>
          <a:prstGeom prst="rect">
            <a:avLst/>
          </a:prstGeom>
          <a:noFill/>
        </p:spPr>
        <p:txBody>
          <a:bodyPr wrap="square" rtlCol="0">
            <a:spAutoFit/>
          </a:bodyPr>
          <a:lstStyle/>
          <a:p>
            <a:pPr algn="ctr"/>
            <a:r>
              <a:rPr lang="en-US" sz="1950" b="1" dirty="0">
                <a:solidFill>
                  <a:srgbClr val="002060"/>
                </a:solidFill>
                <a:latin typeface="Times New Roman" panose="02020603050405020304" pitchFamily="18" charset="0"/>
                <a:cs typeface="Times New Roman" panose="02020603050405020304" pitchFamily="18" charset="0"/>
              </a:rPr>
              <a:t>Stadiums Ranked by Total Matches Hosted</a:t>
            </a:r>
            <a:endParaRPr lang="en-IN" sz="1950" b="1" dirty="0">
              <a:solidFill>
                <a:srgbClr val="002060"/>
              </a:solidFill>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9F1C3C8A-9486-2254-62C1-31DD659F041B}"/>
              </a:ext>
            </a:extLst>
          </p:cNvPr>
          <p:cNvSpPr txBox="1">
            <a:spLocks noGrp="1" noRot="1" noMove="1" noResize="1" noEditPoints="1" noAdjustHandles="1" noChangeArrowheads="1" noChangeShapeType="1"/>
          </p:cNvSpPr>
          <p:nvPr/>
        </p:nvSpPr>
        <p:spPr>
          <a:xfrm>
            <a:off x="107669" y="4664535"/>
            <a:ext cx="5988330" cy="2123658"/>
          </a:xfrm>
          <a:prstGeom prst="rect">
            <a:avLst/>
          </a:prstGeom>
          <a:noFill/>
        </p:spPr>
        <p:txBody>
          <a:bodyPr wrap="square" rtlCol="0">
            <a:spAutoFit/>
          </a:bodyPr>
          <a:lstStyle/>
          <a:p>
            <a:r>
              <a:rPr lang="en-IN" sz="2400" b="1" dirty="0">
                <a:solidFill>
                  <a:srgbClr val="0033CC"/>
                </a:solidFill>
                <a:latin typeface="Times New Roman" panose="02020603050405020304" pitchFamily="18" charset="0"/>
                <a:cs typeface="Times New Roman" panose="02020603050405020304" pitchFamily="18" charset="0"/>
              </a:rPr>
              <a:t>Interpretation :</a:t>
            </a:r>
          </a:p>
          <a:p>
            <a:pPr algn="just"/>
            <a:r>
              <a:rPr lang="en-IN"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This chart highlights the stadiums with the highest average attendance, showing which stadiums are best at drawing large crowds for football matches. Stadiums like Old Trafford and Signal Iduna Park have the biggest average crowds in football matches ,bringing in over 74,000 to 75,000 people per game. </a:t>
            </a:r>
            <a:endParaRPr lang="en-IN" b="1"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C7DA1484-1B26-B2F7-BC3D-3DEE0AED4020}"/>
              </a:ext>
            </a:extLst>
          </p:cNvPr>
          <p:cNvSpPr txBox="1">
            <a:spLocks noGrp="1" noRot="1" noMove="1" noResize="1" noEditPoints="1" noAdjustHandles="1" noChangeArrowheads="1" noChangeShapeType="1"/>
          </p:cNvSpPr>
          <p:nvPr/>
        </p:nvSpPr>
        <p:spPr>
          <a:xfrm>
            <a:off x="6191988" y="4664535"/>
            <a:ext cx="5988330" cy="2123658"/>
          </a:xfrm>
          <a:prstGeom prst="rect">
            <a:avLst/>
          </a:prstGeom>
          <a:noFill/>
        </p:spPr>
        <p:txBody>
          <a:bodyPr wrap="square" rtlCol="0">
            <a:spAutoFit/>
          </a:bodyPr>
          <a:lstStyle/>
          <a:p>
            <a:r>
              <a:rPr lang="en-IN" sz="2400" b="1" dirty="0">
                <a:solidFill>
                  <a:srgbClr val="0033CC"/>
                </a:solidFill>
                <a:latin typeface="Times New Roman" panose="02020603050405020304" pitchFamily="18" charset="0"/>
                <a:cs typeface="Times New Roman" panose="02020603050405020304" pitchFamily="18" charset="0"/>
              </a:rPr>
              <a:t>Interpretation :</a:t>
            </a:r>
          </a:p>
          <a:p>
            <a:pPr algn="just"/>
            <a:r>
              <a:rPr lang="en-IN" b="1" dirty="0">
                <a:solidFill>
                  <a:srgbClr val="0033CC"/>
                </a:solidFill>
                <a:latin typeface="Times New Roman" panose="02020603050405020304" pitchFamily="18" charset="0"/>
                <a:cs typeface="Times New Roman" panose="02020603050405020304" pitchFamily="18" charset="0"/>
              </a:rPr>
              <a:t>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That chart shows the count of matches hosted by each Stadium. Signal Iduna Park leads by hosting 110 matches, with other popular stadiums like Borussia-Park and Veltins-Arena close behind. Stadiums that regularly host many games play a key role in the football calendar and are important for both clubs and fans.</a:t>
            </a: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4C3A84C-1910-9796-F10B-3E8F0AF64678}"/>
              </a:ext>
            </a:extLst>
          </p:cNvPr>
          <p:cNvSpPr txBox="1">
            <a:spLocks noGrp="1" noRot="1" noMove="1" noResize="1" noEditPoints="1" noAdjustHandles="1" noChangeArrowheads="1" noChangeShapeType="1"/>
          </p:cNvSpPr>
          <p:nvPr/>
        </p:nvSpPr>
        <p:spPr>
          <a:xfrm>
            <a:off x="2327303" y="101682"/>
            <a:ext cx="7537391" cy="707886"/>
          </a:xfrm>
          <a:prstGeom prst="rect">
            <a:avLst/>
          </a:prstGeom>
          <a:noFill/>
          <a:ln>
            <a:solidFill>
              <a:srgbClr val="002060"/>
            </a:solidFill>
          </a:ln>
        </p:spPr>
        <p:txBody>
          <a:bodyPr wrap="square" rtlCol="0">
            <a:spAutoFit/>
          </a:bodyPr>
          <a:lstStyle/>
          <a:p>
            <a:pPr algn="ctr"/>
            <a:r>
              <a:rPr lang="en-IN" sz="4000" b="1" dirty="0">
                <a:solidFill>
                  <a:srgbClr val="002060"/>
                </a:solidFill>
                <a:latin typeface="Times New Roman" panose="02020603050405020304" pitchFamily="18" charset="0"/>
                <a:cs typeface="Times New Roman" panose="02020603050405020304" pitchFamily="18" charset="0"/>
              </a:rPr>
              <a:t>Descriptive Analysis</a:t>
            </a:r>
          </a:p>
        </p:txBody>
      </p:sp>
      <p:pic>
        <p:nvPicPr>
          <p:cNvPr id="4" name="Picture 3">
            <a:extLst>
              <a:ext uri="{FF2B5EF4-FFF2-40B4-BE49-F238E27FC236}">
                <a16:creationId xmlns:a16="http://schemas.microsoft.com/office/drawing/2014/main" id="{97E5CE3B-05BF-5995-524F-7A4CF992A8D4}"/>
              </a:ext>
            </a:extLst>
          </p:cNvPr>
          <p:cNvPicPr>
            <a:picLocks noGrp="1" noRot="1" noChangeAspect="1" noMove="1" noResize="1" noEditPoints="1" noAdjustHandles="1" noChangeArrowheads="1" noChangeShapeType="1" noCrop="1"/>
          </p:cNvPicPr>
          <p:nvPr/>
        </p:nvPicPr>
        <p:blipFill>
          <a:blip r:embed="rId4"/>
          <a:stretch>
            <a:fillRect/>
          </a:stretch>
        </p:blipFill>
        <p:spPr>
          <a:xfrm>
            <a:off x="1200143" y="1201984"/>
            <a:ext cx="4217314" cy="3571551"/>
          </a:xfrm>
          <a:prstGeom prst="rect">
            <a:avLst/>
          </a:prstGeom>
        </p:spPr>
      </p:pic>
      <p:pic>
        <p:nvPicPr>
          <p:cNvPr id="12" name="Picture 11">
            <a:extLst>
              <a:ext uri="{FF2B5EF4-FFF2-40B4-BE49-F238E27FC236}">
                <a16:creationId xmlns:a16="http://schemas.microsoft.com/office/drawing/2014/main" id="{EB085D04-C5EA-2A64-A34E-70F42879DCC0}"/>
              </a:ext>
            </a:extLst>
          </p:cNvPr>
          <p:cNvPicPr>
            <a:picLocks noGrp="1" noRot="1" noChangeAspect="1" noMove="1" noResize="1" noEditPoints="1" noAdjustHandles="1" noChangeArrowheads="1" noChangeShapeType="1" noCrop="1"/>
          </p:cNvPicPr>
          <p:nvPr/>
        </p:nvPicPr>
        <p:blipFill>
          <a:blip r:embed="rId5"/>
          <a:stretch>
            <a:fillRect/>
          </a:stretch>
        </p:blipFill>
        <p:spPr>
          <a:xfrm>
            <a:off x="6774543" y="1201984"/>
            <a:ext cx="4508822" cy="3571551"/>
          </a:xfrm>
          <a:prstGeom prst="rect">
            <a:avLst/>
          </a:prstGeom>
        </p:spPr>
      </p:pic>
      <p:grpSp>
        <p:nvGrpSpPr>
          <p:cNvPr id="13" name="Group 12">
            <a:extLst>
              <a:ext uri="{FF2B5EF4-FFF2-40B4-BE49-F238E27FC236}">
                <a16:creationId xmlns:a16="http://schemas.microsoft.com/office/drawing/2014/main" id="{B5BC0273-0456-191D-86A8-20B7EC954FF5}"/>
              </a:ext>
            </a:extLst>
          </p:cNvPr>
          <p:cNvGrpSpPr>
            <a:grpSpLocks noGrp="1" noUngrp="1" noRot="1" noMove="1" noResize="1"/>
          </p:cNvGrpSpPr>
          <p:nvPr/>
        </p:nvGrpSpPr>
        <p:grpSpPr>
          <a:xfrm>
            <a:off x="29899" y="-288865"/>
            <a:ext cx="1400450" cy="1490849"/>
            <a:chOff x="5235014" y="4383245"/>
            <a:chExt cx="1721026" cy="1823925"/>
          </a:xfrm>
        </p:grpSpPr>
        <p:sp>
          <p:nvSpPr>
            <p:cNvPr id="14" name="Oval 13">
              <a:extLst>
                <a:ext uri="{FF2B5EF4-FFF2-40B4-BE49-F238E27FC236}">
                  <a16:creationId xmlns:a16="http://schemas.microsoft.com/office/drawing/2014/main" id="{965A7064-48F0-514E-7256-3E429401D526}"/>
                </a:ext>
              </a:extLst>
            </p:cNvPr>
            <p:cNvSpPr>
              <a:spLocks noGrp="1" noRot="1" noChangeAspect="1" noMove="1" noResize="1" noEditPoints="1" noAdjustHandles="1" noChangeArrowheads="1" noChangeShapeType="1"/>
            </p:cNvSpPr>
            <p:nvPr/>
          </p:nvSpPr>
          <p:spPr>
            <a:xfrm>
              <a:off x="5354845" y="4762769"/>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15" name="TextBox 14">
              <a:extLst>
                <a:ext uri="{FF2B5EF4-FFF2-40B4-BE49-F238E27FC236}">
                  <a16:creationId xmlns:a16="http://schemas.microsoft.com/office/drawing/2014/main" id="{9F156805-CA93-28AC-6F81-2A1CEC2DD499}"/>
                </a:ext>
              </a:extLst>
            </p:cNvPr>
            <p:cNvSpPr txBox="1">
              <a:spLocks noGrp="1" noRot="1" noMove="1" noResize="1" noEditPoints="1" noAdjustHandles="1" noChangeArrowheads="1" noChangeShapeType="1"/>
            </p:cNvSpPr>
            <p:nvPr/>
          </p:nvSpPr>
          <p:spPr>
            <a:xfrm>
              <a:off x="5235014" y="4698887"/>
              <a:ext cx="1721026" cy="1477328"/>
            </a:xfrm>
            <a:prstGeom prst="rect">
              <a:avLst/>
            </a:prstGeom>
            <a:noFill/>
          </p:spPr>
          <p:txBody>
            <a:bodyPr wrap="square" rtlCol="0">
              <a:spAutoFit/>
            </a:bodyPr>
            <a:lstStyle/>
            <a:p>
              <a:pPr algn="ctr"/>
              <a:r>
                <a:rPr lang="en-IN" sz="1400" b="1" dirty="0">
                  <a:solidFill>
                    <a:schemeClr val="bg1">
                      <a:lumMod val="95000"/>
                    </a:schemeClr>
                  </a:solidFill>
                  <a:latin typeface="Times New Roman" panose="02020603050405020304" pitchFamily="18" charset="0"/>
                  <a:cs typeface="Times New Roman" panose="02020603050405020304" pitchFamily="18" charset="0"/>
                </a:rPr>
                <a:t> </a:t>
              </a:r>
              <a:br>
                <a:rPr lang="en-IN" sz="1400" b="1" dirty="0">
                  <a:solidFill>
                    <a:schemeClr val="bg1">
                      <a:lumMod val="95000"/>
                    </a:schemeClr>
                  </a:solidFill>
                  <a:latin typeface="Times New Roman" panose="02020603050405020304" pitchFamily="18" charset="0"/>
                  <a:cs typeface="Times New Roman" panose="02020603050405020304" pitchFamily="18" charset="0"/>
                </a:rPr>
              </a:br>
              <a:br>
                <a:rPr lang="en-IN" sz="1400" b="1" dirty="0">
                  <a:solidFill>
                    <a:schemeClr val="bg1">
                      <a:lumMod val="95000"/>
                    </a:schemeClr>
                  </a:solidFill>
                  <a:latin typeface="Times New Roman" panose="02020603050405020304" pitchFamily="18" charset="0"/>
                  <a:cs typeface="Times New Roman" panose="02020603050405020304" pitchFamily="18" charset="0"/>
                </a:rPr>
              </a:br>
              <a:r>
                <a:rPr lang="en-IN" sz="1400" b="1" dirty="0">
                  <a:solidFill>
                    <a:schemeClr val="bg1">
                      <a:lumMod val="95000"/>
                    </a:schemeClr>
                  </a:solidFill>
                  <a:latin typeface="Times New Roman" panose="02020603050405020304" pitchFamily="18" charset="0"/>
                  <a:cs typeface="Times New Roman" panose="02020603050405020304" pitchFamily="18" charset="0"/>
                </a:rPr>
                <a:t>Attendance</a:t>
              </a:r>
            </a:p>
            <a:p>
              <a:pPr algn="ctr"/>
              <a:r>
                <a:rPr lang="en-IN" sz="1400" b="1" dirty="0">
                  <a:solidFill>
                    <a:schemeClr val="bg1">
                      <a:lumMod val="95000"/>
                    </a:schemeClr>
                  </a:solidFill>
                  <a:latin typeface="Times New Roman" panose="02020603050405020304" pitchFamily="18" charset="0"/>
                  <a:cs typeface="Times New Roman" panose="02020603050405020304" pitchFamily="18" charset="0"/>
                </a:rPr>
                <a:t>&amp; Stadium Analysis</a:t>
              </a:r>
            </a:p>
          </p:txBody>
        </p:sp>
        <p:sp>
          <p:nvSpPr>
            <p:cNvPr id="16" name="TextBox 15">
              <a:extLst>
                <a:ext uri="{FF2B5EF4-FFF2-40B4-BE49-F238E27FC236}">
                  <a16:creationId xmlns:a16="http://schemas.microsoft.com/office/drawing/2014/main" id="{13C074F2-477A-7594-2D48-899CE75F62E0}"/>
                </a:ext>
              </a:extLst>
            </p:cNvPr>
            <p:cNvSpPr txBox="1">
              <a:spLocks noGrp="1" noRot="1" noMove="1" noResize="1" noEditPoints="1" noAdjustHandles="1" noChangeArrowheads="1" noChangeShapeType="1"/>
            </p:cNvSpPr>
            <p:nvPr/>
          </p:nvSpPr>
          <p:spPr>
            <a:xfrm>
              <a:off x="5235014" y="4383245"/>
              <a:ext cx="1721026" cy="1054306"/>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3200" b="1" dirty="0">
                  <a:solidFill>
                    <a:schemeClr val="bg1">
                      <a:lumMod val="95000"/>
                    </a:schemeClr>
                  </a:solidFill>
                  <a:latin typeface="Times New Roman" panose="02020603050405020304" pitchFamily="18" charset="0"/>
                  <a:cs typeface="Times New Roman" panose="02020603050405020304" pitchFamily="18" charset="0"/>
                </a:rPr>
                <a:t>3</a:t>
              </a:r>
            </a:p>
          </p:txBody>
        </p:sp>
      </p:grpSp>
    </p:spTree>
    <p:extLst>
      <p:ext uri="{BB962C8B-B14F-4D97-AF65-F5344CB8AC3E}">
        <p14:creationId xmlns:p14="http://schemas.microsoft.com/office/powerpoint/2010/main" val="1948083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D366B98A-D35C-982D-6F95-6D223073C40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3BD42E7-BE05-C5A4-7908-92B460C646AB}"/>
              </a:ext>
            </a:extLst>
          </p:cNvPr>
          <p:cNvSpPr>
            <a:spLocks noGrp="1" noRot="1" noMove="1" noResize="1" noEditPoints="1" noAdjustHandles="1" noChangeArrowheads="1" noChangeShapeType="1"/>
          </p:cNvSpPr>
          <p:nvPr>
            <p:ph type="body" idx="1"/>
          </p:nvPr>
        </p:nvSpPr>
        <p:spPr>
          <a:xfrm>
            <a:off x="415882" y="289713"/>
            <a:ext cx="11304052" cy="650446"/>
          </a:xfrm>
          <a:ln>
            <a:solidFill>
              <a:srgbClr val="002060"/>
            </a:solidFill>
          </a:ln>
        </p:spPr>
        <p:txBody>
          <a:bodyPr>
            <a:normAutofit fontScale="92500"/>
          </a:bodyPr>
          <a:lstStyle/>
          <a:p>
            <a:pPr algn="ctr"/>
            <a:r>
              <a:rPr lang="en-IN" sz="4000" b="1" dirty="0">
                <a:solidFill>
                  <a:srgbClr val="002060"/>
                </a:solidFill>
                <a:latin typeface="Times New Roman" panose="02020603050405020304" pitchFamily="18" charset="0"/>
                <a:cs typeface="Times New Roman" panose="02020603050405020304" pitchFamily="18" charset="0"/>
              </a:rPr>
              <a:t>Logistic Regression Model for Attendance Prediction</a:t>
            </a:r>
          </a:p>
        </p:txBody>
      </p:sp>
      <p:sp>
        <p:nvSpPr>
          <p:cNvPr id="2" name="Text Placeholder 2">
            <a:extLst>
              <a:ext uri="{FF2B5EF4-FFF2-40B4-BE49-F238E27FC236}">
                <a16:creationId xmlns:a16="http://schemas.microsoft.com/office/drawing/2014/main" id="{4CE72DD1-0FE6-C364-D41F-2622250B57B4}"/>
              </a:ext>
            </a:extLst>
          </p:cNvPr>
          <p:cNvSpPr txBox="1">
            <a:spLocks noGrp="1" noRot="1" noMove="1" noResize="1" noEditPoints="1" noAdjustHandles="1" noChangeArrowheads="1" noChangeShapeType="1"/>
          </p:cNvSpPr>
          <p:nvPr/>
        </p:nvSpPr>
        <p:spPr>
          <a:xfrm>
            <a:off x="372236" y="1173373"/>
            <a:ext cx="5695672" cy="375755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buSzPts val="2400"/>
            </a:pPr>
            <a:r>
              <a:rPr lang="en-US" sz="2000" b="1" dirty="0">
                <a:solidFill>
                  <a:schemeClr val="tx1"/>
                </a:solidFill>
              </a:rPr>
              <a:t>Based on correlation analysis and model testing, the top features for predicting Attendance are:</a:t>
            </a:r>
          </a:p>
          <a:p>
            <a:pPr marL="1257300" lvl="2" indent="-342900">
              <a:buFont typeface="Wingdings" panose="05000000000000000000" pitchFamily="2" charset="2"/>
              <a:buChar char="§"/>
            </a:pPr>
            <a:r>
              <a:rPr lang="en-US" sz="2000" b="1" dirty="0">
                <a:solidFill>
                  <a:srgbClr val="0033CC"/>
                </a:solidFill>
              </a:rPr>
              <a:t>Highest market value in euro</a:t>
            </a:r>
          </a:p>
          <a:p>
            <a:pPr marL="1257300" lvl="2" indent="-342900">
              <a:buFont typeface="Wingdings" panose="05000000000000000000" pitchFamily="2" charset="2"/>
              <a:buChar char="§"/>
            </a:pPr>
            <a:r>
              <a:rPr lang="en-US" sz="2000" b="1" dirty="0">
                <a:solidFill>
                  <a:srgbClr val="0033CC"/>
                </a:solidFill>
              </a:rPr>
              <a:t>Market value in euro</a:t>
            </a:r>
          </a:p>
          <a:p>
            <a:pPr lvl="2"/>
            <a:endParaRPr lang="en-US" sz="2000" b="1" dirty="0">
              <a:solidFill>
                <a:srgbClr val="0033CC"/>
              </a:solidFill>
            </a:endParaRPr>
          </a:p>
          <a:p>
            <a:pPr marL="342900" indent="-342900">
              <a:buFont typeface="Wingdings" panose="05000000000000000000" pitchFamily="2" charset="2"/>
              <a:buChar char="v"/>
            </a:pPr>
            <a:r>
              <a:rPr lang="en-US" sz="2000" b="1" dirty="0">
                <a:solidFill>
                  <a:schemeClr val="tx1"/>
                </a:solidFill>
              </a:rPr>
              <a:t>Building and Testing the Predictive Model :</a:t>
            </a:r>
            <a:endParaRPr lang="en-IN" sz="2000" b="1" dirty="0">
              <a:solidFill>
                <a:schemeClr val="tx1"/>
              </a:solidFill>
            </a:endParaRPr>
          </a:p>
          <a:p>
            <a:pPr marL="800100" lvl="1" indent="-342900">
              <a:buFont typeface="Wingdings" panose="05000000000000000000" pitchFamily="2" charset="2"/>
              <a:buChar char="Ø"/>
            </a:pPr>
            <a:r>
              <a:rPr lang="en-US" b="1" dirty="0">
                <a:solidFill>
                  <a:schemeClr val="tx1">
                    <a:lumMod val="95000"/>
                    <a:lumOff val="5000"/>
                  </a:schemeClr>
                </a:solidFill>
              </a:rPr>
              <a:t>Model Performance:</a:t>
            </a:r>
          </a:p>
          <a:p>
            <a:pPr marL="1257300" lvl="2" indent="-342900">
              <a:buFont typeface="Wingdings" panose="05000000000000000000" pitchFamily="2" charset="2"/>
              <a:buChar char="Ø"/>
            </a:pPr>
            <a:r>
              <a:rPr lang="en-US" sz="2000" b="1" dirty="0">
                <a:solidFill>
                  <a:schemeClr val="tx1"/>
                </a:solidFill>
              </a:rPr>
              <a:t>Accuracy : </a:t>
            </a:r>
            <a:r>
              <a:rPr lang="en-US" sz="2000" b="1" dirty="0">
                <a:solidFill>
                  <a:srgbClr val="FF0000"/>
                </a:solidFill>
              </a:rPr>
              <a:t>0.72</a:t>
            </a:r>
            <a:endParaRPr lang="en-US" sz="2000" b="1" dirty="0">
              <a:solidFill>
                <a:schemeClr val="tx1">
                  <a:lumMod val="95000"/>
                  <a:lumOff val="5000"/>
                </a:schemeClr>
              </a:solidFill>
            </a:endParaRPr>
          </a:p>
          <a:p>
            <a:pPr marL="1257300" lvl="2" indent="-342900">
              <a:buFont typeface="Wingdings" panose="05000000000000000000" pitchFamily="2" charset="2"/>
              <a:buChar char="Ø"/>
            </a:pPr>
            <a:r>
              <a:rPr lang="en-US" sz="2000" b="1" dirty="0">
                <a:solidFill>
                  <a:schemeClr val="tx1"/>
                </a:solidFill>
              </a:rPr>
              <a:t>Precision : </a:t>
            </a:r>
            <a:r>
              <a:rPr lang="en-US" sz="2000" b="1" dirty="0">
                <a:solidFill>
                  <a:srgbClr val="FF0000"/>
                </a:solidFill>
              </a:rPr>
              <a:t>0.69</a:t>
            </a:r>
            <a:r>
              <a:rPr lang="en-US" sz="2000" b="1" dirty="0">
                <a:solidFill>
                  <a:schemeClr val="tx1"/>
                </a:solidFill>
              </a:rPr>
              <a:t> </a:t>
            </a:r>
            <a:endParaRPr lang="en-US" sz="2000" b="1" dirty="0">
              <a:solidFill>
                <a:schemeClr val="tx1">
                  <a:lumMod val="95000"/>
                  <a:lumOff val="5000"/>
                </a:schemeClr>
              </a:solidFill>
            </a:endParaRPr>
          </a:p>
          <a:p>
            <a:pPr marL="1257300" lvl="2" indent="-342900">
              <a:buFont typeface="Wingdings" panose="05000000000000000000" pitchFamily="2" charset="2"/>
              <a:buChar char="Ø"/>
            </a:pPr>
            <a:r>
              <a:rPr lang="en-US" sz="2000" b="1" dirty="0">
                <a:solidFill>
                  <a:schemeClr val="tx1"/>
                </a:solidFill>
              </a:rPr>
              <a:t>Recall : </a:t>
            </a:r>
            <a:r>
              <a:rPr lang="en-US" sz="2000" b="1" dirty="0">
                <a:solidFill>
                  <a:srgbClr val="FF0000"/>
                </a:solidFill>
              </a:rPr>
              <a:t>0.81</a:t>
            </a:r>
            <a:endParaRPr lang="en-US" sz="2000" b="1" dirty="0">
              <a:solidFill>
                <a:schemeClr val="tx1"/>
              </a:solidFill>
            </a:endParaRPr>
          </a:p>
          <a:p>
            <a:pPr marL="1257300" lvl="2" indent="-342900">
              <a:buFont typeface="Wingdings" panose="05000000000000000000" pitchFamily="2" charset="2"/>
              <a:buChar char="Ø"/>
            </a:pPr>
            <a:r>
              <a:rPr lang="en-US" sz="2000" b="1" dirty="0">
                <a:solidFill>
                  <a:schemeClr val="tx1"/>
                </a:solidFill>
              </a:rPr>
              <a:t>F1 Score: </a:t>
            </a:r>
            <a:r>
              <a:rPr lang="en-US" sz="2000" b="1" dirty="0">
                <a:solidFill>
                  <a:srgbClr val="FF0000"/>
                </a:solidFill>
              </a:rPr>
              <a:t>0.75 </a:t>
            </a:r>
            <a:endParaRPr lang="en-US" sz="2000" b="1" dirty="0">
              <a:solidFill>
                <a:schemeClr val="tx1">
                  <a:lumMod val="95000"/>
                  <a:lumOff val="5000"/>
                </a:schemeClr>
              </a:solidFill>
            </a:endParaRPr>
          </a:p>
        </p:txBody>
      </p:sp>
      <p:pic>
        <p:nvPicPr>
          <p:cNvPr id="2050" name="Picture 2">
            <a:extLst>
              <a:ext uri="{FF2B5EF4-FFF2-40B4-BE49-F238E27FC236}">
                <a16:creationId xmlns:a16="http://schemas.microsoft.com/office/drawing/2014/main" id="{C6F63840-6EB0-428A-4CFC-51CA6AF80894}"/>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124094" y="1059983"/>
            <a:ext cx="5930387" cy="473803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F27EBA53-03C5-42D9-09CA-B98CF218F23C}"/>
              </a:ext>
            </a:extLst>
          </p:cNvPr>
          <p:cNvGraphicFramePr>
            <a:graphicFrameLocks noGrp="1" noDrilldown="1" noMove="1" noResize="1"/>
          </p:cNvGraphicFramePr>
          <p:nvPr>
            <p:extLst>
              <p:ext uri="{D42A27DB-BD31-4B8C-83A1-F6EECF244321}">
                <p14:modId xmlns:p14="http://schemas.microsoft.com/office/powerpoint/2010/main" val="4099781092"/>
              </p:ext>
            </p:extLst>
          </p:nvPr>
        </p:nvGraphicFramePr>
        <p:xfrm>
          <a:off x="817754" y="5578960"/>
          <a:ext cx="4172247" cy="1112520"/>
        </p:xfrm>
        <a:graphic>
          <a:graphicData uri="http://schemas.openxmlformats.org/drawingml/2006/table">
            <a:tbl>
              <a:tblPr firstRow="1" bandRow="1">
                <a:tableStyleId>{5C22544A-7EE6-4342-B048-85BDC9FD1C3A}</a:tableStyleId>
              </a:tblPr>
              <a:tblGrid>
                <a:gridCol w="984665">
                  <a:extLst>
                    <a:ext uri="{9D8B030D-6E8A-4147-A177-3AD203B41FA5}">
                      <a16:colId xmlns:a16="http://schemas.microsoft.com/office/drawing/2014/main" val="257187421"/>
                    </a:ext>
                  </a:extLst>
                </a:gridCol>
                <a:gridCol w="1121728">
                  <a:extLst>
                    <a:ext uri="{9D8B030D-6E8A-4147-A177-3AD203B41FA5}">
                      <a16:colId xmlns:a16="http://schemas.microsoft.com/office/drawing/2014/main" val="3110867717"/>
                    </a:ext>
                  </a:extLst>
                </a:gridCol>
                <a:gridCol w="885825">
                  <a:extLst>
                    <a:ext uri="{9D8B030D-6E8A-4147-A177-3AD203B41FA5}">
                      <a16:colId xmlns:a16="http://schemas.microsoft.com/office/drawing/2014/main" val="3725008470"/>
                    </a:ext>
                  </a:extLst>
                </a:gridCol>
                <a:gridCol w="1180029">
                  <a:extLst>
                    <a:ext uri="{9D8B030D-6E8A-4147-A177-3AD203B41FA5}">
                      <a16:colId xmlns:a16="http://schemas.microsoft.com/office/drawing/2014/main" val="3255585776"/>
                    </a:ext>
                  </a:extLst>
                </a:gridCol>
              </a:tblGrid>
              <a:tr h="370840">
                <a:tc>
                  <a:txBody>
                    <a:bodyPr/>
                    <a:lstStyle/>
                    <a:p>
                      <a:endParaRPr lang="en-IN" dirty="0"/>
                    </a:p>
                  </a:txBody>
                  <a:tcPr/>
                </a:tc>
                <a:tc>
                  <a:txBody>
                    <a:bodyPr/>
                    <a:lstStyle/>
                    <a:p>
                      <a:pPr algn="ctr"/>
                      <a:r>
                        <a:rPr lang="en-IN" dirty="0"/>
                        <a:t>F1 Score</a:t>
                      </a:r>
                    </a:p>
                  </a:txBody>
                  <a:tcPr/>
                </a:tc>
                <a:tc>
                  <a:txBody>
                    <a:bodyPr/>
                    <a:lstStyle/>
                    <a:p>
                      <a:pPr algn="ctr"/>
                      <a:r>
                        <a:rPr lang="en-IN" dirty="0"/>
                        <a:t>Recall</a:t>
                      </a:r>
                    </a:p>
                  </a:txBody>
                  <a:tcPr/>
                </a:tc>
                <a:tc>
                  <a:txBody>
                    <a:bodyPr/>
                    <a:lstStyle/>
                    <a:p>
                      <a:pPr algn="ctr"/>
                      <a:r>
                        <a:rPr lang="en-IN" dirty="0"/>
                        <a:t>Precision</a:t>
                      </a:r>
                    </a:p>
                  </a:txBody>
                  <a:tcPr/>
                </a:tc>
                <a:extLst>
                  <a:ext uri="{0D108BD9-81ED-4DB2-BD59-A6C34878D82A}">
                    <a16:rowId xmlns:a16="http://schemas.microsoft.com/office/drawing/2014/main" val="781044520"/>
                  </a:ext>
                </a:extLst>
              </a:tr>
              <a:tr h="370840">
                <a:tc>
                  <a:txBody>
                    <a:bodyPr/>
                    <a:lstStyle/>
                    <a:p>
                      <a:pPr algn="ctr"/>
                      <a:r>
                        <a:rPr lang="en-IN" b="1" dirty="0">
                          <a:latin typeface="Times New Roman" panose="02020603050405020304" pitchFamily="18" charset="0"/>
                          <a:cs typeface="Times New Roman" panose="02020603050405020304" pitchFamily="18" charset="0"/>
                        </a:rPr>
                        <a:t>Low</a:t>
                      </a:r>
                    </a:p>
                  </a:txBody>
                  <a:tcPr/>
                </a:tc>
                <a:tc>
                  <a:txBody>
                    <a:bodyPr/>
                    <a:lstStyle/>
                    <a:p>
                      <a:pPr algn="ctr"/>
                      <a:r>
                        <a:rPr lang="en-IN" dirty="0"/>
                        <a:t>0.75</a:t>
                      </a:r>
                    </a:p>
                  </a:txBody>
                  <a:tcPr/>
                </a:tc>
                <a:tc>
                  <a:txBody>
                    <a:bodyPr/>
                    <a:lstStyle/>
                    <a:p>
                      <a:pPr algn="ctr"/>
                      <a:r>
                        <a:rPr lang="en-IN" dirty="0"/>
                        <a:t>0.82</a:t>
                      </a:r>
                    </a:p>
                  </a:txBody>
                  <a:tcPr/>
                </a:tc>
                <a:tc>
                  <a:txBody>
                    <a:bodyPr/>
                    <a:lstStyle/>
                    <a:p>
                      <a:pPr algn="ctr"/>
                      <a:r>
                        <a:rPr lang="en-IN" dirty="0"/>
                        <a:t>0.70</a:t>
                      </a:r>
                    </a:p>
                  </a:txBody>
                  <a:tcPr/>
                </a:tc>
                <a:extLst>
                  <a:ext uri="{0D108BD9-81ED-4DB2-BD59-A6C34878D82A}">
                    <a16:rowId xmlns:a16="http://schemas.microsoft.com/office/drawing/2014/main" val="1321468864"/>
                  </a:ext>
                </a:extLst>
              </a:tr>
              <a:tr h="370840">
                <a:tc>
                  <a:txBody>
                    <a:bodyPr/>
                    <a:lstStyle/>
                    <a:p>
                      <a:pPr algn="ctr"/>
                      <a:r>
                        <a:rPr lang="en-IN" b="1" dirty="0">
                          <a:latin typeface="Times New Roman" panose="02020603050405020304" pitchFamily="18" charset="0"/>
                          <a:cs typeface="Times New Roman" panose="02020603050405020304" pitchFamily="18" charset="0"/>
                        </a:rPr>
                        <a:t>High</a:t>
                      </a:r>
                    </a:p>
                  </a:txBody>
                  <a:tcPr/>
                </a:tc>
                <a:tc>
                  <a:txBody>
                    <a:bodyPr/>
                    <a:lstStyle/>
                    <a:p>
                      <a:pPr algn="ctr"/>
                      <a:r>
                        <a:rPr lang="en-IN" dirty="0"/>
                        <a:t>0.68</a:t>
                      </a:r>
                    </a:p>
                  </a:txBody>
                  <a:tcPr/>
                </a:tc>
                <a:tc>
                  <a:txBody>
                    <a:bodyPr/>
                    <a:lstStyle/>
                    <a:p>
                      <a:pPr algn="ctr"/>
                      <a:r>
                        <a:rPr lang="en-IN" dirty="0"/>
                        <a:t>0.62</a:t>
                      </a:r>
                    </a:p>
                  </a:txBody>
                  <a:tcPr/>
                </a:tc>
                <a:tc>
                  <a:txBody>
                    <a:bodyPr/>
                    <a:lstStyle/>
                    <a:p>
                      <a:pPr algn="ctr"/>
                      <a:r>
                        <a:rPr lang="en-IN" dirty="0"/>
                        <a:t>0.76</a:t>
                      </a:r>
                    </a:p>
                  </a:txBody>
                  <a:tcPr/>
                </a:tc>
                <a:extLst>
                  <a:ext uri="{0D108BD9-81ED-4DB2-BD59-A6C34878D82A}">
                    <a16:rowId xmlns:a16="http://schemas.microsoft.com/office/drawing/2014/main" val="4003823587"/>
                  </a:ext>
                </a:extLst>
              </a:tr>
            </a:tbl>
          </a:graphicData>
        </a:graphic>
      </p:graphicFrame>
      <p:sp>
        <p:nvSpPr>
          <p:cNvPr id="9" name="TextBox 8">
            <a:extLst>
              <a:ext uri="{FF2B5EF4-FFF2-40B4-BE49-F238E27FC236}">
                <a16:creationId xmlns:a16="http://schemas.microsoft.com/office/drawing/2014/main" id="{096D0F51-F5AE-566A-CD18-7A4C89A4AF12}"/>
              </a:ext>
            </a:extLst>
          </p:cNvPr>
          <p:cNvSpPr txBox="1">
            <a:spLocks noGrp="1" noRot="1" noMove="1" noResize="1" noEditPoints="1" noAdjustHandles="1" noChangeArrowheads="1" noChangeShapeType="1"/>
          </p:cNvSpPr>
          <p:nvPr/>
        </p:nvSpPr>
        <p:spPr>
          <a:xfrm>
            <a:off x="1482928" y="5117295"/>
            <a:ext cx="3075382" cy="461665"/>
          </a:xfrm>
          <a:prstGeom prst="rect">
            <a:avLst/>
          </a:prstGeom>
          <a:noFill/>
        </p:spPr>
        <p:txBody>
          <a:bodyPr wrap="square">
            <a:spAutoFit/>
          </a:bodyPr>
          <a:lstStyle/>
          <a:p>
            <a:pPr algn="l" latinLnBrk="1">
              <a:buNone/>
            </a:pPr>
            <a:r>
              <a:rPr lang="en-IN" sz="2400" b="1" i="0" dirty="0">
                <a:solidFill>
                  <a:srgbClr val="002060"/>
                </a:solidFill>
                <a:effectLst/>
                <a:latin typeface="Times New Roman" panose="02020603050405020304" pitchFamily="18" charset="0"/>
                <a:cs typeface="Times New Roman" panose="02020603050405020304" pitchFamily="18" charset="0"/>
              </a:rPr>
              <a:t>Classification Report:</a:t>
            </a:r>
          </a:p>
        </p:txBody>
      </p:sp>
    </p:spTree>
    <p:extLst>
      <p:ext uri="{BB962C8B-B14F-4D97-AF65-F5344CB8AC3E}">
        <p14:creationId xmlns:p14="http://schemas.microsoft.com/office/powerpoint/2010/main" val="1594910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F1FA9B89-16D0-D02D-BB70-075AD0A9DAD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3677ABF-B094-AFA4-D0DF-D9104AFD1C11}"/>
              </a:ext>
            </a:extLst>
          </p:cNvPr>
          <p:cNvPicPr>
            <a:picLocks noChangeAspect="1"/>
          </p:cNvPicPr>
          <p:nvPr/>
        </p:nvPicPr>
        <p:blipFill>
          <a:blip r:embed="rId4"/>
          <a:stretch>
            <a:fillRect/>
          </a:stretch>
        </p:blipFill>
        <p:spPr>
          <a:xfrm>
            <a:off x="-2" y="0"/>
            <a:ext cx="12192000" cy="5955648"/>
          </a:xfrm>
          <a:prstGeom prst="rect">
            <a:avLst/>
          </a:prstGeom>
        </p:spPr>
      </p:pic>
      <p:sp>
        <p:nvSpPr>
          <p:cNvPr id="3" name="Rectangle: Rounded Corners 2">
            <a:extLst>
              <a:ext uri="{FF2B5EF4-FFF2-40B4-BE49-F238E27FC236}">
                <a16:creationId xmlns:a16="http://schemas.microsoft.com/office/drawing/2014/main" id="{B28909DE-7E19-9756-CA64-C0547BBA8DFA}"/>
              </a:ext>
            </a:extLst>
          </p:cNvPr>
          <p:cNvSpPr>
            <a:spLocks noGrp="1" noRot="1" noMove="1" noResize="1" noEditPoints="1" noAdjustHandles="1" noChangeArrowheads="1" noChangeShapeType="1"/>
          </p:cNvSpPr>
          <p:nvPr/>
        </p:nvSpPr>
        <p:spPr>
          <a:xfrm>
            <a:off x="5557836" y="5955648"/>
            <a:ext cx="1076325" cy="856656"/>
          </a:xfrm>
          <a:prstGeom prst="roundRect">
            <a:avLst/>
          </a:prstGeom>
          <a:solidFill>
            <a:srgbClr val="243E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F1F7ED"/>
                </a:solidFill>
                <a:latin typeface="Times New Roman" panose="02020603050405020304" pitchFamily="18" charset="0"/>
                <a:cs typeface="Times New Roman" panose="02020603050405020304" pitchFamily="18" charset="0"/>
                <a:hlinkClick r:id="rId5" tooltip="Link to Team Analysis Dashboard">
                  <a:extLst>
                    <a:ext uri="{A12FA001-AC4F-418D-AE19-62706E023703}">
                      <ahyp:hlinkClr xmlns:ahyp="http://schemas.microsoft.com/office/drawing/2018/hyperlinkcolor" val="tx"/>
                    </a:ext>
                  </a:extLst>
                </a:hlinkClick>
              </a:rPr>
              <a:t>Click Here</a:t>
            </a:r>
            <a:endParaRPr lang="en-IN" sz="2400" dirty="0">
              <a:solidFill>
                <a:srgbClr val="F1F7E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4690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A98C9751-B297-9CD4-D2DB-311185628D3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8B9D3DC-A3B3-5435-2B58-7FFA7DF15C17}"/>
              </a:ext>
            </a:extLst>
          </p:cNvPr>
          <p:cNvSpPr>
            <a:spLocks noGrp="1" noRot="1" noMove="1" noResize="1" noEditPoints="1" noAdjustHandles="1" noChangeArrowheads="1" noChangeShapeType="1"/>
          </p:cNvSpPr>
          <p:nvPr>
            <p:ph type="body" idx="1"/>
          </p:nvPr>
        </p:nvSpPr>
        <p:spPr>
          <a:xfrm>
            <a:off x="220528" y="88301"/>
            <a:ext cx="11304052" cy="595364"/>
          </a:xfrm>
          <a:ln>
            <a:solidFill>
              <a:srgbClr val="002060"/>
            </a:solidFill>
          </a:ln>
        </p:spPr>
        <p:txBody>
          <a:bodyPr>
            <a:normAutofit lnSpcReduction="10000"/>
          </a:bodyPr>
          <a:lstStyle/>
          <a:p>
            <a:pPr algn="ctr"/>
            <a:r>
              <a:rPr lang="en-IN" sz="4000" b="1" dirty="0">
                <a:solidFill>
                  <a:srgbClr val="002060"/>
                </a:solidFill>
                <a:latin typeface="Times New Roman" panose="02020603050405020304" pitchFamily="18" charset="0"/>
                <a:cs typeface="Times New Roman" panose="02020603050405020304" pitchFamily="18" charset="0"/>
              </a:rPr>
              <a:t>K-means clustering</a:t>
            </a:r>
          </a:p>
        </p:txBody>
      </p:sp>
      <p:grpSp>
        <p:nvGrpSpPr>
          <p:cNvPr id="2" name="Group 1">
            <a:extLst>
              <a:ext uri="{FF2B5EF4-FFF2-40B4-BE49-F238E27FC236}">
                <a16:creationId xmlns:a16="http://schemas.microsoft.com/office/drawing/2014/main" id="{B1E48CDD-7097-395E-912A-8B3E8982F348}"/>
              </a:ext>
            </a:extLst>
          </p:cNvPr>
          <p:cNvGrpSpPr>
            <a:grpSpLocks noGrp="1" noUngrp="1" noRot="1" noMove="1" noResize="1"/>
          </p:cNvGrpSpPr>
          <p:nvPr/>
        </p:nvGrpSpPr>
        <p:grpSpPr>
          <a:xfrm>
            <a:off x="10769563" y="-251537"/>
            <a:ext cx="1519290" cy="1461250"/>
            <a:chOff x="5184780" y="293479"/>
            <a:chExt cx="1832657" cy="1801752"/>
          </a:xfrm>
        </p:grpSpPr>
        <p:sp>
          <p:nvSpPr>
            <p:cNvPr id="4" name="Oval 3">
              <a:extLst>
                <a:ext uri="{FF2B5EF4-FFF2-40B4-BE49-F238E27FC236}">
                  <a16:creationId xmlns:a16="http://schemas.microsoft.com/office/drawing/2014/main" id="{746E54FD-17BA-EF37-B27F-C5072ECF3821}"/>
                </a:ext>
              </a:extLst>
            </p:cNvPr>
            <p:cNvSpPr>
              <a:spLocks noGrp="1" noRot="1" noChangeAspect="1" noMove="1" noResize="1" noEditPoints="1" noAdjustHandles="1" noChangeArrowheads="1" noChangeShapeType="1"/>
            </p:cNvSpPr>
            <p:nvPr/>
          </p:nvSpPr>
          <p:spPr>
            <a:xfrm>
              <a:off x="5354846" y="650830"/>
              <a:ext cx="1482306" cy="1444401"/>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2060"/>
                </a:solidFill>
              </a:endParaRPr>
            </a:p>
          </p:txBody>
        </p:sp>
        <p:sp>
          <p:nvSpPr>
            <p:cNvPr id="5" name="TextBox 4">
              <a:extLst>
                <a:ext uri="{FF2B5EF4-FFF2-40B4-BE49-F238E27FC236}">
                  <a16:creationId xmlns:a16="http://schemas.microsoft.com/office/drawing/2014/main" id="{9AB73DE3-A9B4-D400-5AA1-D2B4CB9F620B}"/>
                </a:ext>
              </a:extLst>
            </p:cNvPr>
            <p:cNvSpPr txBox="1">
              <a:spLocks noGrp="1" noRot="1" noMove="1" noResize="1" noEditPoints="1" noAdjustHandles="1" noChangeArrowheads="1" noChangeShapeType="1"/>
            </p:cNvSpPr>
            <p:nvPr/>
          </p:nvSpPr>
          <p:spPr>
            <a:xfrm>
              <a:off x="5184780" y="685378"/>
              <a:ext cx="1832657" cy="1043508"/>
            </a:xfrm>
            <a:prstGeom prst="rect">
              <a:avLst/>
            </a:prstGeom>
            <a:noFill/>
          </p:spPr>
          <p:txBody>
            <a:bodyPr wrap="square" rtlCol="0">
              <a:spAutoFit/>
            </a:bodyPr>
            <a:lstStyle/>
            <a:p>
              <a:pPr algn="ctr"/>
              <a:r>
                <a:rPr lang="en-IN" sz="1200" b="1" dirty="0">
                  <a:solidFill>
                    <a:schemeClr val="bg1">
                      <a:lumMod val="95000"/>
                    </a:schemeClr>
                  </a:solidFill>
                  <a:latin typeface="Times New Roman" panose="02020603050405020304" pitchFamily="18" charset="0"/>
                  <a:cs typeface="Times New Roman" panose="02020603050405020304" pitchFamily="18" charset="0"/>
                </a:rPr>
                <a:t> </a:t>
              </a:r>
              <a:br>
                <a:rPr lang="en-IN" sz="1200" b="1" dirty="0">
                  <a:solidFill>
                    <a:schemeClr val="bg1">
                      <a:lumMod val="95000"/>
                    </a:schemeClr>
                  </a:solidFill>
                  <a:latin typeface="Times New Roman" panose="02020603050405020304" pitchFamily="18" charset="0"/>
                  <a:cs typeface="Times New Roman" panose="02020603050405020304" pitchFamily="18" charset="0"/>
                </a:rPr>
              </a:br>
              <a:r>
                <a:rPr lang="en-IN" sz="1000" b="1" dirty="0">
                  <a:solidFill>
                    <a:schemeClr val="bg1">
                      <a:lumMod val="95000"/>
                    </a:schemeClr>
                  </a:solidFill>
                  <a:latin typeface="Times New Roman" panose="02020603050405020304" pitchFamily="18" charset="0"/>
                  <a:cs typeface="Times New Roman" panose="02020603050405020304" pitchFamily="18" charset="0"/>
                </a:rPr>
                <a:t> </a:t>
              </a:r>
              <a:br>
                <a:rPr lang="en-IN" sz="1200" b="1" dirty="0">
                  <a:solidFill>
                    <a:schemeClr val="bg1">
                      <a:lumMod val="95000"/>
                    </a:schemeClr>
                  </a:solidFill>
                  <a:latin typeface="Times New Roman" panose="02020603050405020304" pitchFamily="18" charset="0"/>
                  <a:cs typeface="Times New Roman" panose="02020603050405020304" pitchFamily="18" charset="0"/>
                </a:rPr>
              </a:br>
              <a:r>
                <a:rPr lang="en-IN" sz="1200" b="1" dirty="0">
                  <a:solidFill>
                    <a:schemeClr val="bg1">
                      <a:lumMod val="95000"/>
                    </a:schemeClr>
                  </a:solidFill>
                  <a:latin typeface="Times New Roman" panose="02020603050405020304" pitchFamily="18" charset="0"/>
                  <a:cs typeface="Times New Roman" panose="02020603050405020304" pitchFamily="18" charset="0"/>
                </a:rPr>
                <a:t>Player Attributes </a:t>
              </a:r>
              <a:br>
                <a:rPr lang="en-IN" sz="1200" b="1" dirty="0">
                  <a:solidFill>
                    <a:schemeClr val="bg1">
                      <a:lumMod val="95000"/>
                    </a:schemeClr>
                  </a:solidFill>
                  <a:latin typeface="Times New Roman" panose="02020603050405020304" pitchFamily="18" charset="0"/>
                  <a:cs typeface="Times New Roman" panose="02020603050405020304" pitchFamily="18" charset="0"/>
                </a:rPr>
              </a:br>
              <a:r>
                <a:rPr lang="en-IN" sz="1200" b="1" dirty="0">
                  <a:solidFill>
                    <a:schemeClr val="bg1">
                      <a:lumMod val="95000"/>
                    </a:schemeClr>
                  </a:solidFill>
                  <a:latin typeface="Times New Roman" panose="02020603050405020304" pitchFamily="18" charset="0"/>
                  <a:cs typeface="Times New Roman" panose="02020603050405020304" pitchFamily="18" charset="0"/>
                </a:rPr>
                <a:t>&amp;</a:t>
              </a:r>
              <a:br>
                <a:rPr lang="en-IN" sz="1200" b="1" dirty="0">
                  <a:solidFill>
                    <a:schemeClr val="bg1">
                      <a:lumMod val="95000"/>
                    </a:schemeClr>
                  </a:solidFill>
                  <a:latin typeface="Times New Roman" panose="02020603050405020304" pitchFamily="18" charset="0"/>
                  <a:cs typeface="Times New Roman" panose="02020603050405020304" pitchFamily="18" charset="0"/>
                </a:rPr>
              </a:br>
              <a:r>
                <a:rPr lang="en-IN" sz="1200" b="1" dirty="0">
                  <a:solidFill>
                    <a:schemeClr val="bg1">
                      <a:lumMod val="95000"/>
                    </a:schemeClr>
                  </a:solidFill>
                  <a:latin typeface="Times New Roman" panose="02020603050405020304" pitchFamily="18" charset="0"/>
                  <a:cs typeface="Times New Roman" panose="02020603050405020304" pitchFamily="18" charset="0"/>
                </a:rPr>
                <a:t> Demographics</a:t>
              </a:r>
            </a:p>
          </p:txBody>
        </p:sp>
        <p:sp>
          <p:nvSpPr>
            <p:cNvPr id="6" name="TextBox 5">
              <a:extLst>
                <a:ext uri="{FF2B5EF4-FFF2-40B4-BE49-F238E27FC236}">
                  <a16:creationId xmlns:a16="http://schemas.microsoft.com/office/drawing/2014/main" id="{D775D3AC-77D8-B6AA-092C-04E907E94A16}"/>
                </a:ext>
              </a:extLst>
            </p:cNvPr>
            <p:cNvSpPr txBox="1">
              <a:spLocks noGrp="1" noRot="1" noMove="1" noResize="1" noEditPoints="1" noAdjustHandles="1" noChangeArrowheads="1" noChangeShapeType="1"/>
            </p:cNvSpPr>
            <p:nvPr/>
          </p:nvSpPr>
          <p:spPr>
            <a:xfrm>
              <a:off x="5235014" y="293479"/>
              <a:ext cx="1721026" cy="923330"/>
            </a:xfrm>
            <a:prstGeom prst="rect">
              <a:avLst/>
            </a:prstGeom>
            <a:noFill/>
          </p:spPr>
          <p:txBody>
            <a:bodyPr wrap="square" rtlCol="0">
              <a:spAutoFit/>
            </a:bodyPr>
            <a:lstStyle/>
            <a:p>
              <a:pPr algn="ctr"/>
              <a:r>
                <a:rPr lang="en-IN" b="1" dirty="0">
                  <a:solidFill>
                    <a:schemeClr val="bg1">
                      <a:lumMod val="95000"/>
                    </a:schemeClr>
                  </a:solidFill>
                  <a:latin typeface="Times New Roman" panose="02020603050405020304" pitchFamily="18" charset="0"/>
                  <a:cs typeface="Times New Roman" panose="02020603050405020304" pitchFamily="18" charset="0"/>
                </a:rPr>
                <a:t> </a:t>
              </a:r>
              <a:br>
                <a:rPr lang="en-IN" b="1" dirty="0">
                  <a:solidFill>
                    <a:schemeClr val="bg1">
                      <a:lumMod val="95000"/>
                    </a:schemeClr>
                  </a:solidFill>
                  <a:latin typeface="Times New Roman" panose="02020603050405020304" pitchFamily="18" charset="0"/>
                  <a:cs typeface="Times New Roman" panose="02020603050405020304" pitchFamily="18" charset="0"/>
                </a:rPr>
              </a:br>
              <a:r>
                <a:rPr lang="en-IN" sz="2400" b="1" dirty="0">
                  <a:solidFill>
                    <a:schemeClr val="bg1">
                      <a:lumMod val="95000"/>
                    </a:schemeClr>
                  </a:solidFill>
                  <a:latin typeface="Times New Roman" panose="02020603050405020304" pitchFamily="18" charset="0"/>
                  <a:cs typeface="Times New Roman" panose="02020603050405020304" pitchFamily="18" charset="0"/>
                </a:rPr>
                <a:t>5</a:t>
              </a:r>
            </a:p>
          </p:txBody>
        </p:sp>
      </p:grpSp>
      <p:sp>
        <p:nvSpPr>
          <p:cNvPr id="15" name="TextBox 14">
            <a:extLst>
              <a:ext uri="{FF2B5EF4-FFF2-40B4-BE49-F238E27FC236}">
                <a16:creationId xmlns:a16="http://schemas.microsoft.com/office/drawing/2014/main" id="{22F5507C-8C6A-C0DB-6FAA-C14139A7DD68}"/>
              </a:ext>
            </a:extLst>
          </p:cNvPr>
          <p:cNvSpPr txBox="1">
            <a:spLocks noGrp="1" noRot="1" noMove="1" noResize="1" noEditPoints="1" noAdjustHandles="1" noChangeArrowheads="1" noChangeShapeType="1"/>
          </p:cNvSpPr>
          <p:nvPr/>
        </p:nvSpPr>
        <p:spPr>
          <a:xfrm>
            <a:off x="1352404" y="912601"/>
            <a:ext cx="3170170" cy="3170099"/>
          </a:xfrm>
          <a:prstGeom prst="rect">
            <a:avLst/>
          </a:prstGeom>
          <a:noFill/>
        </p:spPr>
        <p:txBody>
          <a:bodyPr wrap="square">
            <a:spAutoFit/>
          </a:bodyPr>
          <a:lstStyle/>
          <a:p>
            <a:r>
              <a:rPr lang="en-IN" sz="3200" b="1" dirty="0">
                <a:solidFill>
                  <a:srgbClr val="7030A0"/>
                </a:solidFill>
                <a:latin typeface="Times New Roman" panose="02020603050405020304" pitchFamily="18" charset="0"/>
                <a:cs typeface="Times New Roman" panose="02020603050405020304" pitchFamily="18" charset="0"/>
              </a:rPr>
              <a:t>Selected features</a:t>
            </a:r>
            <a:r>
              <a:rPr lang="en-IN" sz="3200" dirty="0">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ü"/>
            </a:pPr>
            <a:r>
              <a:rPr lang="en-IN" sz="2800" dirty="0"/>
              <a:t>Age</a:t>
            </a:r>
          </a:p>
          <a:p>
            <a:pPr marL="457200" indent="-457200">
              <a:buFont typeface="Wingdings" panose="05000000000000000000" pitchFamily="2" charset="2"/>
              <a:buChar char="ü"/>
            </a:pPr>
            <a:r>
              <a:rPr lang="en-IN" sz="2800" dirty="0"/>
              <a:t>Height</a:t>
            </a:r>
          </a:p>
          <a:p>
            <a:pPr marL="457200" indent="-457200">
              <a:buFont typeface="Wingdings" panose="05000000000000000000" pitchFamily="2" charset="2"/>
              <a:buChar char="ü"/>
            </a:pPr>
            <a:r>
              <a:rPr lang="en-IN" sz="2800" dirty="0"/>
              <a:t>Weight</a:t>
            </a:r>
          </a:p>
          <a:p>
            <a:pPr marL="457200" indent="-457200">
              <a:buFont typeface="Wingdings" panose="05000000000000000000" pitchFamily="2" charset="2"/>
              <a:buChar char="ü"/>
            </a:pPr>
            <a:r>
              <a:rPr lang="en-IN" sz="2800" dirty="0"/>
              <a:t>Passes</a:t>
            </a:r>
          </a:p>
          <a:p>
            <a:pPr marL="457200" indent="-457200">
              <a:buFont typeface="Wingdings" panose="05000000000000000000" pitchFamily="2" charset="2"/>
              <a:buChar char="ü"/>
            </a:pPr>
            <a:r>
              <a:rPr lang="en-IN" sz="2800" dirty="0"/>
              <a:t>Goals</a:t>
            </a:r>
          </a:p>
          <a:p>
            <a:pPr marL="457200" indent="-457200">
              <a:buFont typeface="Wingdings" panose="05000000000000000000" pitchFamily="2" charset="2"/>
              <a:buChar char="ü"/>
            </a:pPr>
            <a:r>
              <a:rPr lang="en-IN" sz="2800" dirty="0"/>
              <a:t>Assists</a:t>
            </a:r>
          </a:p>
        </p:txBody>
      </p:sp>
      <p:pic>
        <p:nvPicPr>
          <p:cNvPr id="1026" name="Picture 2">
            <a:extLst>
              <a:ext uri="{FF2B5EF4-FFF2-40B4-BE49-F238E27FC236}">
                <a16:creationId xmlns:a16="http://schemas.microsoft.com/office/drawing/2014/main" id="{1F7FF983-EA2C-DEE3-6A00-7BE73BE9BB7F}"/>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314268" y="1319337"/>
            <a:ext cx="6590024" cy="54449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5D191A5C-8694-4C01-7BB5-F11FA168E22F}"/>
              </a:ext>
            </a:extLst>
          </p:cNvPr>
          <p:cNvGraphicFramePr>
            <a:graphicFrameLocks noGrp="1"/>
          </p:cNvGraphicFramePr>
          <p:nvPr>
            <p:extLst>
              <p:ext uri="{D42A27DB-BD31-4B8C-83A1-F6EECF244321}">
                <p14:modId xmlns:p14="http://schemas.microsoft.com/office/powerpoint/2010/main" val="3341269054"/>
              </p:ext>
            </p:extLst>
          </p:nvPr>
        </p:nvGraphicFramePr>
        <p:xfrm>
          <a:off x="220528" y="4170930"/>
          <a:ext cx="4753124" cy="2443480"/>
        </p:xfrm>
        <a:graphic>
          <a:graphicData uri="http://schemas.openxmlformats.org/drawingml/2006/table">
            <a:tbl>
              <a:tblPr firstRow="1" bandRow="1">
                <a:tableStyleId>{5C22544A-7EE6-4342-B048-85BDC9FD1C3A}</a:tableStyleId>
              </a:tblPr>
              <a:tblGrid>
                <a:gridCol w="1168655">
                  <a:extLst>
                    <a:ext uri="{9D8B030D-6E8A-4147-A177-3AD203B41FA5}">
                      <a16:colId xmlns:a16="http://schemas.microsoft.com/office/drawing/2014/main" val="2309393360"/>
                    </a:ext>
                  </a:extLst>
                </a:gridCol>
                <a:gridCol w="3584469">
                  <a:extLst>
                    <a:ext uri="{9D8B030D-6E8A-4147-A177-3AD203B41FA5}">
                      <a16:colId xmlns:a16="http://schemas.microsoft.com/office/drawing/2014/main" val="3307182855"/>
                    </a:ext>
                  </a:extLst>
                </a:gridCol>
              </a:tblGrid>
              <a:tr h="435509">
                <a:tc>
                  <a:txBody>
                    <a:bodyPr/>
                    <a:lstStyle/>
                    <a:p>
                      <a:pPr algn="ctr"/>
                      <a:r>
                        <a:rPr lang="en-IN" sz="1400" dirty="0"/>
                        <a:t>Cluster Number</a:t>
                      </a:r>
                    </a:p>
                  </a:txBody>
                  <a:tcPr/>
                </a:tc>
                <a:tc>
                  <a:txBody>
                    <a:bodyPr/>
                    <a:lstStyle/>
                    <a:p>
                      <a:pPr algn="ctr">
                        <a:lnSpc>
                          <a:spcPct val="150000"/>
                        </a:lnSpc>
                      </a:pPr>
                      <a:r>
                        <a:rPr lang="en-IN" sz="1400" dirty="0"/>
                        <a:t>Description</a:t>
                      </a:r>
                    </a:p>
                  </a:txBody>
                  <a:tcPr/>
                </a:tc>
                <a:extLst>
                  <a:ext uri="{0D108BD9-81ED-4DB2-BD59-A6C34878D82A}">
                    <a16:rowId xmlns:a16="http://schemas.microsoft.com/office/drawing/2014/main" val="1592971363"/>
                  </a:ext>
                </a:extLst>
              </a:tr>
              <a:tr h="370840">
                <a:tc>
                  <a:txBody>
                    <a:bodyPr/>
                    <a:lstStyle/>
                    <a:p>
                      <a:pPr algn="ctr"/>
                      <a:r>
                        <a:rPr lang="en-IN" sz="1400" dirty="0"/>
                        <a:t>1</a:t>
                      </a:r>
                    </a:p>
                  </a:txBody>
                  <a:tcPr/>
                </a:tc>
                <a:tc>
                  <a:txBody>
                    <a:bodyPr/>
                    <a:lstStyle/>
                    <a:p>
                      <a:pPr algn="ctr"/>
                      <a:r>
                        <a:rPr lang="en-US" sz="1400" dirty="0"/>
                        <a:t>Moderate goal scorers with few assists</a:t>
                      </a:r>
                      <a:endParaRPr lang="en-IN" sz="1400" dirty="0"/>
                    </a:p>
                  </a:txBody>
                  <a:tcPr/>
                </a:tc>
                <a:extLst>
                  <a:ext uri="{0D108BD9-81ED-4DB2-BD59-A6C34878D82A}">
                    <a16:rowId xmlns:a16="http://schemas.microsoft.com/office/drawing/2014/main" val="2217232569"/>
                  </a:ext>
                </a:extLst>
              </a:tr>
              <a:tr h="370840">
                <a:tc>
                  <a:txBody>
                    <a:bodyPr/>
                    <a:lstStyle/>
                    <a:p>
                      <a:pPr algn="ctr"/>
                      <a:r>
                        <a:rPr lang="en-IN" sz="1400" dirty="0"/>
                        <a:t>2</a:t>
                      </a:r>
                    </a:p>
                  </a:txBody>
                  <a:tcPr/>
                </a:tc>
                <a:tc>
                  <a:txBody>
                    <a:bodyPr/>
                    <a:lstStyle/>
                    <a:p>
                      <a:pPr algn="ctr"/>
                      <a:r>
                        <a:rPr lang="en-US" sz="1400" dirty="0"/>
                        <a:t>Low scorers with low assists, possibly defensive players</a:t>
                      </a:r>
                      <a:endParaRPr lang="en-IN" sz="1400" dirty="0"/>
                    </a:p>
                  </a:txBody>
                  <a:tcPr/>
                </a:tc>
                <a:extLst>
                  <a:ext uri="{0D108BD9-81ED-4DB2-BD59-A6C34878D82A}">
                    <a16:rowId xmlns:a16="http://schemas.microsoft.com/office/drawing/2014/main" val="3803603013"/>
                  </a:ext>
                </a:extLst>
              </a:tr>
              <a:tr h="370840">
                <a:tc>
                  <a:txBody>
                    <a:bodyPr/>
                    <a:lstStyle/>
                    <a:p>
                      <a:pPr algn="ctr"/>
                      <a:r>
                        <a:rPr lang="en-IN" sz="1400" dirty="0"/>
                        <a:t>3</a:t>
                      </a:r>
                    </a:p>
                  </a:txBody>
                  <a:tcPr/>
                </a:tc>
                <a:tc>
                  <a:txBody>
                    <a:bodyPr/>
                    <a:lstStyle/>
                    <a:p>
                      <a:pPr algn="ctr"/>
                      <a:r>
                        <a:rPr lang="en-US" sz="1400" dirty="0"/>
                        <a:t>Moderate goal scorers with higher assists, supporting Attacking Players</a:t>
                      </a:r>
                      <a:endParaRPr lang="en-IN" sz="1400" dirty="0"/>
                    </a:p>
                  </a:txBody>
                  <a:tcPr/>
                </a:tc>
                <a:extLst>
                  <a:ext uri="{0D108BD9-81ED-4DB2-BD59-A6C34878D82A}">
                    <a16:rowId xmlns:a16="http://schemas.microsoft.com/office/drawing/2014/main" val="2447740053"/>
                  </a:ext>
                </a:extLst>
              </a:tr>
              <a:tr h="370840">
                <a:tc>
                  <a:txBody>
                    <a:bodyPr/>
                    <a:lstStyle/>
                    <a:p>
                      <a:pPr algn="ctr"/>
                      <a:r>
                        <a:rPr lang="en-IN" sz="1400" dirty="0"/>
                        <a:t>4</a:t>
                      </a:r>
                    </a:p>
                  </a:txBody>
                  <a:tcPr/>
                </a:tc>
                <a:tc>
                  <a:txBody>
                    <a:bodyPr/>
                    <a:lstStyle/>
                    <a:p>
                      <a:pPr algn="ctr"/>
                      <a:r>
                        <a:rPr lang="en-US" sz="1400" dirty="0"/>
                        <a:t>High goal scorers and moderate assisters, primary attackers</a:t>
                      </a:r>
                      <a:endParaRPr lang="en-IN" sz="1400" dirty="0"/>
                    </a:p>
                  </a:txBody>
                  <a:tcPr/>
                </a:tc>
                <a:extLst>
                  <a:ext uri="{0D108BD9-81ED-4DB2-BD59-A6C34878D82A}">
                    <a16:rowId xmlns:a16="http://schemas.microsoft.com/office/drawing/2014/main" val="2840768839"/>
                  </a:ext>
                </a:extLst>
              </a:tr>
            </a:tbl>
          </a:graphicData>
        </a:graphic>
      </p:graphicFrame>
    </p:spTree>
    <p:extLst>
      <p:ext uri="{BB962C8B-B14F-4D97-AF65-F5344CB8AC3E}">
        <p14:creationId xmlns:p14="http://schemas.microsoft.com/office/powerpoint/2010/main" val="512096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B50964C7-76C8-8F44-C44D-7C71C5B8E0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DC3C63C-774E-4739-8E4A-994E1B3D68E1}"/>
              </a:ext>
            </a:extLst>
          </p:cNvPr>
          <p:cNvPicPr>
            <a:picLocks noChangeAspect="1"/>
          </p:cNvPicPr>
          <p:nvPr/>
        </p:nvPicPr>
        <p:blipFill>
          <a:blip r:embed="rId4"/>
          <a:stretch>
            <a:fillRect/>
          </a:stretch>
        </p:blipFill>
        <p:spPr>
          <a:xfrm>
            <a:off x="0" y="0"/>
            <a:ext cx="12192000" cy="6020010"/>
          </a:xfrm>
          <a:prstGeom prst="rect">
            <a:avLst/>
          </a:prstGeom>
        </p:spPr>
      </p:pic>
      <p:sp>
        <p:nvSpPr>
          <p:cNvPr id="2" name="Rectangle: Rounded Corners 1">
            <a:extLst>
              <a:ext uri="{FF2B5EF4-FFF2-40B4-BE49-F238E27FC236}">
                <a16:creationId xmlns:a16="http://schemas.microsoft.com/office/drawing/2014/main" id="{BCAEAAF1-8DB0-B779-6BD1-90AF0AF6BA65}"/>
              </a:ext>
            </a:extLst>
          </p:cNvPr>
          <p:cNvSpPr>
            <a:spLocks noGrp="1" noRot="1" noMove="1" noResize="1" noEditPoints="1" noAdjustHandles="1" noChangeArrowheads="1" noChangeShapeType="1"/>
          </p:cNvSpPr>
          <p:nvPr/>
        </p:nvSpPr>
        <p:spPr>
          <a:xfrm>
            <a:off x="5557837" y="6033330"/>
            <a:ext cx="1076325" cy="763657"/>
          </a:xfrm>
          <a:prstGeom prst="roundRect">
            <a:avLst/>
          </a:prstGeom>
          <a:solidFill>
            <a:srgbClr val="243E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F1F7ED"/>
                </a:solidFill>
                <a:latin typeface="Times New Roman" panose="02020603050405020304" pitchFamily="18" charset="0"/>
                <a:cs typeface="Times New Roman" panose="02020603050405020304" pitchFamily="18" charset="0"/>
                <a:hlinkClick r:id="rId5" tooltip="Link to the Team Competition and Refree Analysis Dashboard">
                  <a:extLst>
                    <a:ext uri="{A12FA001-AC4F-418D-AE19-62706E023703}">
                      <ahyp:hlinkClr xmlns:ahyp="http://schemas.microsoft.com/office/drawing/2018/hyperlinkcolor" val="tx"/>
                    </a:ext>
                  </a:extLst>
                </a:hlinkClick>
              </a:rPr>
              <a:t>Click Here</a:t>
            </a:r>
            <a:endParaRPr lang="en-IN" sz="2400" dirty="0">
              <a:solidFill>
                <a:srgbClr val="F1F7E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0787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F95E5EB6-3FD6-D04B-F9FA-3BF2E6E00301}"/>
            </a:ext>
          </a:extLst>
        </p:cNvPr>
        <p:cNvGrpSpPr/>
        <p:nvPr/>
      </p:nvGrpSpPr>
      <p:grpSpPr>
        <a:xfrm>
          <a:off x="0" y="0"/>
          <a:ext cx="0" cy="0"/>
          <a:chOff x="0" y="0"/>
          <a:chExt cx="0" cy="0"/>
        </a:xfrm>
      </p:grpSpPr>
      <p:sp>
        <p:nvSpPr>
          <p:cNvPr id="2" name="Text Placeholder 2">
            <a:extLst>
              <a:ext uri="{FF2B5EF4-FFF2-40B4-BE49-F238E27FC236}">
                <a16:creationId xmlns:a16="http://schemas.microsoft.com/office/drawing/2014/main" id="{1375B6DA-B0B6-48C4-5D51-9E31D6528951}"/>
              </a:ext>
            </a:extLst>
          </p:cNvPr>
          <p:cNvSpPr txBox="1">
            <a:spLocks noGrp="1" noRot="1" noMove="1" noResize="1" noEditPoints="1" noAdjustHandles="1" noChangeArrowheads="1" noChangeShapeType="1"/>
          </p:cNvSpPr>
          <p:nvPr/>
        </p:nvSpPr>
        <p:spPr>
          <a:xfrm>
            <a:off x="443974" y="199397"/>
            <a:ext cx="11304052" cy="595364"/>
          </a:xfrm>
          <a:prstGeom prst="rect">
            <a:avLst/>
          </a:prstGeom>
          <a:ln>
            <a:solidFill>
              <a:srgbClr val="002060"/>
            </a:solidFill>
          </a:ln>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IN" sz="4000" b="1" i="0" u="none" strike="noStrike" kern="1200" baseline="0" dirty="0">
                <a:solidFill>
                  <a:srgbClr val="002060"/>
                </a:solidFill>
                <a:latin typeface="Times New Roman" panose="02020603050405020304" pitchFamily="18" charset="0"/>
                <a:cs typeface="Times New Roman" panose="02020603050405020304" pitchFamily="18" charset="0"/>
              </a:rPr>
              <a:t>Summary :</a:t>
            </a:r>
            <a:endParaRPr lang="en-IN" sz="4000" b="1" dirty="0">
              <a:solidFill>
                <a:srgbClr val="002060"/>
              </a:solidFill>
              <a:latin typeface="Times New Roman" panose="02020603050405020304" pitchFamily="18" charset="0"/>
              <a:cs typeface="Times New Roman" panose="02020603050405020304" pitchFamily="18" charset="0"/>
            </a:endParaRPr>
          </a:p>
        </p:txBody>
      </p:sp>
      <p:sp>
        <p:nvSpPr>
          <p:cNvPr id="4" name="Text Placeholder 2">
            <a:extLst>
              <a:ext uri="{FF2B5EF4-FFF2-40B4-BE49-F238E27FC236}">
                <a16:creationId xmlns:a16="http://schemas.microsoft.com/office/drawing/2014/main" id="{EC0A901E-59EA-67ED-DE37-33808AFBB135}"/>
              </a:ext>
            </a:extLst>
          </p:cNvPr>
          <p:cNvSpPr txBox="1">
            <a:spLocks noGrp="1" noRot="1" noMove="1" noResize="1" noEditPoints="1" noAdjustHandles="1" noChangeArrowheads="1" noChangeShapeType="1"/>
          </p:cNvSpPr>
          <p:nvPr/>
        </p:nvSpPr>
        <p:spPr>
          <a:xfrm>
            <a:off x="443974" y="1054561"/>
            <a:ext cx="11304052" cy="5803439"/>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Wingdings" panose="05000000000000000000" pitchFamily="2" charset="2"/>
              <a:buChar char="Ø"/>
            </a:pPr>
            <a:r>
              <a:rPr lang="en-US" sz="2500" b="1" dirty="0">
                <a:solidFill>
                  <a:srgbClr val="0046D2"/>
                </a:solidFill>
                <a:latin typeface="Times New Roman" panose="02020603050405020304" pitchFamily="18" charset="0"/>
                <a:cs typeface="Times New Roman" panose="02020603050405020304" pitchFamily="18" charset="0"/>
              </a:rPr>
              <a:t>Goal Efficiency: </a:t>
            </a:r>
            <a:r>
              <a:rPr lang="en-US" sz="2500" b="1" dirty="0">
                <a:solidFill>
                  <a:schemeClr val="tx1"/>
                </a:solidFill>
                <a:latin typeface="Times New Roman" panose="02020603050405020304" pitchFamily="18" charset="0"/>
                <a:cs typeface="Times New Roman" panose="02020603050405020304" pitchFamily="18" charset="0"/>
              </a:rPr>
              <a:t>Aron Johannsson</a:t>
            </a:r>
            <a:r>
              <a:rPr lang="en-US" sz="2500" dirty="0">
                <a:solidFill>
                  <a:schemeClr val="tx1"/>
                </a:solidFill>
                <a:latin typeface="Times New Roman" panose="02020603050405020304" pitchFamily="18" charset="0"/>
                <a:cs typeface="Times New Roman" panose="02020603050405020304" pitchFamily="18" charset="0"/>
              </a:rPr>
              <a:t> led all players in goals per 90 minutes, while </a:t>
            </a:r>
            <a:r>
              <a:rPr lang="en-US" sz="2500" b="1" dirty="0">
                <a:solidFill>
                  <a:schemeClr val="tx1"/>
                </a:solidFill>
                <a:latin typeface="Times New Roman" panose="02020603050405020304" pitchFamily="18" charset="0"/>
                <a:cs typeface="Times New Roman" panose="02020603050405020304" pitchFamily="18" charset="0"/>
              </a:rPr>
              <a:t>Christian Pulisic and Jozy Altidore </a:t>
            </a:r>
            <a:r>
              <a:rPr lang="en-US" sz="2500" dirty="0">
                <a:solidFill>
                  <a:schemeClr val="tx1"/>
                </a:solidFill>
                <a:latin typeface="Times New Roman" panose="02020603050405020304" pitchFamily="18" charset="0"/>
                <a:cs typeface="Times New Roman" panose="02020603050405020304" pitchFamily="18" charset="0"/>
              </a:rPr>
              <a:t>topped the charts for both goals and assists.</a:t>
            </a:r>
          </a:p>
          <a:p>
            <a:pPr marL="342900" indent="-342900">
              <a:buFont typeface="Wingdings" panose="05000000000000000000" pitchFamily="2" charset="2"/>
              <a:buChar char="Ø"/>
            </a:pPr>
            <a:endParaRPr lang="en-US" sz="900"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500" b="1" dirty="0">
                <a:solidFill>
                  <a:srgbClr val="0046D2"/>
                </a:solidFill>
                <a:latin typeface="Times New Roman" panose="02020603050405020304" pitchFamily="18" charset="0"/>
                <a:cs typeface="Times New Roman" panose="02020603050405020304" pitchFamily="18" charset="0"/>
              </a:rPr>
              <a:t>Player Value Modeling: </a:t>
            </a:r>
            <a:r>
              <a:rPr lang="en-US" sz="2500" dirty="0">
                <a:solidFill>
                  <a:schemeClr val="tx1"/>
                </a:solidFill>
                <a:latin typeface="Times New Roman" panose="02020603050405020304" pitchFamily="18" charset="0"/>
                <a:cs typeface="Times New Roman" panose="02020603050405020304" pitchFamily="18" charset="0"/>
              </a:rPr>
              <a:t>Regression analysis showed that features like highest market value in euro predict player value.</a:t>
            </a:r>
          </a:p>
          <a:p>
            <a:pPr marL="342900" indent="-342900">
              <a:buFont typeface="Wingdings" panose="05000000000000000000" pitchFamily="2" charset="2"/>
              <a:buChar char="Ø"/>
            </a:pPr>
            <a:endParaRPr lang="en-US" sz="900"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500" b="1" dirty="0">
                <a:solidFill>
                  <a:srgbClr val="0046D2"/>
                </a:solidFill>
                <a:latin typeface="Times New Roman" panose="02020603050405020304" pitchFamily="18" charset="0"/>
                <a:cs typeface="Times New Roman" panose="02020603050405020304" pitchFamily="18" charset="0"/>
              </a:rPr>
              <a:t>Team Insights: </a:t>
            </a:r>
            <a:r>
              <a:rPr lang="en-US" sz="2500" b="1" dirty="0">
                <a:solidFill>
                  <a:schemeClr val="tx1"/>
                </a:solidFill>
                <a:latin typeface="Times New Roman" panose="02020603050405020304" pitchFamily="18" charset="0"/>
                <a:cs typeface="Times New Roman" panose="02020603050405020304" pitchFamily="18" charset="0"/>
              </a:rPr>
              <a:t>Borussia Dortmund </a:t>
            </a:r>
            <a:r>
              <a:rPr lang="en-US" sz="2500" dirty="0">
                <a:solidFill>
                  <a:schemeClr val="tx1"/>
                </a:solidFill>
                <a:latin typeface="Times New Roman" panose="02020603050405020304" pitchFamily="18" charset="0"/>
                <a:cs typeface="Times New Roman" panose="02020603050405020304" pitchFamily="18" charset="0"/>
              </a:rPr>
              <a:t>stood out as the most valuable club, and Signal Iduna Park hosted the largest number of matches in the dataset.</a:t>
            </a:r>
          </a:p>
          <a:p>
            <a:pPr marL="342900" indent="-342900">
              <a:buFont typeface="Wingdings" panose="05000000000000000000" pitchFamily="2" charset="2"/>
              <a:buChar char="Ø"/>
            </a:pPr>
            <a:endParaRPr lang="en-US" sz="900"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500" b="1" dirty="0">
                <a:solidFill>
                  <a:srgbClr val="0046D2"/>
                </a:solidFill>
                <a:latin typeface="Times New Roman" panose="02020603050405020304" pitchFamily="18" charset="0"/>
                <a:cs typeface="Times New Roman" panose="02020603050405020304" pitchFamily="18" charset="0"/>
              </a:rPr>
              <a:t>Attendance Leaders: </a:t>
            </a:r>
            <a:r>
              <a:rPr lang="en-US" sz="2500" b="1" dirty="0">
                <a:solidFill>
                  <a:schemeClr val="tx1"/>
                </a:solidFill>
                <a:latin typeface="Times New Roman" panose="02020603050405020304" pitchFamily="18" charset="0"/>
                <a:cs typeface="Times New Roman" panose="02020603050405020304" pitchFamily="18" charset="0"/>
              </a:rPr>
              <a:t>Old Trafford</a:t>
            </a:r>
            <a:r>
              <a:rPr lang="en-US" sz="2500" dirty="0">
                <a:solidFill>
                  <a:schemeClr val="tx1"/>
                </a:solidFill>
                <a:latin typeface="Times New Roman" panose="02020603050405020304" pitchFamily="18" charset="0"/>
                <a:cs typeface="Times New Roman" panose="02020603050405020304" pitchFamily="18" charset="0"/>
              </a:rPr>
              <a:t> and </a:t>
            </a:r>
            <a:r>
              <a:rPr lang="en-US" sz="2500" b="1" dirty="0">
                <a:solidFill>
                  <a:schemeClr val="tx1"/>
                </a:solidFill>
                <a:latin typeface="Times New Roman" panose="02020603050405020304" pitchFamily="18" charset="0"/>
                <a:cs typeface="Times New Roman" panose="02020603050405020304" pitchFamily="18" charset="0"/>
              </a:rPr>
              <a:t>Signal Iduna Park </a:t>
            </a:r>
            <a:r>
              <a:rPr lang="en-US" sz="2500" dirty="0">
                <a:solidFill>
                  <a:schemeClr val="tx1"/>
                </a:solidFill>
                <a:latin typeface="Times New Roman" panose="02020603050405020304" pitchFamily="18" charset="0"/>
                <a:cs typeface="Times New Roman" panose="02020603050405020304" pitchFamily="18" charset="0"/>
              </a:rPr>
              <a:t>recorded the highest average attendance, attracting crowds of </a:t>
            </a:r>
            <a:r>
              <a:rPr lang="en-US" sz="2500" b="1" dirty="0">
                <a:solidFill>
                  <a:schemeClr val="tx1"/>
                </a:solidFill>
                <a:latin typeface="Times New Roman" panose="02020603050405020304" pitchFamily="18" charset="0"/>
                <a:cs typeface="Times New Roman" panose="02020603050405020304" pitchFamily="18" charset="0"/>
              </a:rPr>
              <a:t>over 74,000 fans per game.</a:t>
            </a:r>
          </a:p>
          <a:p>
            <a:pPr marL="342900" indent="-342900">
              <a:buFont typeface="Wingdings" panose="05000000000000000000" pitchFamily="2" charset="2"/>
              <a:buChar char="Ø"/>
            </a:pPr>
            <a:endParaRPr lang="en-US" sz="900" b="1"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500" b="1" dirty="0">
                <a:solidFill>
                  <a:srgbClr val="0046D2"/>
                </a:solidFill>
                <a:latin typeface="Times New Roman" panose="02020603050405020304" pitchFamily="18" charset="0"/>
                <a:cs typeface="Times New Roman" panose="02020603050405020304" pitchFamily="18" charset="0"/>
              </a:rPr>
              <a:t>Referee Analytics: </a:t>
            </a:r>
            <a:r>
              <a:rPr lang="en-US" sz="2500" b="1" dirty="0">
                <a:solidFill>
                  <a:schemeClr val="tx1"/>
                </a:solidFill>
                <a:latin typeface="Times New Roman" panose="02020603050405020304" pitchFamily="18" charset="0"/>
                <a:cs typeface="Times New Roman" panose="02020603050405020304" pitchFamily="18" charset="0"/>
              </a:rPr>
              <a:t>Dr. Felix Brych </a:t>
            </a:r>
            <a:r>
              <a:rPr lang="en-US" sz="2500" dirty="0">
                <a:solidFill>
                  <a:schemeClr val="tx1"/>
                </a:solidFill>
                <a:latin typeface="Times New Roman" panose="02020603050405020304" pitchFamily="18" charset="0"/>
                <a:cs typeface="Times New Roman" panose="02020603050405020304" pitchFamily="18" charset="0"/>
              </a:rPr>
              <a:t>was the most </a:t>
            </a:r>
            <a:r>
              <a:rPr lang="en-US" sz="2500" b="1" dirty="0">
                <a:solidFill>
                  <a:schemeClr val="tx1"/>
                </a:solidFill>
                <a:latin typeface="Times New Roman" panose="02020603050405020304" pitchFamily="18" charset="0"/>
                <a:cs typeface="Times New Roman" panose="02020603050405020304" pitchFamily="18" charset="0"/>
              </a:rPr>
              <a:t>active referee</a:t>
            </a:r>
            <a:r>
              <a:rPr lang="en-US" sz="2500" dirty="0">
                <a:solidFill>
                  <a:schemeClr val="tx1"/>
                </a:solidFill>
                <a:latin typeface="Times New Roman" panose="02020603050405020304" pitchFamily="18" charset="0"/>
                <a:cs typeface="Times New Roman" panose="02020603050405020304" pitchFamily="18" charset="0"/>
              </a:rPr>
              <a:t>, and </a:t>
            </a:r>
            <a:r>
              <a:rPr lang="en-US" sz="2500" b="1" dirty="0">
                <a:solidFill>
                  <a:schemeClr val="tx1"/>
                </a:solidFill>
                <a:latin typeface="Times New Roman" panose="02020603050405020304" pitchFamily="18" charset="0"/>
                <a:cs typeface="Times New Roman" panose="02020603050405020304" pitchFamily="18" charset="0"/>
              </a:rPr>
              <a:t>Jose Antonio Teixeira Vitienes</a:t>
            </a:r>
            <a:r>
              <a:rPr lang="en-US" sz="2500" dirty="0">
                <a:solidFill>
                  <a:schemeClr val="tx1"/>
                </a:solidFill>
                <a:latin typeface="Times New Roman" panose="02020603050405020304" pitchFamily="18" charset="0"/>
                <a:cs typeface="Times New Roman" panose="02020603050405020304" pitchFamily="18" charset="0"/>
              </a:rPr>
              <a:t> issued the </a:t>
            </a:r>
            <a:r>
              <a:rPr lang="en-US" sz="2500" b="1" dirty="0">
                <a:solidFill>
                  <a:schemeClr val="tx1"/>
                </a:solidFill>
                <a:latin typeface="Times New Roman" panose="02020603050405020304" pitchFamily="18" charset="0"/>
                <a:cs typeface="Times New Roman" panose="02020603050405020304" pitchFamily="18" charset="0"/>
              </a:rPr>
              <a:t>most cards</a:t>
            </a:r>
            <a:r>
              <a:rPr lang="en-US" sz="2500" dirty="0">
                <a:solidFill>
                  <a:schemeClr val="tx1"/>
                </a:solidFill>
                <a:latin typeface="Times New Roman" panose="02020603050405020304" pitchFamily="18" charset="0"/>
                <a:cs typeface="Times New Roman" panose="02020603050405020304" pitchFamily="18" charset="0"/>
              </a:rPr>
              <a:t>, impacting match discipline and outcomes.</a:t>
            </a:r>
          </a:p>
          <a:p>
            <a:pPr marL="342900" indent="-342900">
              <a:buFont typeface="Wingdings" panose="05000000000000000000" pitchFamily="2" charset="2"/>
              <a:buChar char="Ø"/>
            </a:pPr>
            <a:endParaRPr lang="en-US" sz="900"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500" b="1" dirty="0">
                <a:solidFill>
                  <a:srgbClr val="0046D2"/>
                </a:solidFill>
                <a:latin typeface="Times New Roman" panose="02020603050405020304" pitchFamily="18" charset="0"/>
                <a:cs typeface="Times New Roman" panose="02020603050405020304" pitchFamily="18" charset="0"/>
              </a:rPr>
              <a:t>Competition Comparison: </a:t>
            </a:r>
            <a:r>
              <a:rPr lang="en-US" sz="2500" b="1" dirty="0">
                <a:solidFill>
                  <a:schemeClr val="tx1"/>
                </a:solidFill>
                <a:latin typeface="Times New Roman" panose="02020603050405020304" pitchFamily="18" charset="0"/>
                <a:cs typeface="Times New Roman" panose="02020603050405020304" pitchFamily="18" charset="0"/>
              </a:rPr>
              <a:t>Domestic leagues</a:t>
            </a:r>
            <a:r>
              <a:rPr lang="en-US" sz="2500" dirty="0">
                <a:solidFill>
                  <a:schemeClr val="tx1"/>
                </a:solidFill>
                <a:latin typeface="Times New Roman" panose="02020603050405020304" pitchFamily="18" charset="0"/>
                <a:cs typeface="Times New Roman" panose="02020603050405020304" pitchFamily="18" charset="0"/>
              </a:rPr>
              <a:t> accounted for the </a:t>
            </a:r>
            <a:r>
              <a:rPr lang="en-US" sz="2500" b="1" dirty="0">
                <a:solidFill>
                  <a:schemeClr val="tx1"/>
                </a:solidFill>
                <a:latin typeface="Times New Roman" panose="02020603050405020304" pitchFamily="18" charset="0"/>
                <a:cs typeface="Times New Roman" panose="02020603050405020304" pitchFamily="18" charset="0"/>
              </a:rPr>
              <a:t>most matches </a:t>
            </a:r>
            <a:r>
              <a:rPr lang="en-US" sz="2500" dirty="0">
                <a:solidFill>
                  <a:schemeClr val="tx1"/>
                </a:solidFill>
                <a:latin typeface="Times New Roman" panose="02020603050405020304" pitchFamily="18" charset="0"/>
                <a:cs typeface="Times New Roman" panose="02020603050405020304" pitchFamily="18" charset="0"/>
              </a:rPr>
              <a:t>and goals, with visible differences in event frequency by competition type.</a:t>
            </a:r>
          </a:p>
          <a:p>
            <a:pPr marL="342900" indent="-342900">
              <a:buFont typeface="Wingdings" panose="05000000000000000000" pitchFamily="2" charset="2"/>
              <a:buChar char="Ø"/>
            </a:pPr>
            <a:endParaRPr lang="en-US" sz="900"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500" b="1" dirty="0">
                <a:solidFill>
                  <a:srgbClr val="0046D2"/>
                </a:solidFill>
                <a:latin typeface="Times New Roman" panose="02020603050405020304" pitchFamily="18" charset="0"/>
                <a:cs typeface="Times New Roman" panose="02020603050405020304" pitchFamily="18" charset="0"/>
              </a:rPr>
              <a:t>Player Grouping: </a:t>
            </a:r>
            <a:r>
              <a:rPr lang="en-US" sz="2500" dirty="0">
                <a:solidFill>
                  <a:schemeClr val="tx1"/>
                </a:solidFill>
                <a:latin typeface="Times New Roman" panose="02020603050405020304" pitchFamily="18" charset="0"/>
                <a:cs typeface="Times New Roman" panose="02020603050405020304" pitchFamily="18" charset="0"/>
              </a:rPr>
              <a:t>K-means clustering (elbow method) found that </a:t>
            </a:r>
            <a:r>
              <a:rPr lang="en-US" sz="2500" b="1" dirty="0">
                <a:solidFill>
                  <a:schemeClr val="tx1"/>
                </a:solidFill>
                <a:latin typeface="Times New Roman" panose="02020603050405020304" pitchFamily="18" charset="0"/>
                <a:cs typeface="Times New Roman" panose="02020603050405020304" pitchFamily="18" charset="0"/>
              </a:rPr>
              <a:t>splitting players into 4 groups</a:t>
            </a:r>
            <a:r>
              <a:rPr lang="en-US" sz="2500" dirty="0">
                <a:solidFill>
                  <a:schemeClr val="tx1"/>
                </a:solidFill>
                <a:latin typeface="Times New Roman" panose="02020603050405020304" pitchFamily="18" charset="0"/>
                <a:cs typeface="Times New Roman" panose="02020603050405020304" pitchFamily="18" charset="0"/>
              </a:rPr>
              <a:t> based on attributes and demographics best represents the diversity in the data.</a:t>
            </a:r>
            <a:endParaRPr lang="en-IN" sz="25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0870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a:stretch>
        </a:blipFill>
        <a:effectLst/>
      </p:bgPr>
    </p:bg>
    <p:spTree>
      <p:nvGrpSpPr>
        <p:cNvPr id="1" name="">
          <a:extLst>
            <a:ext uri="{FF2B5EF4-FFF2-40B4-BE49-F238E27FC236}">
              <a16:creationId xmlns:a16="http://schemas.microsoft.com/office/drawing/2014/main" id="{7A0A6D4B-02C9-F382-21FE-54C49740977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3FA3953-ABA3-7A1F-FC34-B35B23663E46}"/>
              </a:ext>
            </a:extLst>
          </p:cNvPr>
          <p:cNvSpPr>
            <a:spLocks noGrp="1" noRot="1" noMove="1" noResize="1" noEditPoints="1" noAdjustHandles="1" noChangeArrowheads="1" noChangeShapeType="1"/>
          </p:cNvSpPr>
          <p:nvPr>
            <p:ph type="body" idx="1"/>
          </p:nvPr>
        </p:nvSpPr>
        <p:spPr>
          <a:xfrm>
            <a:off x="443974" y="1266160"/>
            <a:ext cx="11304052" cy="3690402"/>
          </a:xfrm>
        </p:spPr>
        <p:txBody>
          <a:bodyPr>
            <a:normAutofit/>
          </a:bodyPr>
          <a:lstStyle/>
          <a:p>
            <a:pPr marL="457200" indent="-457200" algn="just">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This project successfully analyzed football player performance, market value, referee behavior, and stadium attendance using statistical methods and predictive modeling. Insights revealed that players like Aron Johannsson and Christian Pulisic excel in both scoring and assists, while clubs such as Borussia Dortmund and stadiums like Signal Iduna Park and Old Trafford lead in performance and fan engagement. With reliable and effective clustering, the analysis provides meaningful, data-driven insights that can help coaches, analysts, and management make smarter tactical, financial, and strategic decisions for future seasons.</a:t>
            </a:r>
          </a:p>
        </p:txBody>
      </p:sp>
      <p:sp>
        <p:nvSpPr>
          <p:cNvPr id="4" name="Text Placeholder 2">
            <a:extLst>
              <a:ext uri="{FF2B5EF4-FFF2-40B4-BE49-F238E27FC236}">
                <a16:creationId xmlns:a16="http://schemas.microsoft.com/office/drawing/2014/main" id="{D5771069-E9EB-9AE2-FC2D-42BB0FE42BCE}"/>
              </a:ext>
            </a:extLst>
          </p:cNvPr>
          <p:cNvSpPr txBox="1">
            <a:spLocks noGrp="1" noRot="1" noMove="1" noResize="1" noEditPoints="1" noAdjustHandles="1" noChangeArrowheads="1" noChangeShapeType="1"/>
          </p:cNvSpPr>
          <p:nvPr/>
        </p:nvSpPr>
        <p:spPr>
          <a:xfrm>
            <a:off x="443974" y="183735"/>
            <a:ext cx="11304052" cy="595364"/>
          </a:xfrm>
          <a:prstGeom prst="rect">
            <a:avLst/>
          </a:prstGeom>
          <a:ln>
            <a:solidFill>
              <a:srgbClr val="002060"/>
            </a:solidFill>
          </a:ln>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IN" sz="4000" b="1" i="0" u="none" strike="noStrike" kern="1200" baseline="0" dirty="0">
                <a:solidFill>
                  <a:srgbClr val="002060"/>
                </a:solidFill>
                <a:latin typeface="Times New Roman" panose="02020603050405020304" pitchFamily="18" charset="0"/>
                <a:cs typeface="Times New Roman" panose="02020603050405020304" pitchFamily="18" charset="0"/>
              </a:rPr>
              <a:t>Concl</a:t>
            </a:r>
            <a:r>
              <a:rPr lang="en-IN" sz="4000" b="1" dirty="0">
                <a:solidFill>
                  <a:srgbClr val="002060"/>
                </a:solidFill>
                <a:latin typeface="Times New Roman" panose="02020603050405020304" pitchFamily="18" charset="0"/>
                <a:cs typeface="Times New Roman" panose="02020603050405020304" pitchFamily="18" charset="0"/>
              </a:rPr>
              <a:t>usion :</a:t>
            </a:r>
          </a:p>
        </p:txBody>
      </p:sp>
    </p:spTree>
    <p:extLst>
      <p:ext uri="{BB962C8B-B14F-4D97-AF65-F5344CB8AC3E}">
        <p14:creationId xmlns:p14="http://schemas.microsoft.com/office/powerpoint/2010/main" val="2464431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7000"/>
            <a:lum/>
          </a:blip>
          <a:srcRect/>
          <a:stretch>
            <a:fillRect/>
          </a:stretch>
        </a:blipFill>
        <a:effectLst/>
      </p:bgPr>
    </p:bg>
    <p:spTree>
      <p:nvGrpSpPr>
        <p:cNvPr id="1" name="">
          <a:extLst>
            <a:ext uri="{FF2B5EF4-FFF2-40B4-BE49-F238E27FC236}">
              <a16:creationId xmlns:a16="http://schemas.microsoft.com/office/drawing/2014/main" id="{76155C4C-3777-763D-C9F4-DEDE8D8DBC1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00DC369-F4C2-DFF7-DCB9-0C81E4F95BFE}"/>
              </a:ext>
            </a:extLst>
          </p:cNvPr>
          <p:cNvSpPr>
            <a:spLocks noGrp="1" noRot="1" noMove="1" noResize="1" noEditPoints="1" noAdjustHandles="1" noChangeArrowheads="1" noChangeShapeType="1"/>
          </p:cNvSpPr>
          <p:nvPr>
            <p:ph type="body" idx="1"/>
          </p:nvPr>
        </p:nvSpPr>
        <p:spPr>
          <a:xfrm>
            <a:off x="148150" y="726391"/>
            <a:ext cx="11741876" cy="2568013"/>
          </a:xfrm>
        </p:spPr>
        <p:txBody>
          <a:bodyPr>
            <a:noAutofit/>
          </a:bodyPr>
          <a:lstStyle/>
          <a:p>
            <a:pPr marL="342900" indent="-3429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Some important match data like wins, losses, and draws were missing, limiting outcome analysis.</a:t>
            </a:r>
          </a:p>
          <a:p>
            <a:pPr marL="342900" indent="-3429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Small errors occurred in stadium prediction model, affecting some analyses.</a:t>
            </a:r>
          </a:p>
          <a:p>
            <a:pPr marL="342900" indent="-3429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Referee data lacked timing details of fouls and cards, reducing depth of discipline insights.</a:t>
            </a:r>
          </a:p>
          <a:p>
            <a:pPr marL="342900" indent="-3429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The models perform well overall but have less accuracy on rare events like very high goal counts.</a:t>
            </a:r>
          </a:p>
        </p:txBody>
      </p:sp>
      <p:sp>
        <p:nvSpPr>
          <p:cNvPr id="4" name="Text Placeholder 2">
            <a:extLst>
              <a:ext uri="{FF2B5EF4-FFF2-40B4-BE49-F238E27FC236}">
                <a16:creationId xmlns:a16="http://schemas.microsoft.com/office/drawing/2014/main" id="{A2F6A2A5-EE5B-1983-D866-47A8606F2EA4}"/>
              </a:ext>
            </a:extLst>
          </p:cNvPr>
          <p:cNvSpPr txBox="1">
            <a:spLocks noGrp="1" noRot="1" noMove="1" noResize="1" noEditPoints="1" noAdjustHandles="1" noChangeArrowheads="1" noChangeShapeType="1"/>
          </p:cNvSpPr>
          <p:nvPr/>
        </p:nvSpPr>
        <p:spPr>
          <a:xfrm>
            <a:off x="225062" y="126763"/>
            <a:ext cx="11741876" cy="573991"/>
          </a:xfrm>
          <a:prstGeom prst="rect">
            <a:avLst/>
          </a:prstGeom>
          <a:ln>
            <a:solidFill>
              <a:srgbClr val="002060"/>
            </a:solidFill>
          </a:ln>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sz="3800" b="1" dirty="0">
                <a:solidFill>
                  <a:srgbClr val="002060"/>
                </a:solidFill>
                <a:latin typeface="Times New Roman" panose="02020603050405020304" pitchFamily="18" charset="0"/>
                <a:cs typeface="Times New Roman" panose="02020603050405020304" pitchFamily="18" charset="0"/>
              </a:rPr>
              <a:t>Limitations :</a:t>
            </a:r>
          </a:p>
        </p:txBody>
      </p:sp>
      <p:sp>
        <p:nvSpPr>
          <p:cNvPr id="5" name="Text Placeholder 2">
            <a:extLst>
              <a:ext uri="{FF2B5EF4-FFF2-40B4-BE49-F238E27FC236}">
                <a16:creationId xmlns:a16="http://schemas.microsoft.com/office/drawing/2014/main" id="{B88D053C-229F-FCC8-C644-22DC433B85FF}"/>
              </a:ext>
            </a:extLst>
          </p:cNvPr>
          <p:cNvSpPr txBox="1">
            <a:spLocks noGrp="1" noRot="1" noMove="1" noResize="1" noEditPoints="1" noAdjustHandles="1" noChangeArrowheads="1" noChangeShapeType="1"/>
          </p:cNvSpPr>
          <p:nvPr/>
        </p:nvSpPr>
        <p:spPr>
          <a:xfrm>
            <a:off x="225062" y="3320041"/>
            <a:ext cx="11741876" cy="573991"/>
          </a:xfrm>
          <a:prstGeom prst="rect">
            <a:avLst/>
          </a:prstGeom>
          <a:ln>
            <a:solidFill>
              <a:srgbClr val="002060"/>
            </a:solidFill>
          </a:ln>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sz="3800" b="1" dirty="0">
                <a:solidFill>
                  <a:srgbClr val="002060"/>
                </a:solidFill>
                <a:latin typeface="Times New Roman" panose="02020603050405020304" pitchFamily="18" charset="0"/>
                <a:cs typeface="Times New Roman" panose="02020603050405020304" pitchFamily="18" charset="0"/>
              </a:rPr>
              <a:t>Recommendation :</a:t>
            </a:r>
          </a:p>
        </p:txBody>
      </p:sp>
      <p:sp>
        <p:nvSpPr>
          <p:cNvPr id="6" name="Text Placeholder 2">
            <a:extLst>
              <a:ext uri="{FF2B5EF4-FFF2-40B4-BE49-F238E27FC236}">
                <a16:creationId xmlns:a16="http://schemas.microsoft.com/office/drawing/2014/main" id="{4C90F4E5-A9E0-1386-B285-E067422598F0}"/>
              </a:ext>
            </a:extLst>
          </p:cNvPr>
          <p:cNvSpPr txBox="1">
            <a:spLocks noGrp="1" noRot="1" noMove="1" noResize="1" noEditPoints="1" noAdjustHandles="1" noChangeArrowheads="1" noChangeShapeType="1"/>
          </p:cNvSpPr>
          <p:nvPr/>
        </p:nvSpPr>
        <p:spPr>
          <a:xfrm>
            <a:off x="225062" y="4020795"/>
            <a:ext cx="11741876" cy="28372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We can add More match data which can improve the performance of models</a:t>
            </a:r>
          </a:p>
          <a:p>
            <a:pPr marL="342900" indent="-3429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Focus on recruiting players who score efficiently at lower market costs, like Aron Johannsson.</a:t>
            </a:r>
          </a:p>
          <a:p>
            <a:pPr marL="342900" indent="-3429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Update models regularly with new season data for consistent predictive power.</a:t>
            </a:r>
          </a:p>
          <a:p>
            <a:pPr marL="342900" indent="-3429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Include referee event timings and decision impact metrics to enhance match discipline analysis.</a:t>
            </a:r>
          </a:p>
        </p:txBody>
      </p:sp>
    </p:spTree>
    <p:extLst>
      <p:ext uri="{BB962C8B-B14F-4D97-AF65-F5344CB8AC3E}">
        <p14:creationId xmlns:p14="http://schemas.microsoft.com/office/powerpoint/2010/main" val="2643869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a:stretch>
        </a:blipFill>
        <a:effectLst/>
      </p:bgPr>
    </p:bg>
    <p:spTree>
      <p:nvGrpSpPr>
        <p:cNvPr id="1" name="">
          <a:extLst>
            <a:ext uri="{FF2B5EF4-FFF2-40B4-BE49-F238E27FC236}">
              <a16:creationId xmlns:a16="http://schemas.microsoft.com/office/drawing/2014/main" id="{84CCF18B-6428-7361-D851-41E5D7EA980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9D98D31-3C0E-5CEA-3C0E-639CBA723762}"/>
              </a:ext>
            </a:extLst>
          </p:cNvPr>
          <p:cNvSpPr>
            <a:spLocks noGrp="1"/>
          </p:cNvSpPr>
          <p:nvPr>
            <p:ph type="body" idx="1"/>
          </p:nvPr>
        </p:nvSpPr>
        <p:spPr>
          <a:xfrm>
            <a:off x="6788164" y="3094023"/>
            <a:ext cx="4545417" cy="734494"/>
          </a:xfrm>
        </p:spPr>
        <p:txBody>
          <a:bodyPr>
            <a:noAutofit/>
          </a:bodyPr>
          <a:lstStyle/>
          <a:p>
            <a:pPr algn="ctr"/>
            <a:r>
              <a:rPr lang="en-IN" sz="5400" b="1" dirty="0">
                <a:solidFill>
                  <a:srgbClr val="002060"/>
                </a:solidFill>
                <a:latin typeface="Times New Roman" panose="02020603050405020304" pitchFamily="18" charset="0"/>
                <a:cs typeface="Times New Roman" panose="02020603050405020304" pitchFamily="18" charset="0"/>
              </a:rPr>
              <a:t>Thank You</a:t>
            </a:r>
            <a:endParaRPr lang="en-I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974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13777</TotalTime>
  <Words>3887</Words>
  <Application>Microsoft Office PowerPoint</Application>
  <PresentationFormat>Widescreen</PresentationFormat>
  <Paragraphs>345</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Aptos</vt:lpstr>
      <vt:lpstr>Aptos Display</vt:lpstr>
      <vt:lpstr>Arial</vt:lpstr>
      <vt:lpstr>Book Antiqua</vt:lpstr>
      <vt:lpstr>Century</vt:lpstr>
      <vt:lpstr>Constantia</vt:lpstr>
      <vt:lpstr>Elephant</vt:lpstr>
      <vt:lpstr>Times New Roman</vt:lpstr>
      <vt:lpstr>Wingdings</vt:lpstr>
      <vt:lpstr>Office Theme</vt:lpstr>
      <vt:lpstr>Name : Yash Chatniwala           Shubham Mane  Enrolment No :  Yash         : EN12025087816 Shubham : EN12026088689  Batch code  : DA51 Mentor        : Jaya Pandey</vt:lpstr>
      <vt:lpstr>Introduction: It is very hard for football teams and managers to use all the numbers and data from matches to make good decisions. There is too much information about players, matches, and competitions, and it is not easy to find what really matters. This project aims to organize, analyze, and explain this football data using charts, tests, and models, so it becomes simple for clubs, managers, and fans to find important patterns and make better choices.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Hypothesis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 And Nency Chatniwala</dc:creator>
  <cp:lastModifiedBy>Yash Chatniwala</cp:lastModifiedBy>
  <cp:revision>152</cp:revision>
  <dcterms:created xsi:type="dcterms:W3CDTF">2025-10-21T11:35:26Z</dcterms:created>
  <dcterms:modified xsi:type="dcterms:W3CDTF">2025-11-27T17:48:08Z</dcterms:modified>
</cp:coreProperties>
</file>